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libri"/>
              </a:defRPr>
            </a:pPr>
            <a:r>
              <a:rPr sz="1300" b="0" i="0" u="none" strike="noStrike">
                <a:solidFill>
                  <a:srgbClr val="14213D"/>
                </a:solidFill>
                <a:latin typeface="Calibri"/>
              </a:rPr>
              <a:t>Maximum data size per task (KB)</a:t>
            </a:r>
          </a:p>
        </c:rich>
      </c:tx>
      <c:layout/>
      <c:overlay val="0"/>
    </c:title>
    <c:autoTitleDeleted val="0"/>
    <c:plotArea>
      <c:layout/>
      <c:barChart>
        <c:barDir val="col"/>
        <c:grouping val="clustered"/>
        <c:varyColors val="0"/>
        <c:ser>
          <c:idx val="0"/>
          <c:order val="0"/>
          <c:tx>
            <c:strRef>
              <c:f>Sheet1!$B$1</c:f>
              <c:strCache>
                <c:ptCount val="1"/>
                <c:pt idx="0">
                  <c:v>Max data size (KB)</c:v>
                </c:pt>
              </c:strCache>
            </c:strRef>
          </c:tx>
          <c:spPr>
            <a:solidFill>
              <a:srgbClr val="0E7C86"/>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Class 1</c:v>
                  </c:pt>
                  <c:pt idx="1">
                    <c:v>Class 2</c:v>
                  </c:pt>
                  <c:pt idx="2">
                    <c:v>Class 3</c:v>
                  </c:pt>
                </c:lvl>
              </c:multiLvlStrCache>
            </c:multiLvlStrRef>
          </c:cat>
          <c:val>
            <c:numRef>
              <c:f>Sheet1!$B$2:$B$4</c:f>
              <c:numCache>
                <c:formatCode>General</c:formatCode>
                <c:ptCount val="3"/>
                <c:pt idx="0">
                  <c:v>100</c:v>
                </c:pt>
                <c:pt idx="1">
                  <c:v>500</c:v>
                </c:pt>
                <c:pt idx="2">
                  <c:v>2000</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libri"/>
              </a:defRPr>
            </a:pPr>
            <a:r>
              <a:rPr sz="1300" b="0" i="0" u="none" strike="noStrike">
                <a:solidFill>
                  <a:srgbClr val="14213D"/>
                </a:solidFill>
                <a:latin typeface="Calibri"/>
              </a:rPr>
              <a:t>Compute capacity (GHz)</a:t>
            </a:r>
          </a:p>
        </c:rich>
      </c:tx>
      <c:layout/>
      <c:overlay val="0"/>
    </c:title>
    <c:autoTitleDeleted val="0"/>
    <c:plotArea>
      <c:layout/>
      <c:barChart>
        <c:barDir val="col"/>
        <c:grouping val="clustered"/>
        <c:varyColors val="0"/>
        <c:ser>
          <c:idx val="0"/>
          <c:order val="0"/>
          <c:tx>
            <c:strRef>
              <c:f>Sheet1!$B$1</c:f>
              <c:strCache>
                <c:ptCount val="1"/>
                <c:pt idx="0">
                  <c:v>Compute (GHz)</c:v>
                </c:pt>
              </c:strCache>
            </c:strRef>
          </c:tx>
          <c:spPr>
            <a:solidFill>
              <a:srgbClr val="14213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UE</c:v>
                  </c:pt>
                  <c:pt idx="1">
                    <c:v>MEC</c:v>
                  </c:pt>
                  <c:pt idx="2">
                    <c:v>Cloud</c:v>
                  </c:pt>
                </c:lvl>
              </c:multiLvlStrCache>
            </c:multiLvlStrRef>
          </c:cat>
          <c:val>
            <c:numRef>
              <c:f>Sheet1!$B$2:$B$4</c:f>
              <c:numCache>
                <c:formatCode>General</c:formatCode>
                <c:ptCount val="3"/>
                <c:pt idx="0">
                  <c:v>1.5</c:v>
                </c:pt>
                <c:pt idx="1">
                  <c:v>10</c:v>
                </c:pt>
                <c:pt idx="2">
                  <c:v>50</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paper. One sentence: this paper teaches each IoT device to decide, on its own, whether to run a task locally, at the 5G edge server (MEC), or in the cloud, using deep reinforcement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the talk. About 15-20 minutes: motivation, method, results,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citation. Journal of Cloud Computing is a Springer open-access journal; the paper was published online 3 May 2024, so it is within the last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IoT devices have limited CPU and battery. Cloud has huge capacity but is far away. MEC is close but small. The best choice changes over time, so a fixed rule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argue that heuristics do not adapt, centralized ML creates overhead and privacy issues, and many ML papers ignore the cloud or multiple task classes. Their claim is that theirs is the only distributed ML approach with several task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contributions. Emphasize the second and third as the technical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options for each task. Devices connect wirelessly to a base station that hosts the MEC server; the cloud is reached through the base station over optical fiber. The UE to MEC distance is treated as the UE to BS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task has data size D, required CPU cycles phi, and a deadline. Class 1 is delay sensitive (sensors), Class 2 is energy sensitive (AR), Class 3 is insensitive (smart-grid analytics). The chart shows the maximum data size per class from Table 3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structure rather than reading formulas. Local latency is cycles over CPU speed. Offloading adds wireless transmission using Shannon capacity plus remote processing; the cloud path adds fiber transmission and propagation. Local energy grows with the square of CPU frequency. Offloading energy is only the transmission energy, which is why MEC and cloud cost the same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device is an independent, non-cooperative agent. State has six elements; action has three choices; reward is negative energy as a fraction of the battery if the deadline is met, and a fixed penalty of minus 100 if it is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networks: the actor outputs a probability for each of the three actions using softmax; the critic estimates state value and gives a temporal-difference signal to train the actor. The authors compare separated networks against shared hidden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built in Python with TensorFlow and Gymnasium. Key parameters are in the list. The chart shows how much compute each tier has, which explains why cloud is not always best: distance and deadline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stress tests. In scenario 1 the MEC goes offline for two periods. In scenario 2 the wireless link fails between steps 500 and 1000. Baselines are three fixed policies and three dynamic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reports these mostly as QoE and battery curves, so I summarize the qualitative outcome per workload. The key point: the fixed policies each win in one situation and fail in another, while the proposed agent adapts.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is qualitative in the paper: the agents change strategy when the link fails. Summarize the four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and limitations. Be clear these are my own assessments plus the limitations the authors acknowledge. Notably, results are simulation-only and reported mostly as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course: 5G radio links and channel models are mobile communications; MEC and cloud servers are cloud computing. The paper sits exactly at their intersection.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three sentences and invite questions. Possible questions: why Actor-Critic instead of DQN? (the paper found AC learned faster than DDDQN here); why does cloud cost the same battery as MEC? (fiber adds no UE energy); what if there are many UEs? (not tested,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914400"/>
            <a:ext cx="786384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Deep Reinforcement Learning for Dynamic Task Offloading in the 5G Edge-Cloud Continuum</a:t>
            </a:r>
            <a:endParaRPr lang="en-US" sz="3200" dirty="0"/>
          </a:p>
        </p:txBody>
      </p:sp>
      <p:sp>
        <p:nvSpPr>
          <p:cNvPr id="3" name="Text 1"/>
          <p:cNvSpPr txBox="1"/>
          <p:nvPr/>
        </p:nvSpPr>
        <p:spPr>
          <a:xfrm>
            <a:off x="640080" y="2651760"/>
            <a:ext cx="7863840" cy="365760"/>
          </a:xfrm>
          <a:prstGeom prst="rect">
            <a:avLst/>
          </a:prstGeom>
          <a:noFill/>
          <a:ln/>
        </p:spPr>
        <p:txBody>
          <a:bodyPr wrap="square" lIns="0" tIns="0" rIns="0" bIns="0" rtlCol="0" anchor="ctr"/>
          <a:lstStyle/>
          <a:p>
            <a:pPr indent="0" marL="0">
              <a:buNone/>
            </a:pPr>
            <a:r>
              <a:rPr lang="en-US" sz="1600" dirty="0">
                <a:solidFill>
                  <a:srgbClr val="BFE3E6"/>
                </a:solidFill>
                <a:latin typeface="Calibri" pitchFamily="34" charset="0"/>
                <a:ea typeface="Calibri" pitchFamily="34" charset="-122"/>
                <a:cs typeface="Calibri" pitchFamily="34" charset="-120"/>
              </a:rPr>
              <a:t>Paper presentation  |  Mobile Communications and Cloud Computing</a:t>
            </a:r>
            <a:endParaRPr lang="en-US" sz="1600" dirty="0"/>
          </a:p>
        </p:txBody>
      </p:sp>
      <p:sp>
        <p:nvSpPr>
          <p:cNvPr id="4" name="Text 2"/>
          <p:cNvSpPr txBox="1"/>
          <p:nvPr/>
        </p:nvSpPr>
        <p:spPr>
          <a:xfrm>
            <a:off x="640080" y="3383280"/>
            <a:ext cx="5486400" cy="914400"/>
          </a:xfrm>
          <a:prstGeom prst="rect">
            <a:avLst/>
          </a:prstGeom>
          <a:noFill/>
          <a:ln/>
        </p:spPr>
        <p:txBody>
          <a:bodyPr wrap="square" lIns="0" tIns="0" rIns="0" bIns="0" rtlCol="0" anchor="ctr"/>
          <a:lstStyle/>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Presented by: Syahril Fahmi</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Southern Taiwan University of Science and Technology</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Instructor: Dr. Showkat Ahmad Bhat</a:t>
            </a:r>
            <a:endParaRPr lang="en-US" sz="1400" dirty="0"/>
          </a:p>
        </p:txBody>
      </p:sp>
      <p:sp>
        <p:nvSpPr>
          <p:cNvPr id="5" name="Shape 3"/>
          <p:cNvSpPr/>
          <p:nvPr/>
        </p:nvSpPr>
        <p:spPr>
          <a:xfrm>
            <a:off x="6949440" y="3200400"/>
            <a:ext cx="1463040" cy="1463040"/>
          </a:xfrm>
          <a:prstGeom prst="ellipse">
            <a:avLst/>
          </a:prstGeom>
          <a:solidFill>
            <a:srgbClr val="0E7C86"/>
          </a:solidFill>
          <a:ln w="12700">
            <a:solidFill>
              <a:srgbClr val="0E7C86"/>
            </a:solidFill>
            <a:prstDash val="solid"/>
          </a:ln>
        </p:spPr>
      </p:sp>
      <p:sp>
        <p:nvSpPr>
          <p:cNvPr id="6" name="Text 4"/>
          <p:cNvSpPr txBox="1"/>
          <p:nvPr/>
        </p:nvSpPr>
        <p:spPr>
          <a:xfrm>
            <a:off x="6949440" y="3200400"/>
            <a:ext cx="1463040" cy="1463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5G</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MEC</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Cloud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Roadmap</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457200" y="118872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426464"/>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4264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188720" y="128016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Paper overview and motivation</a:t>
            </a:r>
            <a:endParaRPr lang="en-US" sz="1500" dirty="0"/>
          </a:p>
        </p:txBody>
      </p:sp>
      <p:sp>
        <p:nvSpPr>
          <p:cNvPr id="10" name="Shape 7"/>
          <p:cNvSpPr/>
          <p:nvPr/>
        </p:nvSpPr>
        <p:spPr>
          <a:xfrm>
            <a:off x="4663440" y="118872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846320" y="1426464"/>
            <a:ext cx="384048" cy="384048"/>
          </a:xfrm>
          <a:prstGeom prst="ellipse">
            <a:avLst/>
          </a:prstGeom>
          <a:solidFill>
            <a:srgbClr val="0E7C86"/>
          </a:solidFill>
          <a:ln w="12700">
            <a:solidFill>
              <a:srgbClr val="0E7C86"/>
            </a:solidFill>
            <a:prstDash val="solid"/>
          </a:ln>
        </p:spPr>
      </p:sp>
      <p:sp>
        <p:nvSpPr>
          <p:cNvPr id="12" name="Text 9"/>
          <p:cNvSpPr txBox="1"/>
          <p:nvPr/>
        </p:nvSpPr>
        <p:spPr>
          <a:xfrm>
            <a:off x="4846320" y="14264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394960" y="128016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Problem and research gap</a:t>
            </a:r>
            <a:endParaRPr lang="en-US" sz="1500" dirty="0"/>
          </a:p>
        </p:txBody>
      </p:sp>
      <p:sp>
        <p:nvSpPr>
          <p:cNvPr id="14" name="Shape 11"/>
          <p:cNvSpPr/>
          <p:nvPr/>
        </p:nvSpPr>
        <p:spPr>
          <a:xfrm>
            <a:off x="457200" y="228600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640080" y="2523744"/>
            <a:ext cx="384048" cy="384048"/>
          </a:xfrm>
          <a:prstGeom prst="ellipse">
            <a:avLst/>
          </a:prstGeom>
          <a:solidFill>
            <a:srgbClr val="0E7C86"/>
          </a:solidFill>
          <a:ln w="12700">
            <a:solidFill>
              <a:srgbClr val="0E7C86"/>
            </a:solidFill>
            <a:prstDash val="solid"/>
          </a:ln>
        </p:spPr>
      </p:sp>
      <p:sp>
        <p:nvSpPr>
          <p:cNvPr id="16" name="Text 13"/>
          <p:cNvSpPr txBox="1"/>
          <p:nvPr/>
        </p:nvSpPr>
        <p:spPr>
          <a:xfrm>
            <a:off x="640080" y="2523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188720" y="237744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System model: network, tasks, latency, energy</a:t>
            </a:r>
            <a:endParaRPr lang="en-US" sz="1500" dirty="0"/>
          </a:p>
        </p:txBody>
      </p:sp>
      <p:sp>
        <p:nvSpPr>
          <p:cNvPr id="18" name="Shape 15"/>
          <p:cNvSpPr/>
          <p:nvPr/>
        </p:nvSpPr>
        <p:spPr>
          <a:xfrm>
            <a:off x="4663440" y="228600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4846320" y="2523744"/>
            <a:ext cx="384048" cy="384048"/>
          </a:xfrm>
          <a:prstGeom prst="ellipse">
            <a:avLst/>
          </a:prstGeom>
          <a:solidFill>
            <a:srgbClr val="0E7C86"/>
          </a:solidFill>
          <a:ln w="12700">
            <a:solidFill>
              <a:srgbClr val="0E7C86"/>
            </a:solidFill>
            <a:prstDash val="solid"/>
          </a:ln>
        </p:spPr>
      </p:sp>
      <p:sp>
        <p:nvSpPr>
          <p:cNvPr id="20" name="Text 17"/>
          <p:cNvSpPr txBox="1"/>
          <p:nvPr/>
        </p:nvSpPr>
        <p:spPr>
          <a:xfrm>
            <a:off x="4846320" y="2523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5394960" y="237744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DRL formulation and Actor-Critic algorithm</a:t>
            </a:r>
            <a:endParaRPr lang="en-US" sz="1500" dirty="0"/>
          </a:p>
        </p:txBody>
      </p:sp>
      <p:sp>
        <p:nvSpPr>
          <p:cNvPr id="22" name="Shape 19"/>
          <p:cNvSpPr/>
          <p:nvPr/>
        </p:nvSpPr>
        <p:spPr>
          <a:xfrm>
            <a:off x="457200" y="338328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23" name="Shape 20"/>
          <p:cNvSpPr/>
          <p:nvPr/>
        </p:nvSpPr>
        <p:spPr>
          <a:xfrm>
            <a:off x="640080" y="3621024"/>
            <a:ext cx="384048" cy="384048"/>
          </a:xfrm>
          <a:prstGeom prst="ellipse">
            <a:avLst/>
          </a:prstGeom>
          <a:solidFill>
            <a:srgbClr val="0E7C86"/>
          </a:solidFill>
          <a:ln w="12700">
            <a:solidFill>
              <a:srgbClr val="0E7C86"/>
            </a:solidFill>
            <a:prstDash val="solid"/>
          </a:ln>
        </p:spPr>
      </p:sp>
      <p:sp>
        <p:nvSpPr>
          <p:cNvPr id="24" name="Text 21"/>
          <p:cNvSpPr txBox="1"/>
          <p:nvPr/>
        </p:nvSpPr>
        <p:spPr>
          <a:xfrm>
            <a:off x="640080" y="3621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Text 22"/>
          <p:cNvSpPr txBox="1"/>
          <p:nvPr/>
        </p:nvSpPr>
        <p:spPr>
          <a:xfrm>
            <a:off x="1188720" y="347472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Experiments and results</a:t>
            </a:r>
            <a:endParaRPr lang="en-US" sz="1500" dirty="0"/>
          </a:p>
        </p:txBody>
      </p:sp>
      <p:sp>
        <p:nvSpPr>
          <p:cNvPr id="26" name="Shape 23"/>
          <p:cNvSpPr/>
          <p:nvPr/>
        </p:nvSpPr>
        <p:spPr>
          <a:xfrm>
            <a:off x="4663440" y="3383280"/>
            <a:ext cx="3931920" cy="868680"/>
          </a:xfrm>
          <a:prstGeom prst="roundRect">
            <a:avLst>
              <a:gd name="adj" fmla="val 8421"/>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27" name="Shape 24"/>
          <p:cNvSpPr/>
          <p:nvPr/>
        </p:nvSpPr>
        <p:spPr>
          <a:xfrm>
            <a:off x="4846320" y="3621024"/>
            <a:ext cx="384048" cy="384048"/>
          </a:xfrm>
          <a:prstGeom prst="ellipse">
            <a:avLst/>
          </a:prstGeom>
          <a:solidFill>
            <a:srgbClr val="0E7C86"/>
          </a:solidFill>
          <a:ln w="12700">
            <a:solidFill>
              <a:srgbClr val="0E7C86"/>
            </a:solidFill>
            <a:prstDash val="solid"/>
          </a:ln>
        </p:spPr>
      </p:sp>
      <p:sp>
        <p:nvSpPr>
          <p:cNvPr id="28" name="Text 25"/>
          <p:cNvSpPr txBox="1"/>
          <p:nvPr/>
        </p:nvSpPr>
        <p:spPr>
          <a:xfrm>
            <a:off x="4846320" y="3621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9" name="Text 26"/>
          <p:cNvSpPr txBox="1"/>
          <p:nvPr/>
        </p:nvSpPr>
        <p:spPr>
          <a:xfrm>
            <a:off x="5394960" y="3474720"/>
            <a:ext cx="3108960" cy="6858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Critical analysis, course relevance, conclusion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The paper at a glance</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457200" y="1097280"/>
            <a:ext cx="5120640" cy="3383280"/>
          </a:xfrm>
          <a:prstGeom prst="roundRect">
            <a:avLst>
              <a:gd name="adj" fmla="val 216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23444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Title</a:t>
            </a:r>
            <a:endParaRPr lang="en-US" sz="1300" dirty="0"/>
          </a:p>
        </p:txBody>
      </p:sp>
      <p:sp>
        <p:nvSpPr>
          <p:cNvPr id="8" name="Text 5"/>
          <p:cNvSpPr txBox="1"/>
          <p:nvPr/>
        </p:nvSpPr>
        <p:spPr>
          <a:xfrm>
            <a:off x="1737360" y="1234440"/>
            <a:ext cx="3657600" cy="9144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Deep Reinforcement Learning techniques for dynamic task offloading in the 5G edge-cloud continuum</a:t>
            </a:r>
            <a:endParaRPr lang="en-US" sz="1300" dirty="0"/>
          </a:p>
        </p:txBody>
      </p:sp>
      <p:sp>
        <p:nvSpPr>
          <p:cNvPr id="9" name="Text 6"/>
          <p:cNvSpPr txBox="1"/>
          <p:nvPr/>
        </p:nvSpPr>
        <p:spPr>
          <a:xfrm>
            <a:off x="685800" y="219456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Authors</a:t>
            </a:r>
            <a:endParaRPr lang="en-US" sz="1300" dirty="0"/>
          </a:p>
        </p:txBody>
      </p:sp>
      <p:sp>
        <p:nvSpPr>
          <p:cNvPr id="10" name="Text 7"/>
          <p:cNvSpPr txBox="1"/>
          <p:nvPr/>
        </p:nvSpPr>
        <p:spPr>
          <a:xfrm>
            <a:off x="1737360" y="219456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G. Nieto, I. de la Iglesia, U. Lopez-Novoa, C. Perfecto</a:t>
            </a:r>
            <a:endParaRPr lang="en-US" sz="1300" dirty="0"/>
          </a:p>
        </p:txBody>
      </p:sp>
      <p:sp>
        <p:nvSpPr>
          <p:cNvPr id="11" name="Text 8"/>
          <p:cNvSpPr txBox="1"/>
          <p:nvPr/>
        </p:nvSpPr>
        <p:spPr>
          <a:xfrm>
            <a:off x="685800" y="278892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Journal</a:t>
            </a:r>
            <a:endParaRPr lang="en-US" sz="1300" dirty="0"/>
          </a:p>
        </p:txBody>
      </p:sp>
      <p:sp>
        <p:nvSpPr>
          <p:cNvPr id="12" name="Text 9"/>
          <p:cNvSpPr txBox="1"/>
          <p:nvPr/>
        </p:nvSpPr>
        <p:spPr>
          <a:xfrm>
            <a:off x="1737360" y="278892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Journal of Cloud Computing (Springer), vol. 13, art. 94</a:t>
            </a:r>
            <a:endParaRPr lang="en-US" sz="1300" dirty="0"/>
          </a:p>
        </p:txBody>
      </p:sp>
      <p:sp>
        <p:nvSpPr>
          <p:cNvPr id="13" name="Text 10"/>
          <p:cNvSpPr txBox="1"/>
          <p:nvPr/>
        </p:nvSpPr>
        <p:spPr>
          <a:xfrm>
            <a:off x="685800" y="338328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Published</a:t>
            </a:r>
            <a:endParaRPr lang="en-US" sz="1300" dirty="0"/>
          </a:p>
        </p:txBody>
      </p:sp>
      <p:sp>
        <p:nvSpPr>
          <p:cNvPr id="14" name="Text 11"/>
          <p:cNvSpPr txBox="1"/>
          <p:nvPr/>
        </p:nvSpPr>
        <p:spPr>
          <a:xfrm>
            <a:off x="1737360" y="338328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3 May 2024</a:t>
            </a:r>
            <a:endParaRPr lang="en-US" sz="1300" dirty="0"/>
          </a:p>
        </p:txBody>
      </p:sp>
      <p:sp>
        <p:nvSpPr>
          <p:cNvPr id="15" name="Text 12"/>
          <p:cNvSpPr txBox="1"/>
          <p:nvPr/>
        </p:nvSpPr>
        <p:spPr>
          <a:xfrm>
            <a:off x="685800" y="3977640"/>
            <a:ext cx="1005840" cy="54864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DOI</a:t>
            </a:r>
            <a:endParaRPr lang="en-US" sz="1300" dirty="0"/>
          </a:p>
        </p:txBody>
      </p:sp>
      <p:sp>
        <p:nvSpPr>
          <p:cNvPr id="16" name="Text 13"/>
          <p:cNvSpPr txBox="1"/>
          <p:nvPr/>
        </p:nvSpPr>
        <p:spPr>
          <a:xfrm>
            <a:off x="1737360" y="3977640"/>
            <a:ext cx="365760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10.1186/s13677-024-00658-0</a:t>
            </a:r>
            <a:endParaRPr lang="en-US" sz="1300" dirty="0"/>
          </a:p>
        </p:txBody>
      </p:sp>
      <p:sp>
        <p:nvSpPr>
          <p:cNvPr id="17" name="Shape 14"/>
          <p:cNvSpPr/>
          <p:nvPr/>
        </p:nvSpPr>
        <p:spPr>
          <a:xfrm>
            <a:off x="5852160" y="1097280"/>
            <a:ext cx="2834640" cy="3383280"/>
          </a:xfrm>
          <a:prstGeom prst="roundRect">
            <a:avLst>
              <a:gd name="adj" fmla="val 2581"/>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6080760" y="1280160"/>
            <a:ext cx="2377440" cy="36576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In one sentence</a:t>
            </a:r>
            <a:endParaRPr lang="en-US" sz="1600" dirty="0"/>
          </a:p>
        </p:txBody>
      </p:sp>
      <p:sp>
        <p:nvSpPr>
          <p:cNvPr id="19" name="Text 16"/>
          <p:cNvSpPr txBox="1"/>
          <p:nvPr/>
        </p:nvSpPr>
        <p:spPr>
          <a:xfrm>
            <a:off x="6080760" y="1737360"/>
            <a:ext cx="2423160" cy="2560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Each 5G device runs its own Actor-Critic agent that learns where to execute every task (local, MEC or cloud) to save battery while meeting the deadline.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Motivation: why offloading is hard</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6" name="Shape 3"/>
          <p:cNvSpPr/>
          <p:nvPr/>
        </p:nvSpPr>
        <p:spPr>
          <a:xfrm>
            <a:off x="457200" y="114300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325880"/>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188720" y="128016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Constrained devices</a:t>
            </a:r>
            <a:endParaRPr lang="en-US" sz="1600" dirty="0"/>
          </a:p>
        </p:txBody>
      </p:sp>
      <p:sp>
        <p:nvSpPr>
          <p:cNvPr id="10" name="Text 7"/>
          <p:cNvSpPr txBox="1"/>
          <p:nvPr/>
        </p:nvSpPr>
        <p:spPr>
          <a:xfrm>
            <a:off x="1188720" y="173736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IoT and mobile devices have limited CPU and battery, so heavy tasks cannot always run locally.</a:t>
            </a:r>
            <a:endParaRPr lang="en-US" sz="1300" dirty="0"/>
          </a:p>
        </p:txBody>
      </p:sp>
      <p:sp>
        <p:nvSpPr>
          <p:cNvPr id="11" name="Shape 8"/>
          <p:cNvSpPr/>
          <p:nvPr/>
        </p:nvSpPr>
        <p:spPr>
          <a:xfrm>
            <a:off x="4663440" y="114300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846320" y="1325880"/>
            <a:ext cx="384048" cy="384048"/>
          </a:xfrm>
          <a:prstGeom prst="ellipse">
            <a:avLst/>
          </a:prstGeom>
          <a:solidFill>
            <a:srgbClr val="0E7C86"/>
          </a:solidFill>
          <a:ln w="12700">
            <a:solidFill>
              <a:srgbClr val="0E7C86"/>
            </a:solidFill>
            <a:prstDash val="solid"/>
          </a:ln>
        </p:spPr>
      </p:sp>
      <p:sp>
        <p:nvSpPr>
          <p:cNvPr id="13" name="Text 10"/>
          <p:cNvSpPr txBox="1"/>
          <p:nvPr/>
        </p:nvSpPr>
        <p:spPr>
          <a:xfrm>
            <a:off x="484632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5394960" y="128016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Cloud is far</a:t>
            </a:r>
            <a:endParaRPr lang="en-US" sz="1600" dirty="0"/>
          </a:p>
        </p:txBody>
      </p:sp>
      <p:sp>
        <p:nvSpPr>
          <p:cNvPr id="15" name="Text 12"/>
          <p:cNvSpPr txBox="1"/>
          <p:nvPr/>
        </p:nvSpPr>
        <p:spPr>
          <a:xfrm>
            <a:off x="5394960" y="173736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Cloud computing has huge capacity, but the round trip is too slow for latency-critical tasks.</a:t>
            </a:r>
            <a:endParaRPr lang="en-US" sz="1300" dirty="0"/>
          </a:p>
        </p:txBody>
      </p:sp>
      <p:sp>
        <p:nvSpPr>
          <p:cNvPr id="16" name="Shape 13"/>
          <p:cNvSpPr/>
          <p:nvPr/>
        </p:nvSpPr>
        <p:spPr>
          <a:xfrm>
            <a:off x="457200" y="283464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640080" y="3017520"/>
            <a:ext cx="384048" cy="384048"/>
          </a:xfrm>
          <a:prstGeom prst="ellipse">
            <a:avLst/>
          </a:prstGeom>
          <a:solidFill>
            <a:srgbClr val="0E7C86"/>
          </a:solidFill>
          <a:ln w="12700">
            <a:solidFill>
              <a:srgbClr val="0E7C86"/>
            </a:solidFill>
            <a:prstDash val="solid"/>
          </a:ln>
        </p:spPr>
      </p:sp>
      <p:sp>
        <p:nvSpPr>
          <p:cNvPr id="18" name="Text 15"/>
          <p:cNvSpPr txBox="1"/>
          <p:nvPr/>
        </p:nvSpPr>
        <p:spPr>
          <a:xfrm>
            <a:off x="64008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6"/>
          <p:cNvSpPr txBox="1"/>
          <p:nvPr/>
        </p:nvSpPr>
        <p:spPr>
          <a:xfrm>
            <a:off x="1188720" y="297180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Edge is close but small</a:t>
            </a:r>
            <a:endParaRPr lang="en-US" sz="1600" dirty="0"/>
          </a:p>
        </p:txBody>
      </p:sp>
      <p:sp>
        <p:nvSpPr>
          <p:cNvPr id="20" name="Text 17"/>
          <p:cNvSpPr txBox="1"/>
          <p:nvPr/>
        </p:nvSpPr>
        <p:spPr>
          <a:xfrm>
            <a:off x="1188720" y="342900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Multi-access Edge Computing (MEC) sits at the base station: low delay, limited resources.</a:t>
            </a:r>
            <a:endParaRPr lang="en-US" sz="1300" dirty="0"/>
          </a:p>
        </p:txBody>
      </p:sp>
      <p:sp>
        <p:nvSpPr>
          <p:cNvPr id="21" name="Shape 18"/>
          <p:cNvSpPr/>
          <p:nvPr/>
        </p:nvSpPr>
        <p:spPr>
          <a:xfrm>
            <a:off x="4663440" y="2834640"/>
            <a:ext cx="3931920" cy="1463040"/>
          </a:xfrm>
          <a:prstGeom prst="roundRect">
            <a:avLst>
              <a:gd name="adj" fmla="val 5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4846320" y="3017520"/>
            <a:ext cx="384048" cy="384048"/>
          </a:xfrm>
          <a:prstGeom prst="ellipse">
            <a:avLst/>
          </a:prstGeom>
          <a:solidFill>
            <a:srgbClr val="0E7C86"/>
          </a:solidFill>
          <a:ln w="12700">
            <a:solidFill>
              <a:srgbClr val="0E7C86"/>
            </a:solidFill>
            <a:prstDash val="solid"/>
          </a:ln>
        </p:spPr>
      </p:sp>
      <p:sp>
        <p:nvSpPr>
          <p:cNvPr id="23" name="Text 20"/>
          <p:cNvSpPr txBox="1"/>
          <p:nvPr/>
        </p:nvSpPr>
        <p:spPr>
          <a:xfrm>
            <a:off x="484632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4" name="Text 21"/>
          <p:cNvSpPr txBox="1"/>
          <p:nvPr/>
        </p:nvSpPr>
        <p:spPr>
          <a:xfrm>
            <a:off x="5394960" y="2971800"/>
            <a:ext cx="306324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Conditions keep changing</a:t>
            </a:r>
            <a:endParaRPr lang="en-US" sz="1600" dirty="0"/>
          </a:p>
        </p:txBody>
      </p:sp>
      <p:sp>
        <p:nvSpPr>
          <p:cNvPr id="25" name="Text 22"/>
          <p:cNvSpPr txBox="1"/>
          <p:nvPr/>
        </p:nvSpPr>
        <p:spPr>
          <a:xfrm>
            <a:off x="5394960" y="3429000"/>
            <a:ext cx="306324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Channel quality, server load and battery level vary, so one fixed rule cannot stay optimal.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Problem statement and research gap</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6" name="Text 3"/>
          <p:cNvSpPr txBox="1"/>
          <p:nvPr/>
        </p:nvSpPr>
        <p:spPr>
          <a:xfrm>
            <a:off x="457200" y="1005840"/>
            <a:ext cx="8229600" cy="548640"/>
          </a:xfrm>
          <a:prstGeom prst="rect">
            <a:avLst/>
          </a:prstGeom>
          <a:noFill/>
          <a:ln/>
        </p:spPr>
        <p:txBody>
          <a:bodyPr wrap="square" lIns="0" tIns="0" rIns="0" bIns="0" rtlCol="0" anchor="ctr"/>
          <a:lstStyle/>
          <a:p>
            <a:pPr indent="0" marL="0">
              <a:buNone/>
            </a:pPr>
            <a:r>
              <a:rPr lang="en-US" sz="1500" i="1" dirty="0">
                <a:solidFill>
                  <a:srgbClr val="0E7C86"/>
                </a:solidFill>
                <a:latin typeface="Calibri" pitchFamily="34" charset="0"/>
                <a:ea typeface="Calibri" pitchFamily="34" charset="-122"/>
                <a:cs typeface="Calibri" pitchFamily="34" charset="-120"/>
              </a:rPr>
              <a:t>Goal: for every task, choose local, MEC or cloud execution to maximize QoE (energy saved) while meeting the latency deadline.</a:t>
            </a:r>
            <a:endParaRPr lang="en-US" sz="1500" dirty="0"/>
          </a:p>
        </p:txBody>
      </p:sp>
      <p:sp>
        <p:nvSpPr>
          <p:cNvPr id="7" name="Shape 4"/>
          <p:cNvSpPr/>
          <p:nvPr/>
        </p:nvSpPr>
        <p:spPr>
          <a:xfrm>
            <a:off x="457200" y="1737360"/>
            <a:ext cx="2606040" cy="210312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640080" y="1874520"/>
            <a:ext cx="2240280" cy="5486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Heuristics / metaheuristics</a:t>
            </a:r>
            <a:endParaRPr lang="en-US" sz="1500" dirty="0"/>
          </a:p>
        </p:txBody>
      </p:sp>
      <p:sp>
        <p:nvSpPr>
          <p:cNvPr id="9" name="Text 6"/>
          <p:cNvSpPr txBox="1"/>
          <p:nvPr/>
        </p:nvSpPr>
        <p:spPr>
          <a:xfrm>
            <a:off x="640080" y="2514600"/>
            <a:ext cx="2240280" cy="12801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Do not adapt to dynamic conditions; centralized versions scale poorly; some ignore battery and channel status.</a:t>
            </a:r>
            <a:endParaRPr lang="en-US" sz="1300" dirty="0"/>
          </a:p>
        </p:txBody>
      </p:sp>
      <p:sp>
        <p:nvSpPr>
          <p:cNvPr id="10" name="Shape 7"/>
          <p:cNvSpPr/>
          <p:nvPr/>
        </p:nvSpPr>
        <p:spPr>
          <a:xfrm>
            <a:off x="3246120" y="1737360"/>
            <a:ext cx="2606040" cy="210312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3429000" y="1874520"/>
            <a:ext cx="2240280" cy="5486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Centralized ML</a:t>
            </a:r>
            <a:endParaRPr lang="en-US" sz="1500" dirty="0"/>
          </a:p>
        </p:txBody>
      </p:sp>
      <p:sp>
        <p:nvSpPr>
          <p:cNvPr id="12" name="Text 9"/>
          <p:cNvSpPr txBox="1"/>
          <p:nvPr/>
        </p:nvSpPr>
        <p:spPr>
          <a:xfrm>
            <a:off x="3429000" y="2514600"/>
            <a:ext cx="2240280" cy="12801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Network overhead and privacy concerns; many ignore the cloud tier or use one task type.</a:t>
            </a:r>
            <a:endParaRPr lang="en-US" sz="1300" dirty="0"/>
          </a:p>
        </p:txBody>
      </p:sp>
      <p:sp>
        <p:nvSpPr>
          <p:cNvPr id="13" name="Shape 10"/>
          <p:cNvSpPr/>
          <p:nvPr/>
        </p:nvSpPr>
        <p:spPr>
          <a:xfrm>
            <a:off x="6035040" y="1737360"/>
            <a:ext cx="2606040" cy="2103120"/>
          </a:xfrm>
          <a:prstGeom prst="roundRect">
            <a:avLst>
              <a:gd name="adj" fmla="val 3478"/>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6217920" y="1874520"/>
            <a:ext cx="2240280" cy="548640"/>
          </a:xfrm>
          <a:prstGeom prst="rect">
            <a:avLst/>
          </a:prstGeom>
          <a:noFill/>
          <a:ln/>
        </p:spPr>
        <p:txBody>
          <a:bodyPr wrap="square" lIns="0" tIns="0" rIns="0" bIns="0" rtlCol="0" anchor="t"/>
          <a:lstStyle/>
          <a:p>
            <a:pPr indent="0" marL="0">
              <a:buNone/>
            </a:pPr>
            <a:r>
              <a:rPr lang="en-US" sz="1500" b="1" dirty="0">
                <a:solidFill>
                  <a:srgbClr val="F2A541"/>
                </a:solidFill>
                <a:latin typeface="Cambria" pitchFamily="34" charset="0"/>
                <a:ea typeface="Cambria" pitchFamily="34" charset="-122"/>
                <a:cs typeface="Cambria" pitchFamily="34" charset="-120"/>
              </a:rPr>
              <a:t>This paper</a:t>
            </a:r>
            <a:endParaRPr lang="en-US" sz="1500" dirty="0"/>
          </a:p>
        </p:txBody>
      </p:sp>
      <p:sp>
        <p:nvSpPr>
          <p:cNvPr id="15" name="Text 12"/>
          <p:cNvSpPr txBox="1"/>
          <p:nvPr/>
        </p:nvSpPr>
        <p:spPr>
          <a:xfrm>
            <a:off x="6217920" y="2514600"/>
            <a:ext cx="2240280" cy="12801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Distributed: one agent per device. Three task classes, three execution options, dynamic network and server behavior.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Key contributions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457200" y="109728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271016"/>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271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234440" y="114300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system model that captures device and server occupancy, network status and several task types</a:t>
            </a:r>
            <a:endParaRPr lang="en-US" sz="1500" dirty="0"/>
          </a:p>
        </p:txBody>
      </p:sp>
      <p:sp>
        <p:nvSpPr>
          <p:cNvPr id="10" name="Shape 7"/>
          <p:cNvSpPr/>
          <p:nvPr/>
        </p:nvSpPr>
        <p:spPr>
          <a:xfrm>
            <a:off x="457200" y="196596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640080" y="2139696"/>
            <a:ext cx="384048" cy="384048"/>
          </a:xfrm>
          <a:prstGeom prst="ellipse">
            <a:avLst/>
          </a:prstGeom>
          <a:solidFill>
            <a:srgbClr val="F2A541"/>
          </a:solidFill>
          <a:ln w="12700">
            <a:solidFill>
              <a:srgbClr val="F2A541"/>
            </a:solidFill>
            <a:prstDash val="solid"/>
          </a:ln>
        </p:spPr>
      </p:sp>
      <p:sp>
        <p:nvSpPr>
          <p:cNvPr id="12" name="Text 9"/>
          <p:cNvSpPr txBox="1"/>
          <p:nvPr/>
        </p:nvSpPr>
        <p:spPr>
          <a:xfrm>
            <a:off x="640080" y="2139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1234440" y="201168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QoE metric based on energy use, conditioned on meeting the latency requirement</a:t>
            </a:r>
            <a:endParaRPr lang="en-US" sz="1500" dirty="0"/>
          </a:p>
        </p:txBody>
      </p:sp>
      <p:sp>
        <p:nvSpPr>
          <p:cNvPr id="14" name="Shape 11"/>
          <p:cNvSpPr/>
          <p:nvPr/>
        </p:nvSpPr>
        <p:spPr>
          <a:xfrm>
            <a:off x="457200" y="283464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640080" y="3008376"/>
            <a:ext cx="384048" cy="384048"/>
          </a:xfrm>
          <a:prstGeom prst="ellipse">
            <a:avLst/>
          </a:prstGeom>
          <a:solidFill>
            <a:srgbClr val="0E7C86"/>
          </a:solidFill>
          <a:ln w="12700">
            <a:solidFill>
              <a:srgbClr val="0E7C86"/>
            </a:solidFill>
            <a:prstDash val="solid"/>
          </a:ln>
        </p:spPr>
      </p:sp>
      <p:sp>
        <p:nvSpPr>
          <p:cNvPr id="16" name="Text 13"/>
          <p:cNvSpPr txBox="1"/>
          <p:nvPr/>
        </p:nvSpPr>
        <p:spPr>
          <a:xfrm>
            <a:off x="640080" y="3008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234440" y="288036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distributed DRL approach: adaptive offloading decisions for each device in a time-varying environment</a:t>
            </a:r>
            <a:endParaRPr lang="en-US" sz="1500" dirty="0"/>
          </a:p>
        </p:txBody>
      </p:sp>
      <p:sp>
        <p:nvSpPr>
          <p:cNvPr id="18" name="Shape 15"/>
          <p:cNvSpPr/>
          <p:nvPr/>
        </p:nvSpPr>
        <p:spPr>
          <a:xfrm>
            <a:off x="457200" y="3703320"/>
            <a:ext cx="8229600" cy="731520"/>
          </a:xfrm>
          <a:prstGeom prst="roundRect">
            <a:avLst>
              <a:gd name="adj" fmla="val 10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640080" y="3877056"/>
            <a:ext cx="384048" cy="384048"/>
          </a:xfrm>
          <a:prstGeom prst="ellipse">
            <a:avLst/>
          </a:prstGeom>
          <a:solidFill>
            <a:srgbClr val="F2A541"/>
          </a:solidFill>
          <a:ln w="12700">
            <a:solidFill>
              <a:srgbClr val="F2A541"/>
            </a:solidFill>
            <a:prstDash val="solid"/>
          </a:ln>
        </p:spPr>
      </p:sp>
      <p:sp>
        <p:nvSpPr>
          <p:cNvPr id="20" name="Text 17"/>
          <p:cNvSpPr txBox="1"/>
          <p:nvPr/>
        </p:nvSpPr>
        <p:spPr>
          <a:xfrm>
            <a:off x="640080" y="3877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1234440" y="3749040"/>
            <a:ext cx="726948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Experiments showing dynamic approaches are necessary and that the proposal beats the baselines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System architecture: three tiers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6" name="Shape 3"/>
          <p:cNvSpPr/>
          <p:nvPr/>
        </p:nvSpPr>
        <p:spPr>
          <a:xfrm>
            <a:off x="457200" y="1234440"/>
            <a:ext cx="2103120" cy="237744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457200" y="1298448"/>
            <a:ext cx="210312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User Equipment</a:t>
            </a:r>
            <a:endParaRPr lang="en-US" sz="1400" dirty="0"/>
          </a:p>
        </p:txBody>
      </p:sp>
      <p:sp>
        <p:nvSpPr>
          <p:cNvPr id="8" name="Shape 5"/>
          <p:cNvSpPr/>
          <p:nvPr/>
        </p:nvSpPr>
        <p:spPr>
          <a:xfrm>
            <a:off x="777240" y="1783080"/>
            <a:ext cx="457200" cy="457200"/>
          </a:xfrm>
          <a:prstGeom prst="ellipse">
            <a:avLst/>
          </a:prstGeom>
          <a:solidFill>
            <a:srgbClr val="0E7C86"/>
          </a:solidFill>
          <a:ln w="12700">
            <a:solidFill>
              <a:srgbClr val="0E7C86"/>
            </a:solidFill>
            <a:prstDash val="solid"/>
          </a:ln>
        </p:spPr>
      </p:sp>
      <p:sp>
        <p:nvSpPr>
          <p:cNvPr id="9" name="Shape 6"/>
          <p:cNvSpPr/>
          <p:nvPr/>
        </p:nvSpPr>
        <p:spPr>
          <a:xfrm>
            <a:off x="1508760" y="1783080"/>
            <a:ext cx="457200" cy="457200"/>
          </a:xfrm>
          <a:prstGeom prst="ellipse">
            <a:avLst/>
          </a:prstGeom>
          <a:solidFill>
            <a:srgbClr val="0E7C86"/>
          </a:solidFill>
          <a:ln w="12700">
            <a:solidFill>
              <a:srgbClr val="0E7C86"/>
            </a:solidFill>
            <a:prstDash val="solid"/>
          </a:ln>
        </p:spPr>
      </p:sp>
      <p:sp>
        <p:nvSpPr>
          <p:cNvPr id="10" name="Shape 7"/>
          <p:cNvSpPr/>
          <p:nvPr/>
        </p:nvSpPr>
        <p:spPr>
          <a:xfrm>
            <a:off x="1143000" y="2331720"/>
            <a:ext cx="457200" cy="457200"/>
          </a:xfrm>
          <a:prstGeom prst="ellipse">
            <a:avLst/>
          </a:prstGeom>
          <a:solidFill>
            <a:srgbClr val="0E7C86"/>
          </a:solidFill>
          <a:ln w="12700">
            <a:solidFill>
              <a:srgbClr val="0E7C86"/>
            </a:solidFill>
            <a:prstDash val="solid"/>
          </a:ln>
        </p:spPr>
      </p:sp>
      <p:sp>
        <p:nvSpPr>
          <p:cNvPr id="11" name="Text 8"/>
          <p:cNvSpPr txBox="1"/>
          <p:nvPr/>
        </p:nvSpPr>
        <p:spPr>
          <a:xfrm>
            <a:off x="457200" y="2926080"/>
            <a:ext cx="2103120" cy="59436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Battery, CPU 1.5 GHz</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α = 0: run locally</a:t>
            </a:r>
            <a:endParaRPr lang="en-US" sz="1100" dirty="0"/>
          </a:p>
        </p:txBody>
      </p:sp>
      <p:sp>
        <p:nvSpPr>
          <p:cNvPr id="12" name="Shape 9"/>
          <p:cNvSpPr/>
          <p:nvPr/>
        </p:nvSpPr>
        <p:spPr>
          <a:xfrm>
            <a:off x="3520440" y="1234440"/>
            <a:ext cx="2103120" cy="2377440"/>
          </a:xfrm>
          <a:prstGeom prst="roundRect">
            <a:avLst>
              <a:gd name="adj" fmla="val 347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3520440" y="1298448"/>
            <a:ext cx="210312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Base station + MEC</a:t>
            </a:r>
            <a:endParaRPr lang="en-US" sz="1400" dirty="0"/>
          </a:p>
        </p:txBody>
      </p:sp>
      <p:sp>
        <p:nvSpPr>
          <p:cNvPr id="14" name="Shape 11"/>
          <p:cNvSpPr/>
          <p:nvPr/>
        </p:nvSpPr>
        <p:spPr>
          <a:xfrm>
            <a:off x="4114800" y="1828800"/>
            <a:ext cx="914400" cy="822960"/>
          </a:xfrm>
          <a:prstGeom prst="roundRect">
            <a:avLst>
              <a:gd name="adj" fmla="val 6667"/>
            </a:avLst>
          </a:prstGeom>
          <a:solidFill>
            <a:srgbClr val="0E7C86"/>
          </a:solidFill>
          <a:ln w="12700">
            <a:solidFill>
              <a:srgbClr val="0E7C86"/>
            </a:solidFill>
            <a:prstDash val="solid"/>
          </a:ln>
        </p:spPr>
      </p:sp>
      <p:sp>
        <p:nvSpPr>
          <p:cNvPr id="15" name="Text 12"/>
          <p:cNvSpPr txBox="1"/>
          <p:nvPr/>
        </p:nvSpPr>
        <p:spPr>
          <a:xfrm>
            <a:off x="4114800" y="1828800"/>
            <a:ext cx="91440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MEC</a:t>
            </a:r>
            <a:endParaRPr lang="en-US" sz="1400" dirty="0"/>
          </a:p>
        </p:txBody>
      </p:sp>
      <p:sp>
        <p:nvSpPr>
          <p:cNvPr id="16" name="Text 13"/>
          <p:cNvSpPr txBox="1"/>
          <p:nvPr/>
        </p:nvSpPr>
        <p:spPr>
          <a:xfrm>
            <a:off x="3520440" y="2926080"/>
            <a:ext cx="2103120" cy="59436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10 GHz</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α = 1: offload to edge</a:t>
            </a:r>
            <a:endParaRPr lang="en-US" sz="1100" dirty="0"/>
          </a:p>
        </p:txBody>
      </p:sp>
      <p:sp>
        <p:nvSpPr>
          <p:cNvPr id="17" name="Shape 14"/>
          <p:cNvSpPr/>
          <p:nvPr/>
        </p:nvSpPr>
        <p:spPr>
          <a:xfrm>
            <a:off x="6583680" y="1234440"/>
            <a:ext cx="2103120" cy="2377440"/>
          </a:xfrm>
          <a:prstGeom prst="roundRect">
            <a:avLst>
              <a:gd name="adj" fmla="val 3478"/>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6583680" y="1298448"/>
            <a:ext cx="2103120" cy="320040"/>
          </a:xfrm>
          <a:prstGeom prst="rect">
            <a:avLst/>
          </a:prstGeom>
          <a:noFill/>
          <a:ln/>
        </p:spPr>
        <p:txBody>
          <a:bodyPr wrap="square" lIns="0" tIns="0" rIns="0" bIns="0" rtlCol="0" anchor="ctr"/>
          <a:lstStyle/>
          <a:p>
            <a:pPr algn="ctr" indent="0" marL="0">
              <a:buNone/>
            </a:pPr>
            <a:r>
              <a:rPr lang="en-US" sz="1400" b="1" dirty="0">
                <a:solidFill>
                  <a:srgbClr val="F2A541"/>
                </a:solidFill>
                <a:latin typeface="Cambria" pitchFamily="34" charset="0"/>
                <a:ea typeface="Cambria" pitchFamily="34" charset="-122"/>
                <a:cs typeface="Cambria" pitchFamily="34" charset="-120"/>
              </a:rPr>
              <a:t>Cloud</a:t>
            </a:r>
            <a:endParaRPr lang="en-US" sz="1400" dirty="0"/>
          </a:p>
        </p:txBody>
      </p:sp>
      <p:sp>
        <p:nvSpPr>
          <p:cNvPr id="19" name="Shape 16"/>
          <p:cNvSpPr/>
          <p:nvPr/>
        </p:nvSpPr>
        <p:spPr>
          <a:xfrm>
            <a:off x="6995160" y="1783080"/>
            <a:ext cx="1280160" cy="914400"/>
          </a:xfrm>
          <a:prstGeom prst="cloud">
            <a:avLst/>
          </a:prstGeom>
          <a:solidFill>
            <a:srgbClr val="D8EFF0"/>
          </a:solidFill>
          <a:ln w="12700">
            <a:solidFill>
              <a:srgbClr val="D8EFF0"/>
            </a:solidFill>
            <a:prstDash val="solid"/>
          </a:ln>
        </p:spPr>
      </p:sp>
      <p:sp>
        <p:nvSpPr>
          <p:cNvPr id="20" name="Text 17"/>
          <p:cNvSpPr txBox="1"/>
          <p:nvPr/>
        </p:nvSpPr>
        <p:spPr>
          <a:xfrm>
            <a:off x="6583680" y="2926080"/>
            <a:ext cx="2103120" cy="5943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50 GHz</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α = 2: offload to cloud</a:t>
            </a:r>
            <a:endParaRPr lang="en-US" sz="1100" dirty="0"/>
          </a:p>
        </p:txBody>
      </p:sp>
      <p:sp>
        <p:nvSpPr>
          <p:cNvPr id="21" name="Shape 18"/>
          <p:cNvSpPr/>
          <p:nvPr/>
        </p:nvSpPr>
        <p:spPr>
          <a:xfrm>
            <a:off x="2606040" y="2423160"/>
            <a:ext cx="868680" cy="0"/>
          </a:xfrm>
          <a:prstGeom prst="line">
            <a:avLst/>
          </a:prstGeom>
          <a:noFill/>
          <a:ln w="38100">
            <a:solidFill>
              <a:srgbClr val="F2A541"/>
            </a:solidFill>
            <a:prstDash val="solid"/>
            <a:tailEnd type="triangle"/>
          </a:ln>
        </p:spPr>
      </p:sp>
      <p:sp>
        <p:nvSpPr>
          <p:cNvPr id="22" name="Shape 19"/>
          <p:cNvSpPr/>
          <p:nvPr/>
        </p:nvSpPr>
        <p:spPr>
          <a:xfrm>
            <a:off x="5669280" y="2423160"/>
            <a:ext cx="868680" cy="0"/>
          </a:xfrm>
          <a:prstGeom prst="line">
            <a:avLst/>
          </a:prstGeom>
          <a:noFill/>
          <a:ln w="38100">
            <a:solidFill>
              <a:srgbClr val="F2A541"/>
            </a:solidFill>
            <a:prstDash val="solid"/>
            <a:tailEnd type="triangle"/>
          </a:ln>
        </p:spPr>
      </p:sp>
      <p:sp>
        <p:nvSpPr>
          <p:cNvPr id="23" name="Text 20"/>
          <p:cNvSpPr txBox="1"/>
          <p:nvPr/>
        </p:nvSpPr>
        <p:spPr>
          <a:xfrm>
            <a:off x="2286000" y="3703320"/>
            <a:ext cx="173736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Wireless link</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30-150 m</a:t>
            </a:r>
            <a:endParaRPr lang="en-US" sz="1200" dirty="0"/>
          </a:p>
        </p:txBody>
      </p:sp>
      <p:sp>
        <p:nvSpPr>
          <p:cNvPr id="24" name="Text 21"/>
          <p:cNvSpPr txBox="1"/>
          <p:nvPr/>
        </p:nvSpPr>
        <p:spPr>
          <a:xfrm>
            <a:off x="5349240" y="3703320"/>
            <a:ext cx="173736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Optical fiber</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50 km, 10 Tbps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Task model: three task classes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457200" y="1097280"/>
            <a:ext cx="4206240" cy="914400"/>
          </a:xfrm>
          <a:prstGeom prst="roundRect">
            <a:avLst>
              <a:gd name="adj" fmla="val 8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362456"/>
            <a:ext cx="384048" cy="384048"/>
          </a:xfrm>
          <a:prstGeom prst="ellipse">
            <a:avLst/>
          </a:prstGeom>
          <a:solidFill>
            <a:srgbClr val="0E7C86"/>
          </a:solidFill>
          <a:ln w="12700">
            <a:solidFill>
              <a:srgbClr val="0E7C86"/>
            </a:solidFill>
            <a:prstDash val="solid"/>
          </a:ln>
        </p:spPr>
      </p:sp>
      <p:sp>
        <p:nvSpPr>
          <p:cNvPr id="8" name="Text 5"/>
          <p:cNvSpPr txBox="1"/>
          <p:nvPr/>
        </p:nvSpPr>
        <p:spPr>
          <a:xfrm>
            <a:off x="640080" y="13624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1234440" y="1188720"/>
            <a:ext cx="329184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Class 1: delay-sensitive</a:t>
            </a:r>
            <a:endParaRPr lang="en-US" sz="1400" dirty="0"/>
          </a:p>
        </p:txBody>
      </p:sp>
      <p:sp>
        <p:nvSpPr>
          <p:cNvPr id="10" name="Text 7"/>
          <p:cNvSpPr txBox="1"/>
          <p:nvPr/>
        </p:nvSpPr>
        <p:spPr>
          <a:xfrm>
            <a:off x="1234440" y="1554480"/>
            <a:ext cx="329184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Smart sensors. Deadline 10-50 ms</a:t>
            </a:r>
            <a:endParaRPr lang="en-US" sz="1200" dirty="0"/>
          </a:p>
        </p:txBody>
      </p:sp>
      <p:sp>
        <p:nvSpPr>
          <p:cNvPr id="11" name="Shape 8"/>
          <p:cNvSpPr/>
          <p:nvPr/>
        </p:nvSpPr>
        <p:spPr>
          <a:xfrm>
            <a:off x="457200" y="2194560"/>
            <a:ext cx="4206240" cy="914400"/>
          </a:xfrm>
          <a:prstGeom prst="roundRect">
            <a:avLst>
              <a:gd name="adj" fmla="val 8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40080" y="2459736"/>
            <a:ext cx="384048" cy="384048"/>
          </a:xfrm>
          <a:prstGeom prst="ellipse">
            <a:avLst/>
          </a:prstGeom>
          <a:solidFill>
            <a:srgbClr val="0E7C86"/>
          </a:solidFill>
          <a:ln w="12700">
            <a:solidFill>
              <a:srgbClr val="0E7C86"/>
            </a:solidFill>
            <a:prstDash val="solid"/>
          </a:ln>
        </p:spPr>
      </p:sp>
      <p:sp>
        <p:nvSpPr>
          <p:cNvPr id="13" name="Text 10"/>
          <p:cNvSpPr txBox="1"/>
          <p:nvPr/>
        </p:nvSpPr>
        <p:spPr>
          <a:xfrm>
            <a:off x="640080" y="24597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1234440" y="2286000"/>
            <a:ext cx="329184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Class 2: energy-sensitive</a:t>
            </a:r>
            <a:endParaRPr lang="en-US" sz="1400" dirty="0"/>
          </a:p>
        </p:txBody>
      </p:sp>
      <p:sp>
        <p:nvSpPr>
          <p:cNvPr id="15" name="Text 12"/>
          <p:cNvSpPr txBox="1"/>
          <p:nvPr/>
        </p:nvSpPr>
        <p:spPr>
          <a:xfrm>
            <a:off x="1234440" y="2651760"/>
            <a:ext cx="329184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AR applications. Deadline 50-500 ms</a:t>
            </a:r>
            <a:endParaRPr lang="en-US" sz="1200" dirty="0"/>
          </a:p>
        </p:txBody>
      </p:sp>
      <p:sp>
        <p:nvSpPr>
          <p:cNvPr id="16" name="Shape 13"/>
          <p:cNvSpPr/>
          <p:nvPr/>
        </p:nvSpPr>
        <p:spPr>
          <a:xfrm>
            <a:off x="457200" y="3291840"/>
            <a:ext cx="4206240" cy="914400"/>
          </a:xfrm>
          <a:prstGeom prst="roundRect">
            <a:avLst>
              <a:gd name="adj" fmla="val 8000"/>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640080" y="3557016"/>
            <a:ext cx="384048" cy="384048"/>
          </a:xfrm>
          <a:prstGeom prst="ellipse">
            <a:avLst/>
          </a:prstGeom>
          <a:solidFill>
            <a:srgbClr val="0E7C86"/>
          </a:solidFill>
          <a:ln w="12700">
            <a:solidFill>
              <a:srgbClr val="0E7C86"/>
            </a:solidFill>
            <a:prstDash val="solid"/>
          </a:ln>
        </p:spPr>
      </p:sp>
      <p:sp>
        <p:nvSpPr>
          <p:cNvPr id="18" name="Text 15"/>
          <p:cNvSpPr txBox="1"/>
          <p:nvPr/>
        </p:nvSpPr>
        <p:spPr>
          <a:xfrm>
            <a:off x="640080" y="3557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6"/>
          <p:cNvSpPr txBox="1"/>
          <p:nvPr/>
        </p:nvSpPr>
        <p:spPr>
          <a:xfrm>
            <a:off x="1234440" y="3383280"/>
            <a:ext cx="329184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Class 3: insensitive</a:t>
            </a:r>
            <a:endParaRPr lang="en-US" sz="1400" dirty="0"/>
          </a:p>
        </p:txBody>
      </p:sp>
      <p:sp>
        <p:nvSpPr>
          <p:cNvPr id="20" name="Text 17"/>
          <p:cNvSpPr txBox="1"/>
          <p:nvPr/>
        </p:nvSpPr>
        <p:spPr>
          <a:xfrm>
            <a:off x="1234440" y="3749040"/>
            <a:ext cx="329184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Smart-grid analytics. Deadline 0.5-2 s</a:t>
            </a:r>
            <a:endParaRPr lang="en-US" sz="1200" dirty="0"/>
          </a:p>
        </p:txBody>
      </p:sp>
      <p:graphicFrame>
        <p:nvGraphicFramePr>
          <p:cNvPr id="21" name="Chart 0" descr=""/>
          <p:cNvGraphicFramePr/>
          <p:nvPr/>
        </p:nvGraphicFramePr>
        <p:xfrm>
          <a:off x="4937760" y="1051560"/>
          <a:ext cx="3749040" cy="3429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Latency and energy models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6" name="Shape 3"/>
          <p:cNvSpPr/>
          <p:nvPr/>
        </p:nvSpPr>
        <p:spPr>
          <a:xfrm>
            <a:off x="457200" y="1097280"/>
            <a:ext cx="8229600" cy="777240"/>
          </a:xfrm>
          <a:prstGeom prst="roundRect">
            <a:avLst>
              <a:gd name="adj" fmla="val 941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40080" y="1097280"/>
            <a:ext cx="1097280" cy="7772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Local</a:t>
            </a:r>
            <a:endParaRPr lang="en-US" sz="1600" dirty="0"/>
          </a:p>
        </p:txBody>
      </p:sp>
      <p:sp>
        <p:nvSpPr>
          <p:cNvPr id="8" name="Text 5"/>
          <p:cNvSpPr txBox="1"/>
          <p:nvPr/>
        </p:nvSpPr>
        <p:spPr>
          <a:xfrm>
            <a:off x="1737360" y="1143000"/>
            <a:ext cx="40233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Latency:  t = φ / f</a:t>
            </a:r>
            <a:endParaRPr lang="en-US" sz="1300" dirty="0"/>
          </a:p>
        </p:txBody>
      </p:sp>
      <p:sp>
        <p:nvSpPr>
          <p:cNvPr id="9" name="Text 6"/>
          <p:cNvSpPr txBox="1"/>
          <p:nvPr/>
        </p:nvSpPr>
        <p:spPr>
          <a:xfrm>
            <a:off x="5760720" y="1143000"/>
            <a:ext cx="28346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Energy:  e = κ · f² · φ</a:t>
            </a:r>
            <a:endParaRPr lang="en-US" sz="1300" dirty="0"/>
          </a:p>
        </p:txBody>
      </p:sp>
      <p:sp>
        <p:nvSpPr>
          <p:cNvPr id="10" name="Shape 7"/>
          <p:cNvSpPr/>
          <p:nvPr/>
        </p:nvSpPr>
        <p:spPr>
          <a:xfrm>
            <a:off x="457200" y="2011680"/>
            <a:ext cx="8229600" cy="777240"/>
          </a:xfrm>
          <a:prstGeom prst="roundRect">
            <a:avLst>
              <a:gd name="adj" fmla="val 941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640080" y="2011680"/>
            <a:ext cx="1097280" cy="7772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MEC</a:t>
            </a:r>
            <a:endParaRPr lang="en-US" sz="1600" dirty="0"/>
          </a:p>
        </p:txBody>
      </p:sp>
      <p:sp>
        <p:nvSpPr>
          <p:cNvPr id="12" name="Text 9"/>
          <p:cNvSpPr txBox="1"/>
          <p:nvPr/>
        </p:nvSpPr>
        <p:spPr>
          <a:xfrm>
            <a:off x="1737360" y="2057400"/>
            <a:ext cx="40233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Latency:  t = D / R + φ / f_MEC</a:t>
            </a:r>
            <a:endParaRPr lang="en-US" sz="1300" dirty="0"/>
          </a:p>
        </p:txBody>
      </p:sp>
      <p:sp>
        <p:nvSpPr>
          <p:cNvPr id="13" name="Text 10"/>
          <p:cNvSpPr txBox="1"/>
          <p:nvPr/>
        </p:nvSpPr>
        <p:spPr>
          <a:xfrm>
            <a:off x="5760720" y="2057400"/>
            <a:ext cx="28346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Energy:  e = p · D / R</a:t>
            </a:r>
            <a:endParaRPr lang="en-US" sz="1300" dirty="0"/>
          </a:p>
        </p:txBody>
      </p:sp>
      <p:sp>
        <p:nvSpPr>
          <p:cNvPr id="14" name="Shape 11"/>
          <p:cNvSpPr/>
          <p:nvPr/>
        </p:nvSpPr>
        <p:spPr>
          <a:xfrm>
            <a:off x="457200" y="2926080"/>
            <a:ext cx="8229600" cy="777240"/>
          </a:xfrm>
          <a:prstGeom prst="roundRect">
            <a:avLst>
              <a:gd name="adj" fmla="val 9412"/>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640080" y="2926080"/>
            <a:ext cx="1097280" cy="7772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Cloud</a:t>
            </a:r>
            <a:endParaRPr lang="en-US" sz="1600" dirty="0"/>
          </a:p>
        </p:txBody>
      </p:sp>
      <p:sp>
        <p:nvSpPr>
          <p:cNvPr id="16" name="Text 13"/>
          <p:cNvSpPr txBox="1"/>
          <p:nvPr/>
        </p:nvSpPr>
        <p:spPr>
          <a:xfrm>
            <a:off x="1737360" y="2971800"/>
            <a:ext cx="40233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Latency:  t = D / R + fiber delay + φ / f_cloud</a:t>
            </a:r>
            <a:endParaRPr lang="en-US" sz="1300" dirty="0"/>
          </a:p>
        </p:txBody>
      </p:sp>
      <p:sp>
        <p:nvSpPr>
          <p:cNvPr id="17" name="Text 14"/>
          <p:cNvSpPr txBox="1"/>
          <p:nvPr/>
        </p:nvSpPr>
        <p:spPr>
          <a:xfrm>
            <a:off x="5760720" y="2971800"/>
            <a:ext cx="28346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Energy:  e = p · D / R  (same as MEC)</a:t>
            </a:r>
            <a:endParaRPr lang="en-US" sz="1300" dirty="0"/>
          </a:p>
        </p:txBody>
      </p:sp>
      <p:sp>
        <p:nvSpPr>
          <p:cNvPr id="18" name="Text 15"/>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 = W · log₂(1 + p·h / N₀) is the uplink rate; channel gain h follows the 3GPP TR 38.901 indoor model (path loss + 5.9 dB shadow fading).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DRL formulation: state, action, reward</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6" name="Shape 3"/>
          <p:cNvSpPr/>
          <p:nvPr/>
        </p:nvSpPr>
        <p:spPr>
          <a:xfrm>
            <a:off x="457200" y="1097280"/>
            <a:ext cx="2606040" cy="2743200"/>
          </a:xfrm>
          <a:prstGeom prst="roundRect">
            <a:avLst>
              <a:gd name="adj" fmla="val 2807"/>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40080" y="1234440"/>
            <a:ext cx="224028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State (6 values)</a:t>
            </a:r>
            <a:endParaRPr lang="en-US" sz="1600" dirty="0"/>
          </a:p>
        </p:txBody>
      </p:sp>
      <p:sp>
        <p:nvSpPr>
          <p:cNvPr id="8" name="Text 5"/>
          <p:cNvSpPr txBox="1"/>
          <p:nvPr/>
        </p:nvSpPr>
        <p:spPr>
          <a:xfrm>
            <a:off x="640080" y="1737360"/>
            <a:ext cx="2240280" cy="2011680"/>
          </a:xfrm>
          <a:prstGeom prst="rect">
            <a:avLst/>
          </a:prstGeom>
          <a:noFill/>
          <a:ln/>
        </p:spPr>
        <p:txBody>
          <a:bodyPr wrap="square" lIns="0" tIns="0" rIns="0" bIns="0" rtlCol="0" anchor="t"/>
          <a:lstStyle/>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Battery level</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UE free resources</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MEC free resources</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Cloud free resources</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Channel gain</a:t>
            </a: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Task class</a:t>
            </a:r>
            <a:endParaRPr lang="en-US" sz="1300" dirty="0"/>
          </a:p>
        </p:txBody>
      </p:sp>
      <p:sp>
        <p:nvSpPr>
          <p:cNvPr id="9" name="Shape 6"/>
          <p:cNvSpPr/>
          <p:nvPr/>
        </p:nvSpPr>
        <p:spPr>
          <a:xfrm>
            <a:off x="3246120" y="1097280"/>
            <a:ext cx="2606040" cy="2743200"/>
          </a:xfrm>
          <a:prstGeom prst="roundRect">
            <a:avLst>
              <a:gd name="adj" fmla="val 2807"/>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3429000" y="1234440"/>
            <a:ext cx="2240280" cy="41148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Action (3 choices)</a:t>
            </a:r>
            <a:endParaRPr lang="en-US" sz="1600" dirty="0"/>
          </a:p>
        </p:txBody>
      </p:sp>
      <p:sp>
        <p:nvSpPr>
          <p:cNvPr id="11" name="Text 8"/>
          <p:cNvSpPr txBox="1"/>
          <p:nvPr/>
        </p:nvSpPr>
        <p:spPr>
          <a:xfrm>
            <a:off x="3429000" y="1737360"/>
            <a:ext cx="2240280" cy="2011680"/>
          </a:xfrm>
          <a:prstGeom prst="rect">
            <a:avLst/>
          </a:prstGeom>
          <a:noFill/>
          <a:ln/>
        </p:spPr>
        <p:txBody>
          <a:bodyPr wrap="square" lIns="0" tIns="0" rIns="0" bIns="0" rtlCol="0" anchor="t"/>
          <a:lstStyle/>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0 = execute locally</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1 = offload to MEC</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2 = offload to cloud</a:t>
            </a:r>
            <a:endParaRPr lang="en-US" sz="1300" dirty="0"/>
          </a:p>
        </p:txBody>
      </p:sp>
      <p:sp>
        <p:nvSpPr>
          <p:cNvPr id="12" name="Shape 9"/>
          <p:cNvSpPr/>
          <p:nvPr/>
        </p:nvSpPr>
        <p:spPr>
          <a:xfrm>
            <a:off x="6035040" y="1097280"/>
            <a:ext cx="2606040" cy="2743200"/>
          </a:xfrm>
          <a:prstGeom prst="roundRect">
            <a:avLst>
              <a:gd name="adj" fmla="val 2807"/>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217920" y="1234440"/>
            <a:ext cx="224028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Reward = QoE</a:t>
            </a:r>
            <a:endParaRPr lang="en-US" sz="1600" dirty="0"/>
          </a:p>
        </p:txBody>
      </p:sp>
      <p:sp>
        <p:nvSpPr>
          <p:cNvPr id="14" name="Text 11"/>
          <p:cNvSpPr txBox="1"/>
          <p:nvPr/>
        </p:nvSpPr>
        <p:spPr>
          <a:xfrm>
            <a:off x="6217920" y="1737360"/>
            <a:ext cx="2240280" cy="2011680"/>
          </a:xfrm>
          <a:prstGeom prst="rect">
            <a:avLst/>
          </a:prstGeom>
          <a:noFill/>
          <a:ln/>
        </p:spPr>
        <p:txBody>
          <a:bodyPr wrap="square" lIns="0" tIns="0" rIns="0" bIns="0" rtlCol="0" anchor="t"/>
          <a:lstStyle/>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Deadline met: −energy used ÷ battery capacity</a:t>
            </a:r>
            <a:endParaRPr lang="en-US" sz="1300" dirty="0"/>
          </a:p>
          <a:p>
            <a:pPr indent="0" marL="0">
              <a:spcAft>
                <a:spcPts val="300"/>
              </a:spcAft>
              <a:buNone/>
            </a:pPr>
            <a:endParaRPr lang="en-US" sz="1300" dirty="0"/>
          </a:p>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Deadline missed: penalty η = −100</a:t>
            </a:r>
            <a:endParaRPr lang="en-US" sz="1300" dirty="0"/>
          </a:p>
        </p:txBody>
      </p:sp>
      <p:sp>
        <p:nvSpPr>
          <p:cNvPr id="15" name="Text 12"/>
          <p:cNvSpPr txBox="1"/>
          <p:nvPr/>
        </p:nvSpPr>
        <p:spPr>
          <a:xfrm>
            <a:off x="457200" y="4023360"/>
            <a:ext cx="8229600" cy="54864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Objective: maximize the sum of QoE over all time steps, subject to resource constraints. Agents are non-cooperative: no central controller.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Actor-Critic agent on every device</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6" name="Shape 3"/>
          <p:cNvSpPr/>
          <p:nvPr/>
        </p:nvSpPr>
        <p:spPr>
          <a:xfrm>
            <a:off x="457200" y="1097280"/>
            <a:ext cx="260604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457200" y="1188720"/>
            <a:ext cx="2606040" cy="685800"/>
          </a:xfrm>
          <a:prstGeom prst="rect">
            <a:avLst/>
          </a:prstGeom>
          <a:noFill/>
          <a:ln/>
        </p:spPr>
        <p:txBody>
          <a:bodyPr wrap="square" lIns="0" tIns="0" rIns="0" bIns="0" rtlCol="0" anchor="ctr"/>
          <a:lstStyle/>
          <a:p>
            <a:pPr algn="ctr" indent="0" marL="0">
              <a:buNone/>
            </a:pPr>
            <a:r>
              <a:rPr lang="en-US" sz="2600" b="1" dirty="0">
                <a:solidFill>
                  <a:srgbClr val="0E7C86"/>
                </a:solidFill>
                <a:latin typeface="Cambria" pitchFamily="34" charset="0"/>
                <a:ea typeface="Cambria" pitchFamily="34" charset="-122"/>
                <a:cs typeface="Cambria" pitchFamily="34" charset="-120"/>
              </a:rPr>
              <a:t>2 × 256</a:t>
            </a:r>
            <a:endParaRPr lang="en-US" sz="2600" dirty="0"/>
          </a:p>
        </p:txBody>
      </p:sp>
      <p:sp>
        <p:nvSpPr>
          <p:cNvPr id="8" name="Text 5"/>
          <p:cNvSpPr txBox="1"/>
          <p:nvPr/>
        </p:nvSpPr>
        <p:spPr>
          <a:xfrm>
            <a:off x="594360" y="1874520"/>
            <a:ext cx="233172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hidden neurons in each network</a:t>
            </a:r>
            <a:endParaRPr lang="en-US" sz="1200" dirty="0"/>
          </a:p>
        </p:txBody>
      </p:sp>
      <p:sp>
        <p:nvSpPr>
          <p:cNvPr id="9" name="Shape 6"/>
          <p:cNvSpPr/>
          <p:nvPr/>
        </p:nvSpPr>
        <p:spPr>
          <a:xfrm>
            <a:off x="3246120" y="1097280"/>
            <a:ext cx="260604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3246120" y="1188720"/>
            <a:ext cx="2606040" cy="685800"/>
          </a:xfrm>
          <a:prstGeom prst="rect">
            <a:avLst/>
          </a:prstGeom>
          <a:noFill/>
          <a:ln/>
        </p:spPr>
        <p:txBody>
          <a:bodyPr wrap="square" lIns="0" tIns="0" rIns="0" bIns="0" rtlCol="0" anchor="ctr"/>
          <a:lstStyle/>
          <a:p>
            <a:pPr algn="ctr" indent="0" marL="0">
              <a:buNone/>
            </a:pPr>
            <a:r>
              <a:rPr lang="en-US" sz="2600" b="1" dirty="0">
                <a:solidFill>
                  <a:srgbClr val="0E7C86"/>
                </a:solidFill>
                <a:latin typeface="Cambria" pitchFamily="34" charset="0"/>
                <a:ea typeface="Cambria" pitchFamily="34" charset="-122"/>
                <a:cs typeface="Cambria" pitchFamily="34" charset="-120"/>
              </a:rPr>
              <a:t>10⁻⁵ / 10⁻⁴</a:t>
            </a:r>
            <a:endParaRPr lang="en-US" sz="2600" dirty="0"/>
          </a:p>
        </p:txBody>
      </p:sp>
      <p:sp>
        <p:nvSpPr>
          <p:cNvPr id="11" name="Text 8"/>
          <p:cNvSpPr txBox="1"/>
          <p:nvPr/>
        </p:nvSpPr>
        <p:spPr>
          <a:xfrm>
            <a:off x="3383280" y="1874520"/>
            <a:ext cx="233172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learning rate: actor / critic</a:t>
            </a:r>
            <a:endParaRPr lang="en-US" sz="1200" dirty="0"/>
          </a:p>
        </p:txBody>
      </p:sp>
      <p:sp>
        <p:nvSpPr>
          <p:cNvPr id="12" name="Shape 9"/>
          <p:cNvSpPr/>
          <p:nvPr/>
        </p:nvSpPr>
        <p:spPr>
          <a:xfrm>
            <a:off x="6035040" y="1097280"/>
            <a:ext cx="260604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035040" y="1188720"/>
            <a:ext cx="2606040" cy="685800"/>
          </a:xfrm>
          <a:prstGeom prst="rect">
            <a:avLst/>
          </a:prstGeom>
          <a:noFill/>
          <a:ln/>
        </p:spPr>
        <p:txBody>
          <a:bodyPr wrap="square" lIns="0" tIns="0" rIns="0" bIns="0" rtlCol="0" anchor="ctr"/>
          <a:lstStyle/>
          <a:p>
            <a:pPr algn="ctr" indent="0" marL="0">
              <a:buNone/>
            </a:pPr>
            <a:r>
              <a:rPr lang="en-US" sz="2600" b="1" dirty="0">
                <a:solidFill>
                  <a:srgbClr val="0E7C86"/>
                </a:solidFill>
                <a:latin typeface="Cambria" pitchFamily="34" charset="0"/>
                <a:ea typeface="Cambria" pitchFamily="34" charset="-122"/>
                <a:cs typeface="Cambria" pitchFamily="34" charset="-120"/>
              </a:rPr>
              <a:t>γ = 0.99</a:t>
            </a:r>
            <a:endParaRPr lang="en-US" sz="2600" dirty="0"/>
          </a:p>
        </p:txBody>
      </p:sp>
      <p:sp>
        <p:nvSpPr>
          <p:cNvPr id="14" name="Text 11"/>
          <p:cNvSpPr txBox="1"/>
          <p:nvPr/>
        </p:nvSpPr>
        <p:spPr>
          <a:xfrm>
            <a:off x="6172200" y="1874520"/>
            <a:ext cx="2331720" cy="5029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discount factor, Adam optimizer</a:t>
            </a:r>
            <a:endParaRPr lang="en-US" sz="1200" dirty="0"/>
          </a:p>
        </p:txBody>
      </p:sp>
      <p:sp>
        <p:nvSpPr>
          <p:cNvPr id="15" name="Shape 12"/>
          <p:cNvSpPr/>
          <p:nvPr/>
        </p:nvSpPr>
        <p:spPr>
          <a:xfrm>
            <a:off x="457200" y="2743200"/>
            <a:ext cx="402336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640080" y="283464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Actor</a:t>
            </a:r>
            <a:endParaRPr lang="en-US" sz="1500" dirty="0"/>
          </a:p>
        </p:txBody>
      </p:sp>
      <p:sp>
        <p:nvSpPr>
          <p:cNvPr id="17" name="Text 14"/>
          <p:cNvSpPr txBox="1"/>
          <p:nvPr/>
        </p:nvSpPr>
        <p:spPr>
          <a:xfrm>
            <a:off x="640080" y="3246120"/>
            <a:ext cx="3657600" cy="7772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State → TanH layers → softmax over {local, MEC, cloud}. Picks the offloading action.</a:t>
            </a:r>
            <a:endParaRPr lang="en-US" sz="1300" dirty="0"/>
          </a:p>
        </p:txBody>
      </p:sp>
      <p:sp>
        <p:nvSpPr>
          <p:cNvPr id="18" name="Shape 15"/>
          <p:cNvSpPr/>
          <p:nvPr/>
        </p:nvSpPr>
        <p:spPr>
          <a:xfrm>
            <a:off x="4663440" y="2743200"/>
            <a:ext cx="4023360" cy="1371600"/>
          </a:xfrm>
          <a:prstGeom prst="roundRect">
            <a:avLst>
              <a:gd name="adj" fmla="val 5333"/>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4846320" y="283464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Critic</a:t>
            </a:r>
            <a:endParaRPr lang="en-US" sz="1500" dirty="0"/>
          </a:p>
        </p:txBody>
      </p:sp>
      <p:sp>
        <p:nvSpPr>
          <p:cNvPr id="20" name="Text 17"/>
          <p:cNvSpPr txBox="1"/>
          <p:nvPr/>
        </p:nvSpPr>
        <p:spPr>
          <a:xfrm>
            <a:off x="4846320" y="3246120"/>
            <a:ext cx="3657600" cy="10972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State → TanH layers → linear value. Its temporal-difference (TD) error updates the actor and the critic.</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Experimental setup</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6" name="Text 3"/>
          <p:cNvSpPr txBox="1"/>
          <p:nvPr/>
        </p:nvSpPr>
        <p:spPr>
          <a:xfrm>
            <a:off x="457200" y="109728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Simulator</a:t>
            </a:r>
            <a:endParaRPr lang="en-US" sz="1200" dirty="0"/>
          </a:p>
        </p:txBody>
      </p:sp>
      <p:sp>
        <p:nvSpPr>
          <p:cNvPr id="7" name="Text 4"/>
          <p:cNvSpPr txBox="1"/>
          <p:nvPr/>
        </p:nvSpPr>
        <p:spPr>
          <a:xfrm>
            <a:off x="2011680" y="109728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Python 3.10, TensorFlow 2.14, Gymnasium 0.29</a:t>
            </a:r>
            <a:endParaRPr lang="en-US" sz="1200" dirty="0"/>
          </a:p>
        </p:txBody>
      </p:sp>
      <p:sp>
        <p:nvSpPr>
          <p:cNvPr id="8" name="Text 5"/>
          <p:cNvSpPr txBox="1"/>
          <p:nvPr/>
        </p:nvSpPr>
        <p:spPr>
          <a:xfrm>
            <a:off x="457200" y="164592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Topology</a:t>
            </a:r>
            <a:endParaRPr lang="en-US" sz="1200" dirty="0"/>
          </a:p>
        </p:txBody>
      </p:sp>
      <p:sp>
        <p:nvSpPr>
          <p:cNvPr id="9" name="Text 6"/>
          <p:cNvSpPr txBox="1"/>
          <p:nvPr/>
        </p:nvSpPr>
        <p:spPr>
          <a:xfrm>
            <a:off x="2011680" y="164592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1 cloud server, 1 MEC server at the BS, multiple UEs</a:t>
            </a:r>
            <a:endParaRPr lang="en-US" sz="1200" dirty="0"/>
          </a:p>
        </p:txBody>
      </p:sp>
      <p:sp>
        <p:nvSpPr>
          <p:cNvPr id="10" name="Text 7"/>
          <p:cNvSpPr txBox="1"/>
          <p:nvPr/>
        </p:nvSpPr>
        <p:spPr>
          <a:xfrm>
            <a:off x="457200" y="219456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UE battery</a:t>
            </a:r>
            <a:endParaRPr lang="en-US" sz="1200" dirty="0"/>
          </a:p>
        </p:txBody>
      </p:sp>
      <p:sp>
        <p:nvSpPr>
          <p:cNvPr id="11" name="Text 8"/>
          <p:cNvSpPr txBox="1"/>
          <p:nvPr/>
        </p:nvSpPr>
        <p:spPr>
          <a:xfrm>
            <a:off x="2011680" y="219456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10,000 mJ</a:t>
            </a:r>
            <a:endParaRPr lang="en-US" sz="1200" dirty="0"/>
          </a:p>
        </p:txBody>
      </p:sp>
      <p:sp>
        <p:nvSpPr>
          <p:cNvPr id="12" name="Text 9"/>
          <p:cNvSpPr txBox="1"/>
          <p:nvPr/>
        </p:nvSpPr>
        <p:spPr>
          <a:xfrm>
            <a:off x="457200" y="274320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UE transmit power</a:t>
            </a:r>
            <a:endParaRPr lang="en-US" sz="1200" dirty="0"/>
          </a:p>
        </p:txBody>
      </p:sp>
      <p:sp>
        <p:nvSpPr>
          <p:cNvPr id="13" name="Text 10"/>
          <p:cNvSpPr txBox="1"/>
          <p:nvPr/>
        </p:nvSpPr>
        <p:spPr>
          <a:xfrm>
            <a:off x="2011680" y="274320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200 mW; noise −80 dBm</a:t>
            </a:r>
            <a:endParaRPr lang="en-US" sz="1200" dirty="0"/>
          </a:p>
        </p:txBody>
      </p:sp>
      <p:sp>
        <p:nvSpPr>
          <p:cNvPr id="14" name="Text 11"/>
          <p:cNvSpPr txBox="1"/>
          <p:nvPr/>
        </p:nvSpPr>
        <p:spPr>
          <a:xfrm>
            <a:off x="457200" y="329184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Distances</a:t>
            </a:r>
            <a:endParaRPr lang="en-US" sz="1200" dirty="0"/>
          </a:p>
        </p:txBody>
      </p:sp>
      <p:sp>
        <p:nvSpPr>
          <p:cNvPr id="15" name="Text 12"/>
          <p:cNvSpPr txBox="1"/>
          <p:nvPr/>
        </p:nvSpPr>
        <p:spPr>
          <a:xfrm>
            <a:off x="2011680" y="329184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UE-BS 30-150 m; BS-cloud 50 km</a:t>
            </a:r>
            <a:endParaRPr lang="en-US" sz="1200" dirty="0"/>
          </a:p>
        </p:txBody>
      </p:sp>
      <p:sp>
        <p:nvSpPr>
          <p:cNvPr id="16" name="Text 13"/>
          <p:cNvSpPr txBox="1"/>
          <p:nvPr/>
        </p:nvSpPr>
        <p:spPr>
          <a:xfrm>
            <a:off x="457200" y="3840480"/>
            <a:ext cx="1554480" cy="45720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QoE penalty</a:t>
            </a:r>
            <a:endParaRPr lang="en-US" sz="1200" dirty="0"/>
          </a:p>
        </p:txBody>
      </p:sp>
      <p:sp>
        <p:nvSpPr>
          <p:cNvPr id="17" name="Text 14"/>
          <p:cNvSpPr txBox="1"/>
          <p:nvPr/>
        </p:nvSpPr>
        <p:spPr>
          <a:xfrm>
            <a:off x="2011680" y="3840480"/>
            <a:ext cx="310896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η = −100 for a missed deadline</a:t>
            </a:r>
            <a:endParaRPr lang="en-US" sz="1200" dirty="0"/>
          </a:p>
        </p:txBody>
      </p:sp>
      <p:graphicFrame>
        <p:nvGraphicFramePr>
          <p:cNvPr id="18" name="Chart 0" descr=""/>
          <p:cNvGraphicFramePr/>
          <p:nvPr/>
        </p:nvGraphicFramePr>
        <p:xfrm>
          <a:off x="5303520" y="1051560"/>
          <a:ext cx="3474720" cy="3429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Evaluation scenarios and baselines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097280"/>
            <a:ext cx="4023360" cy="1554480"/>
          </a:xfrm>
          <a:prstGeom prst="roundRect">
            <a:avLst>
              <a:gd name="adj" fmla="val 4706"/>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Scenario 1: MEC outages</a:t>
            </a:r>
            <a:endParaRPr lang="en-US" sz="1500" dirty="0"/>
          </a:p>
        </p:txBody>
      </p:sp>
      <p:sp>
        <p:nvSpPr>
          <p:cNvPr id="8" name="Text 5"/>
          <p:cNvSpPr txBox="1"/>
          <p:nvPr/>
        </p:nvSpPr>
        <p:spPr>
          <a:xfrm>
            <a:off x="640080" y="160020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MEC unavailable at steps 500-750 and 1250-1500. Tested with 90% Class 1, 90% Class 2, 90% Class 3, and a mixed workload.</a:t>
            </a:r>
            <a:endParaRPr lang="en-US" sz="1250" dirty="0"/>
          </a:p>
        </p:txBody>
      </p:sp>
      <p:sp>
        <p:nvSpPr>
          <p:cNvPr id="9" name="Shape 6"/>
          <p:cNvSpPr/>
          <p:nvPr/>
        </p:nvSpPr>
        <p:spPr>
          <a:xfrm>
            <a:off x="4663440" y="1097280"/>
            <a:ext cx="4023360" cy="1554480"/>
          </a:xfrm>
          <a:prstGeom prst="roundRect">
            <a:avLst>
              <a:gd name="adj" fmla="val 4706"/>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Scenario 2: communication failure</a:t>
            </a:r>
            <a:endParaRPr lang="en-US" sz="1500" dirty="0"/>
          </a:p>
        </p:txBody>
      </p:sp>
      <p:sp>
        <p:nvSpPr>
          <p:cNvPr id="11" name="Text 8"/>
          <p:cNvSpPr txBox="1"/>
          <p:nvPr/>
        </p:nvSpPr>
        <p:spPr>
          <a:xfrm>
            <a:off x="4846320" y="1600200"/>
            <a:ext cx="365760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MEC stays available (80-100% capacity) but the wireless link fails during steps 500-1000, so nothing can be offloaded.</a:t>
            </a:r>
            <a:endParaRPr lang="en-US" sz="1250" dirty="0"/>
          </a:p>
        </p:txBody>
      </p:sp>
      <p:sp>
        <p:nvSpPr>
          <p:cNvPr id="12" name="Shape 9"/>
          <p:cNvSpPr/>
          <p:nvPr/>
        </p:nvSpPr>
        <p:spPr>
          <a:xfrm>
            <a:off x="457200" y="2880360"/>
            <a:ext cx="4023360" cy="1600200"/>
          </a:xfrm>
          <a:prstGeom prst="roundRect">
            <a:avLst>
              <a:gd name="adj" fmla="val 4571"/>
            </a:avLst>
          </a:prstGeom>
          <a:solidFill>
            <a:srgbClr val="D8EFF0"/>
          </a:solidFill>
          <a:ln w="12700">
            <a:solidFill>
              <a:srgbClr val="D8EFF0"/>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40080" y="297180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Static baselines</a:t>
            </a:r>
            <a:endParaRPr lang="en-US" sz="1500" dirty="0"/>
          </a:p>
        </p:txBody>
      </p:sp>
      <p:sp>
        <p:nvSpPr>
          <p:cNvPr id="14" name="Text 11"/>
          <p:cNvSpPr txBox="1"/>
          <p:nvPr/>
        </p:nvSpPr>
        <p:spPr>
          <a:xfrm>
            <a:off x="640080" y="3429000"/>
            <a:ext cx="3657600" cy="9144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Always Local, always MEC, always Cloud</a:t>
            </a:r>
            <a:endParaRPr lang="en-US" sz="1300" dirty="0"/>
          </a:p>
        </p:txBody>
      </p:sp>
      <p:sp>
        <p:nvSpPr>
          <p:cNvPr id="15" name="Shape 12"/>
          <p:cNvSpPr/>
          <p:nvPr/>
        </p:nvSpPr>
        <p:spPr>
          <a:xfrm>
            <a:off x="4663440" y="2880360"/>
            <a:ext cx="4023360" cy="1600200"/>
          </a:xfrm>
          <a:prstGeom prst="roundRect">
            <a:avLst>
              <a:gd name="adj" fmla="val 4571"/>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4846320" y="2971800"/>
            <a:ext cx="3657600" cy="365760"/>
          </a:xfrm>
          <a:prstGeom prst="rect">
            <a:avLst/>
          </a:prstGeom>
          <a:noFill/>
          <a:ln/>
        </p:spPr>
        <p:txBody>
          <a:bodyPr wrap="square" lIns="0" tIns="0" rIns="0" bIns="0" rtlCol="0" anchor="ctr"/>
          <a:lstStyle/>
          <a:p>
            <a:pPr indent="0" marL="0">
              <a:buNone/>
            </a:pPr>
            <a:r>
              <a:rPr lang="en-US" sz="1500" b="1" dirty="0">
                <a:solidFill>
                  <a:srgbClr val="F2A541"/>
                </a:solidFill>
                <a:latin typeface="Cambria" pitchFamily="34" charset="0"/>
                <a:ea typeface="Cambria" pitchFamily="34" charset="-122"/>
                <a:cs typeface="Cambria" pitchFamily="34" charset="-120"/>
              </a:rPr>
              <a:t>Dynamic methods</a:t>
            </a:r>
            <a:endParaRPr lang="en-US" sz="1500" dirty="0"/>
          </a:p>
        </p:txBody>
      </p:sp>
      <p:sp>
        <p:nvSpPr>
          <p:cNvPr id="17" name="Text 14"/>
          <p:cNvSpPr txBox="1"/>
          <p:nvPr/>
        </p:nvSpPr>
        <p:spPr>
          <a:xfrm>
            <a:off x="4846320" y="3429000"/>
            <a:ext cx="3657600" cy="9144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Random, Joint-Networks AC, Double Dueling DQN, and the proposed Separated-Networks AC</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Results: scenario 1 (MEC outages)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3474720"/>
                <a:gridCol w="29260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Static baselines</a:t>
                      </a:r>
                      <a:endParaRPr lang="en-US" sz="12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Separated-Networks AC (proposed)</a:t>
                      </a:r>
                      <a:endParaRPr lang="en-US" sz="12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4213D"/>
                    </a:solidFill>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90% Class 1 (delay)</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Cloud worst (misses deadlines); Local drains battery; MEC best while available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Best dynamic method; switches after MEC fails</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59436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90% Class 2 (energy)</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Local worst; MEC and Cloud use similar battery</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Slightly better than Joint-Networks AC</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858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90% Class 3 (insensitive)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Local worst; MEC and Cloud QoE near 0</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Keeps more battery; uses MEC, then cloud during outages</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858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Mixed</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MEC is the best static choice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Best QoE overall; DDDQN worst on battery and QoE</a:t>
                      </a:r>
                      <a:endParaRPr lang="en-US" sz="1100" dirty="0">
                        <a:latin typeface="Calibri" charset="0"/>
                        <a:ea typeface="Calibri" charset="0"/>
                        <a:cs typeface="Calibri" charset="0"/>
                      </a:endParaRPr>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bl>
          </a:graphicData>
        </a:graphic>
      </p:graphicFrame>
      <p:sp>
        <p:nvSpPr>
          <p:cNvPr id="7" name="Text 3"/>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DDDQN = Double Dueling Deep Q-Network. It learned more slowly than the Actor-Critic variants in the reported runs.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Results: scenario 2 and key findings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6" name="Shape 3"/>
          <p:cNvSpPr/>
          <p:nvPr/>
        </p:nvSpPr>
        <p:spPr>
          <a:xfrm>
            <a:off x="457200" y="1097280"/>
            <a:ext cx="3931920" cy="1508760"/>
          </a:xfrm>
          <a:prstGeom prst="roundRect">
            <a:avLst>
              <a:gd name="adj" fmla="val 4848"/>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234440"/>
            <a:ext cx="3474720" cy="41148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No fixed policy wins</a:t>
            </a:r>
            <a:endParaRPr lang="en-US" sz="1600" dirty="0"/>
          </a:p>
        </p:txBody>
      </p:sp>
      <p:sp>
        <p:nvSpPr>
          <p:cNvPr id="8" name="Text 5"/>
          <p:cNvSpPr txBox="1"/>
          <p:nvPr/>
        </p:nvSpPr>
        <p:spPr>
          <a:xfrm>
            <a:off x="685800" y="1691640"/>
            <a:ext cx="3474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Cloud fails delay-critical tasks, Local drains the battery on heavy tasks, MEC fails when the edge is down.</a:t>
            </a:r>
            <a:endParaRPr lang="en-US" sz="1300" dirty="0"/>
          </a:p>
        </p:txBody>
      </p:sp>
      <p:sp>
        <p:nvSpPr>
          <p:cNvPr id="9" name="Shape 6"/>
          <p:cNvSpPr/>
          <p:nvPr/>
        </p:nvSpPr>
        <p:spPr>
          <a:xfrm>
            <a:off x="4663440" y="1097280"/>
            <a:ext cx="3931920" cy="1508760"/>
          </a:xfrm>
          <a:prstGeom prst="roundRect">
            <a:avLst>
              <a:gd name="adj" fmla="val 484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92040" y="1234440"/>
            <a:ext cx="347472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Agents adapt online</a:t>
            </a:r>
            <a:endParaRPr lang="en-US" sz="1600" dirty="0"/>
          </a:p>
        </p:txBody>
      </p:sp>
      <p:sp>
        <p:nvSpPr>
          <p:cNvPr id="11" name="Text 8"/>
          <p:cNvSpPr txBox="1"/>
          <p:nvPr/>
        </p:nvSpPr>
        <p:spPr>
          <a:xfrm>
            <a:off x="4892040" y="1691640"/>
            <a:ext cx="347472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proposed agents use MEC as long as it is up, then move to cloud or local when it is not.</a:t>
            </a:r>
            <a:endParaRPr lang="en-US" sz="1300" dirty="0"/>
          </a:p>
        </p:txBody>
      </p:sp>
      <p:sp>
        <p:nvSpPr>
          <p:cNvPr id="12" name="Shape 9"/>
          <p:cNvSpPr/>
          <p:nvPr/>
        </p:nvSpPr>
        <p:spPr>
          <a:xfrm>
            <a:off x="457200" y="2788920"/>
            <a:ext cx="3931920" cy="1508760"/>
          </a:xfrm>
          <a:prstGeom prst="roundRect">
            <a:avLst>
              <a:gd name="adj" fmla="val 484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685800" y="2926080"/>
            <a:ext cx="347472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Separated networks help</a:t>
            </a:r>
            <a:endParaRPr lang="en-US" sz="1600" dirty="0"/>
          </a:p>
        </p:txBody>
      </p:sp>
      <p:sp>
        <p:nvSpPr>
          <p:cNvPr id="14" name="Text 11"/>
          <p:cNvSpPr txBox="1"/>
          <p:nvPr/>
        </p:nvSpPr>
        <p:spPr>
          <a:xfrm>
            <a:off x="685800" y="3383280"/>
            <a:ext cx="347472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Separate actor and critic gave slightly better results than shared hidden layers.</a:t>
            </a:r>
            <a:endParaRPr lang="en-US" sz="1300" dirty="0"/>
          </a:p>
        </p:txBody>
      </p:sp>
      <p:sp>
        <p:nvSpPr>
          <p:cNvPr id="15" name="Shape 12"/>
          <p:cNvSpPr/>
          <p:nvPr/>
        </p:nvSpPr>
        <p:spPr>
          <a:xfrm>
            <a:off x="4663440" y="2788920"/>
            <a:ext cx="3931920" cy="1508760"/>
          </a:xfrm>
          <a:prstGeom prst="roundRect">
            <a:avLst>
              <a:gd name="adj" fmla="val 4848"/>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4892040" y="2926080"/>
            <a:ext cx="347472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Link failure handled</a:t>
            </a:r>
            <a:endParaRPr lang="en-US" sz="1600" dirty="0"/>
          </a:p>
        </p:txBody>
      </p:sp>
      <p:sp>
        <p:nvSpPr>
          <p:cNvPr id="17" name="Text 14"/>
          <p:cNvSpPr txBox="1"/>
          <p:nvPr/>
        </p:nvSpPr>
        <p:spPr>
          <a:xfrm>
            <a:off x="4892040" y="3383280"/>
            <a:ext cx="347472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When the wireless link fails, dynamic agents adjust and outperform static baselines.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Critical analysis</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6" name="Shape 3"/>
          <p:cNvSpPr/>
          <p:nvPr/>
        </p:nvSpPr>
        <p:spPr>
          <a:xfrm>
            <a:off x="457200" y="1097280"/>
            <a:ext cx="4023360" cy="2651760"/>
          </a:xfrm>
          <a:prstGeom prst="roundRect">
            <a:avLst>
              <a:gd name="adj" fmla="val 2759"/>
            </a:avLst>
          </a:prstGeom>
          <a:solidFill>
            <a:srgbClr val="D8EFF0"/>
          </a:solidFill>
          <a:ln w="12700">
            <a:solidFill>
              <a:srgbClr val="D8EFF0"/>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188720"/>
            <a:ext cx="3566160" cy="411480"/>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Strengths</a:t>
            </a:r>
            <a:endParaRPr lang="en-US" sz="1700" dirty="0"/>
          </a:p>
        </p:txBody>
      </p:sp>
      <p:sp>
        <p:nvSpPr>
          <p:cNvPr id="8" name="Text 5"/>
          <p:cNvSpPr txBox="1"/>
          <p:nvPr/>
        </p:nvSpPr>
        <p:spPr>
          <a:xfrm>
            <a:off x="68580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Distributed: no central controller, lower overhead and better privacy</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Three execution options and three task classes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Tests failure cases, not only the normal case</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Physically grounded model (3GPP channel, fiber link)</a:t>
            </a:r>
            <a:endParaRPr lang="en-US" sz="1300" dirty="0"/>
          </a:p>
        </p:txBody>
      </p:sp>
      <p:sp>
        <p:nvSpPr>
          <p:cNvPr id="9" name="Shape 6"/>
          <p:cNvSpPr/>
          <p:nvPr/>
        </p:nvSpPr>
        <p:spPr>
          <a:xfrm>
            <a:off x="4663440" y="1097280"/>
            <a:ext cx="4023360" cy="2651760"/>
          </a:xfrm>
          <a:prstGeom prst="roundRect">
            <a:avLst>
              <a:gd name="adj" fmla="val 2759"/>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92040" y="1188720"/>
            <a:ext cx="3566160" cy="41148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Limitations</a:t>
            </a:r>
            <a:endParaRPr lang="en-US" sz="1700" dirty="0"/>
          </a:p>
        </p:txBody>
      </p:sp>
      <p:sp>
        <p:nvSpPr>
          <p:cNvPr id="11" name="Text 8"/>
          <p:cNvSpPr txBox="1"/>
          <p:nvPr/>
        </p:nvSpPr>
        <p:spPr>
          <a:xfrm>
            <a:off x="489204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Tasks cannot be split; no partial offloading or dependencies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Simple FIFO queues; fast fading averaged out</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Scalability with many agents not tested</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Simulation only, two scenarios, no real testbed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Relevance to our course and future work</a:t>
            </a:r>
            <a:endParaRPr lang="en-US" sz="28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Nieto et al., J. Cloud Computing 13, 94 (2024)</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6" name="Shape 3"/>
          <p:cNvSpPr/>
          <p:nvPr/>
        </p:nvSpPr>
        <p:spPr>
          <a:xfrm>
            <a:off x="457200" y="1097280"/>
            <a:ext cx="4023360" cy="2651760"/>
          </a:xfrm>
          <a:prstGeom prst="roundRect">
            <a:avLst>
              <a:gd name="adj" fmla="val 2759"/>
            </a:avLst>
          </a:prstGeom>
          <a:solidFill>
            <a:srgbClr val="EEF4F7"/>
          </a:solidFill>
          <a:ln w="12700">
            <a:solidFill>
              <a:srgbClr val="EEF4F7"/>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188720"/>
            <a:ext cx="356616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Link to the course</a:t>
            </a:r>
            <a:endParaRPr lang="en-US" sz="1700" dirty="0"/>
          </a:p>
        </p:txBody>
      </p:sp>
      <p:sp>
        <p:nvSpPr>
          <p:cNvPr id="8" name="Text 5"/>
          <p:cNvSpPr txBox="1"/>
          <p:nvPr/>
        </p:nvSpPr>
        <p:spPr>
          <a:xfrm>
            <a:off x="68580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Mobile communications: 5G wireless link, Shannon rate, path loss, shadow fading</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Cloud computing: MEC and cloud tiers, resource occupancy, latency</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Shows why the edge-cloud continuum exists</a:t>
            </a:r>
            <a:endParaRPr lang="en-US" sz="1300" dirty="0"/>
          </a:p>
        </p:txBody>
      </p:sp>
      <p:sp>
        <p:nvSpPr>
          <p:cNvPr id="9" name="Shape 6"/>
          <p:cNvSpPr/>
          <p:nvPr/>
        </p:nvSpPr>
        <p:spPr>
          <a:xfrm>
            <a:off x="4663440" y="1097280"/>
            <a:ext cx="4023360" cy="2651760"/>
          </a:xfrm>
          <a:prstGeom prst="roundRect">
            <a:avLst>
              <a:gd name="adj" fmla="val 2759"/>
            </a:avLst>
          </a:prstGeom>
          <a:solidFill>
            <a:srgbClr val="14213D"/>
          </a:solidFill>
          <a:ln w="12700">
            <a:solidFill>
              <a:srgbClr val="14213D"/>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4892040" y="1188720"/>
            <a:ext cx="3566160" cy="411480"/>
          </a:xfrm>
          <a:prstGeom prst="rect">
            <a:avLst/>
          </a:prstGeom>
          <a:noFill/>
          <a:ln/>
        </p:spPr>
        <p:txBody>
          <a:bodyPr wrap="square" lIns="0" tIns="0" rIns="0" bIns="0" rtlCol="0" anchor="ctr"/>
          <a:lstStyle/>
          <a:p>
            <a:pPr indent="0" marL="0">
              <a:buNone/>
            </a:pPr>
            <a:r>
              <a:rPr lang="en-US" sz="1700" b="1" dirty="0">
                <a:solidFill>
                  <a:srgbClr val="F2A541"/>
                </a:solidFill>
                <a:latin typeface="Cambria" pitchFamily="34" charset="0"/>
                <a:ea typeface="Cambria" pitchFamily="34" charset="-122"/>
                <a:cs typeface="Cambria" pitchFamily="34" charset="-120"/>
              </a:rPr>
              <a:t>Future directions</a:t>
            </a:r>
            <a:endParaRPr lang="en-US" sz="1700" dirty="0"/>
          </a:p>
        </p:txBody>
      </p:sp>
      <p:sp>
        <p:nvSpPr>
          <p:cNvPr id="11" name="Text 8"/>
          <p:cNvSpPr txBox="1"/>
          <p:nvPr/>
        </p:nvSpPr>
        <p:spPr>
          <a:xfrm>
            <a:off x="4892040" y="169164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More complex environments and task types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Many more UEs to test scalability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Cloud-edge-device collaboration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Task dependencies and partial offloading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640080" y="1463040"/>
            <a:ext cx="7863840" cy="2103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Fixed offloading rules break when the network and server load change.</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A distributed Actor-Critic agent per device learns to choose local, MEC or cloud from six observed values.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It achieves the best QoE and battery use among the compared methods in the simulated failure scenarios.</a:t>
            </a:r>
            <a:endParaRPr lang="en-US" sz="1800" dirty="0"/>
          </a:p>
        </p:txBody>
      </p:sp>
      <p:sp>
        <p:nvSpPr>
          <p:cNvPr id="4" name="Text 2"/>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Thank you.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DRL Task Offloading in the 5G Edge-Cloud Continuum</dc:title>
  <dc:subject>PptxGenJS Presentation</dc:subject>
  <dc:creator>Syahril Fahmi</dc:creator>
  <cp:lastModifiedBy>Syahril Fahmi</cp:lastModifiedBy>
  <cp:revision>1</cp:revision>
  <dcterms:created xsi:type="dcterms:W3CDTF">2026-09-20T07:10:50Z</dcterms:created>
  <dcterms:modified xsi:type="dcterms:W3CDTF">2026-09-20T07:10:50Z</dcterms:modified>
</cp:coreProperties>
</file>