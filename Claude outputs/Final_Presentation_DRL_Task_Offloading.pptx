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charts/chart1.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charts/chart2.xml" ContentType="application/vnd.openxmlformats-officedocument.drawingml.chart+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4213D"/>
                </a:solidFill>
                <a:latin typeface="Calibri"/>
              </a:defRPr>
            </a:pPr>
            <a:r>
              <a:rPr sz="1300" b="0" i="0" u="none" strike="noStrike">
                <a:solidFill>
                  <a:srgbClr val="14213D"/>
                </a:solidFill>
                <a:latin typeface="Calibri"/>
              </a:rPr>
              <a:t>Maximum data size per task (KB)</a:t>
            </a:r>
          </a:p>
        </c:rich>
      </c:tx>
      <c:layout/>
      <c:overlay val="0"/>
    </c:title>
    <c:autoTitleDeleted val="0"/>
    <c:plotArea>
      <c:layout/>
      <c:barChart>
        <c:barDir val="col"/>
        <c:grouping val="clustered"/>
        <c:varyColors val="0"/>
        <c:ser>
          <c:idx val="0"/>
          <c:order val="0"/>
          <c:tx>
            <c:strRef>
              <c:f>Sheet1!$B$1</c:f>
              <c:strCache>
                <c:ptCount val="1"/>
                <c:pt idx="0">
                  <c:v>Max data size (KB)</c:v>
                </c:pt>
              </c:strCache>
            </c:strRef>
          </c:tx>
          <c:spPr>
            <a:solidFill>
              <a:srgbClr val="0E7C86"/>
            </a:solidFill>
            <a:effectLst/>
          </c:spPr>
          <c:invertIfNegative val="0"/>
          <c:dLbls>
            <c:numFmt formatCode="#,##0" sourceLinked="0"/>
            <c:txPr>
              <a:bodyPr/>
              <a:lstStyle/>
              <a:p>
                <a:pPr>
                  <a:defRPr b="0" i="0" strike="noStrike" sz="1100" u="none">
                    <a:solidFill>
                      <a:srgbClr val="1F2937"/>
                    </a:solidFill>
                    <a:latin typeface="Arial"/>
                  </a:defRPr>
                </a:pPr>
              </a:p>
            </c:txPr>
            <c:showLegendKey val="0"/>
            <c:showVal val="1"/>
            <c:showCatName val="0"/>
            <c:showSerName val="0"/>
            <c:showPercent val="0"/>
            <c:showBubbleSize val="0"/>
            <c:showLeaderLines val="0"/>
          </c:dLbls>
          <c:cat>
            <c:multiLvlStrRef>
              <c:f>Sheet1!$A$2:$A$4</c:f>
              <c:multiLvlStrCache>
                <c:ptCount val="3"/>
                <c:lvl>
                  <c:pt idx="0">
                    <c:v>Class 1</c:v>
                  </c:pt>
                  <c:pt idx="1">
                    <c:v>Class 2</c:v>
                  </c:pt>
                  <c:pt idx="2">
                    <c:v>Class 3</c:v>
                  </c:pt>
                </c:lvl>
              </c:multiLvlStrCache>
            </c:multiLvlStrRef>
          </c:cat>
          <c:val>
            <c:numRef>
              <c:f>Sheet1!$B$2:$B$4</c:f>
              <c:numCache>
                <c:formatCode>General</c:formatCode>
                <c:ptCount val="3"/>
                <c:pt idx="0">
                  <c:v>100</c:v>
                </c:pt>
                <c:pt idx="1">
                  <c:v>500</c:v>
                </c:pt>
                <c:pt idx="2">
                  <c:v>2000</c:v>
                </c:pt>
              </c:numCache>
            </c:numRef>
          </c:val>
        </c:ser>
        <c:dLbls>
          <c:numFmt formatCode="#,##0" sourceLinked="0"/>
          <c:txPr>
            <a:bodyPr/>
            <a:lstStyle/>
            <a:p>
              <a:pPr>
                <a:defRPr b="0" i="0" strike="noStrike" sz="1100" u="none">
                  <a:solidFill>
                    <a:srgbClr val="1F2937"/>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1F2937"/>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5E7EB"/>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B728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4213D"/>
                </a:solidFill>
                <a:latin typeface="Calibri"/>
              </a:defRPr>
            </a:pPr>
            <a:r>
              <a:rPr sz="1300" b="0" i="0" u="none" strike="noStrike">
                <a:solidFill>
                  <a:srgbClr val="14213D"/>
                </a:solidFill>
                <a:latin typeface="Calibri"/>
              </a:rPr>
              <a:t>Compute capacity (GHz)</a:t>
            </a:r>
          </a:p>
        </c:rich>
      </c:tx>
      <c:layout/>
      <c:overlay val="0"/>
    </c:title>
    <c:autoTitleDeleted val="0"/>
    <c:plotArea>
      <c:layout/>
      <c:barChart>
        <c:barDir val="col"/>
        <c:grouping val="clustered"/>
        <c:varyColors val="0"/>
        <c:ser>
          <c:idx val="0"/>
          <c:order val="0"/>
          <c:tx>
            <c:strRef>
              <c:f>Sheet1!$B$1</c:f>
              <c:strCache>
                <c:ptCount val="1"/>
                <c:pt idx="0">
                  <c:v>Compute (GHz)</c:v>
                </c:pt>
              </c:strCache>
            </c:strRef>
          </c:tx>
          <c:spPr>
            <a:solidFill>
              <a:srgbClr val="14213D"/>
            </a:solidFill>
            <a:effectLst/>
          </c:spPr>
          <c:invertIfNegative val="0"/>
          <c:dLbls>
            <c:numFmt formatCode="0.0" sourceLinked="0"/>
            <c:txPr>
              <a:bodyPr/>
              <a:lstStyle/>
              <a:p>
                <a:pPr>
                  <a:defRPr b="0" i="0" strike="noStrike" sz="1100" u="none">
                    <a:solidFill>
                      <a:srgbClr val="1F2937"/>
                    </a:solidFill>
                    <a:latin typeface="Arial"/>
                  </a:defRPr>
                </a:pPr>
              </a:p>
            </c:txPr>
            <c:showLegendKey val="0"/>
            <c:showVal val="1"/>
            <c:showCatName val="0"/>
            <c:showSerName val="0"/>
            <c:showPercent val="0"/>
            <c:showBubbleSize val="0"/>
            <c:showLeaderLines val="0"/>
          </c:dLbls>
          <c:cat>
            <c:multiLvlStrRef>
              <c:f>Sheet1!$A$2:$A$4</c:f>
              <c:multiLvlStrCache>
                <c:ptCount val="3"/>
                <c:lvl>
                  <c:pt idx="0">
                    <c:v>UE</c:v>
                  </c:pt>
                  <c:pt idx="1">
                    <c:v>MEC</c:v>
                  </c:pt>
                  <c:pt idx="2">
                    <c:v>Cloud</c:v>
                  </c:pt>
                </c:lvl>
              </c:multiLvlStrCache>
            </c:multiLvlStrRef>
          </c:cat>
          <c:val>
            <c:numRef>
              <c:f>Sheet1!$B$2:$B$4</c:f>
              <c:numCache>
                <c:formatCode>General</c:formatCode>
                <c:ptCount val="3"/>
                <c:pt idx="0">
                  <c:v>1.5</c:v>
                </c:pt>
                <c:pt idx="1">
                  <c:v>10</c:v>
                </c:pt>
                <c:pt idx="2">
                  <c:v>50</c:v>
                </c:pt>
              </c:numCache>
            </c:numRef>
          </c:val>
        </c:ser>
        <c:dLbls>
          <c:numFmt formatCode="0.0" sourceLinked="0"/>
          <c:txPr>
            <a:bodyPr/>
            <a:lstStyle/>
            <a:p>
              <a:pPr>
                <a:defRPr b="0" i="0" strike="noStrike" sz="1100" u="none">
                  <a:solidFill>
                    <a:srgbClr val="1F2937"/>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1F2937"/>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5E7EB"/>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B728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yourself and the paper. One sentence: this paper teaches each IoT device to decide, on its own, whether to run a task locally, at the 5G edge server (MEC), or in the cloud, using deep reinforcement learning.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overview of the talk. About 15-20 minutes: motivation, method, results, critique.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the citation. Journal of Cloud Computing is a Springer open-access journal; the paper was published online 3 May 2024, so it is within the last three years.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IoT devices have limited CPU and battery. Cloud has huge capacity but is far away. MEC is close but small. The best choice changes over time, so a fixed rule fails.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authors argue that heuristics do not adapt, centralized ML creates overhead and privacy issues, and many ML papers ignore the cloud or multiple task classes. Their claim is that theirs is the only distributed ML approach with several task classes.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four contributions. Emphasize the second and third as the technical core.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the three options for each task. Devices connect wirelessly to a base station that hosts the MEC server; the cloud is reached through the base station over optical fiber. The UE to MEC distance is treated as the UE to BS distance.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task has data size D, required CPU cycles phi, and a deadline. Class 1 is delay sensitive (sensors), Class 2 is energy sensitive (AR), Class 3 is insensitive (smart-grid analytics). The chart shows the maximum data size per class from Table 3 of the paper.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the structure rather than reading formulas. Local latency is cycles over CPU speed. Offloading adds wireless transmission using Shannon capacity plus remote processing; the cloud path adds fiber transmission and propagation. Local energy grows with the square of CPU frequency. Offloading energy is only the transmission energy, which is why MEC and cloud cost the same battery.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device is an independent, non-cooperative agent. State has six elements; action has three choices; reward is negative energy as a fraction of the battery if the deadline is met, and a fixed penalty of minus 100 if it is missed.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separate networks: the actor outputs a probability for each of the three actions using softmax; the critic estimates state value and gives a temporal-difference signal to train the actor. The authors compare separated networks against shared hidden layers.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Simulation built in Python with TensorFlow and Gymnasium. Key parameters are in the list. The chart shows how much compute each tier has, which explains why cloud is not always best: distance and deadline matter.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stress tests. In scenario 1 the MEC goes offline for two periods. In scenario 2 the wireless link fails between steps 500 and 1000. Baselines are three fixed policies and three dynamic ones.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paper reports these mostly as QoE and battery curves, so I summarize the qualitative outcome per workload. The key point: the fixed policies each win in one situation and fail in another, while the proposed agent adapts.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Scenario 2 is qualitative in the paper: the agents change strategy when the link fails. Summarize the four takeaways.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Strengths and limitations. Be clear these are my own assessments plus the limitations the authors acknowledge. Notably, results are simulation-only and reported mostly as curves.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Connect back to the course: 5G radio links and channel models are mobile communications; MEC and cloud servers are cloud computing. The paper sits exactly at their intersection.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Summarize in three sentences and invite questions. Possible questions: why Actor-Critic instead of DQN? (the paper found AC learned faster than DDDQN here); why does cloud cost the same battery as MEC? (fiber adds no UE energy); what if there are many UEs? (not tested, listed as future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213D"/>
        </a:solidFill>
      </p:bgPr>
    </p:bg>
    <p:spTree>
      <p:nvGrpSpPr>
        <p:cNvPr id="1" name=""/>
        <p:cNvGrpSpPr/>
        <p:nvPr/>
      </p:nvGrpSpPr>
      <p:grpSpPr>
        <a:xfrm>
          <a:off x="0" y="0"/>
          <a:ext cx="0" cy="0"/>
          <a:chOff x="0" y="0"/>
          <a:chExt cx="0" cy="0"/>
        </a:xfrm>
      </p:grpSpPr>
      <p:sp>
        <p:nvSpPr>
          <p:cNvPr id="2" name="Text 0"/>
          <p:cNvSpPr txBox="1"/>
          <p:nvPr/>
        </p:nvSpPr>
        <p:spPr>
          <a:xfrm>
            <a:off x="640080" y="914400"/>
            <a:ext cx="7863840" cy="1554480"/>
          </a:xfrm>
          <a:prstGeom prst="rect">
            <a:avLst/>
          </a:prstGeom>
          <a:noFill/>
          <a:ln/>
        </p:spPr>
        <p:txBody>
          <a:bodyPr wrap="square" lIns="0" tIns="0" rIns="0" bIns="0" rtlCol="0" anchor="t"/>
          <a:lstStyle/>
          <a:p>
            <a:pPr indent="0" marL="0">
              <a:buNone/>
            </a:pPr>
            <a:r>
              <a:rPr lang="en-US" sz="3200" b="1" dirty="0">
                <a:solidFill>
                  <a:srgbClr val="FFFFFF"/>
                </a:solidFill>
                <a:latin typeface="Cambria" pitchFamily="34" charset="0"/>
                <a:ea typeface="Cambria" pitchFamily="34" charset="-122"/>
                <a:cs typeface="Cambria" pitchFamily="34" charset="-120"/>
              </a:rPr>
              <a:t>Deep Reinforcement Learning for Dynamic Task Offloading in the 5G Edge-Cloud Continuum</a:t>
            </a:r>
            <a:endParaRPr lang="en-US" sz="3200" dirty="0"/>
          </a:p>
        </p:txBody>
      </p:sp>
      <p:sp>
        <p:nvSpPr>
          <p:cNvPr id="3" name="Text 1"/>
          <p:cNvSpPr txBox="1"/>
          <p:nvPr/>
        </p:nvSpPr>
        <p:spPr>
          <a:xfrm>
            <a:off x="640080" y="2651760"/>
            <a:ext cx="7863840" cy="365760"/>
          </a:xfrm>
          <a:prstGeom prst="rect">
            <a:avLst/>
          </a:prstGeom>
          <a:noFill/>
          <a:ln/>
        </p:spPr>
        <p:txBody>
          <a:bodyPr wrap="square" lIns="0" tIns="0" rIns="0" bIns="0" rtlCol="0" anchor="ctr"/>
          <a:lstStyle/>
          <a:p>
            <a:pPr indent="0" marL="0">
              <a:buNone/>
            </a:pPr>
            <a:r>
              <a:rPr lang="en-US" sz="1600" dirty="0">
                <a:solidFill>
                  <a:srgbClr val="BFE3E6"/>
                </a:solidFill>
                <a:latin typeface="Calibri" pitchFamily="34" charset="0"/>
                <a:ea typeface="Calibri" pitchFamily="34" charset="-122"/>
                <a:cs typeface="Calibri" pitchFamily="34" charset="-120"/>
              </a:rPr>
              <a:t>Final term paper presentation  |  Mobile Communications and Cloud Computing</a:t>
            </a:r>
            <a:endParaRPr lang="en-US" sz="1600" dirty="0"/>
          </a:p>
        </p:txBody>
      </p:sp>
      <p:sp>
        <p:nvSpPr>
          <p:cNvPr id="4" name="Text 2"/>
          <p:cNvSpPr txBox="1"/>
          <p:nvPr/>
        </p:nvSpPr>
        <p:spPr>
          <a:xfrm>
            <a:off x="640080" y="3383280"/>
            <a:ext cx="5486400" cy="914400"/>
          </a:xfrm>
          <a:prstGeom prst="rect">
            <a:avLst/>
          </a:prstGeom>
          <a:noFill/>
          <a:ln/>
        </p:spPr>
        <p:txBody>
          <a:bodyPr wrap="square" lIns="0" tIns="0" rIns="0" bIns="0" rtlCol="0" anchor="ctr"/>
          <a:lstStyle/>
          <a:p>
            <a:pPr indent="0" marL="0">
              <a:spcAft>
                <a:spcPts val="400"/>
              </a:spcAft>
              <a:buNone/>
            </a:pPr>
            <a:r>
              <a:rPr lang="en-US" sz="1400" dirty="0">
                <a:solidFill>
                  <a:srgbClr val="FFFFFF"/>
                </a:solidFill>
                <a:latin typeface="Calibri" pitchFamily="34" charset="0"/>
                <a:ea typeface="Calibri" pitchFamily="34" charset="-122"/>
                <a:cs typeface="Calibri" pitchFamily="34" charset="-120"/>
              </a:rPr>
              <a:t>Presented by: Syahril Fahmi</a:t>
            </a:r>
            <a:endParaRPr lang="en-US" sz="1400" dirty="0"/>
          </a:p>
          <a:p>
            <a:pPr indent="0" marL="0">
              <a:spcAft>
                <a:spcPts val="400"/>
              </a:spcAft>
              <a:buNone/>
            </a:pPr>
            <a:r>
              <a:rPr lang="en-US" sz="1400" dirty="0">
                <a:solidFill>
                  <a:srgbClr val="FFFFFF"/>
                </a:solidFill>
                <a:latin typeface="Calibri" pitchFamily="34" charset="0"/>
                <a:ea typeface="Calibri" pitchFamily="34" charset="-122"/>
                <a:cs typeface="Calibri" pitchFamily="34" charset="-120"/>
              </a:rPr>
              <a:t>Southern Taiwan University of Science and Technology</a:t>
            </a:r>
            <a:endParaRPr lang="en-US" sz="1400" dirty="0"/>
          </a:p>
          <a:p>
            <a:pPr indent="0" marL="0">
              <a:spcAft>
                <a:spcPts val="400"/>
              </a:spcAft>
              <a:buNone/>
            </a:pPr>
            <a:r>
              <a:rPr lang="en-US" sz="1400" dirty="0">
                <a:solidFill>
                  <a:srgbClr val="FFFFFF"/>
                </a:solidFill>
                <a:latin typeface="Calibri" pitchFamily="34" charset="0"/>
                <a:ea typeface="Calibri" pitchFamily="34" charset="-122"/>
                <a:cs typeface="Calibri" pitchFamily="34" charset="-120"/>
              </a:rPr>
              <a:t>Instructor: Dr. Showkat Ahmad Bhat</a:t>
            </a:r>
            <a:endParaRPr lang="en-US" sz="1400" dirty="0"/>
          </a:p>
        </p:txBody>
      </p:sp>
      <p:sp>
        <p:nvSpPr>
          <p:cNvPr id="5" name="Shape 3"/>
          <p:cNvSpPr/>
          <p:nvPr/>
        </p:nvSpPr>
        <p:spPr>
          <a:xfrm>
            <a:off x="6949440" y="3200400"/>
            <a:ext cx="1463040" cy="1463040"/>
          </a:xfrm>
          <a:prstGeom prst="ellipse">
            <a:avLst/>
          </a:prstGeom>
          <a:solidFill>
            <a:srgbClr val="0E7C86"/>
          </a:solidFill>
          <a:ln w="12700">
            <a:solidFill>
              <a:srgbClr val="0E7C86"/>
            </a:solidFill>
            <a:prstDash val="solid"/>
          </a:ln>
        </p:spPr>
      </p:sp>
      <p:sp>
        <p:nvSpPr>
          <p:cNvPr id="6" name="Text 4"/>
          <p:cNvSpPr txBox="1"/>
          <p:nvPr/>
        </p:nvSpPr>
        <p:spPr>
          <a:xfrm>
            <a:off x="6949440" y="3200400"/>
            <a:ext cx="1463040" cy="146304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5G</a:t>
            </a:r>
            <a:endParaRPr lang="en-US" sz="1600" dirty="0"/>
          </a:p>
          <a:p>
            <a:pPr algn="ctr" indent="0" marL="0">
              <a:buNone/>
            </a:pPr>
            <a:r>
              <a:rPr lang="en-US" sz="1600" b="1" dirty="0">
                <a:solidFill>
                  <a:srgbClr val="FFFFFF"/>
                </a:solidFill>
                <a:latin typeface="Cambria" pitchFamily="34" charset="0"/>
                <a:ea typeface="Cambria" pitchFamily="34" charset="-122"/>
                <a:cs typeface="Cambria" pitchFamily="34" charset="-120"/>
              </a:rPr>
              <a:t>MEC</a:t>
            </a:r>
            <a:endParaRPr lang="en-US" sz="1600" dirty="0"/>
          </a:p>
          <a:p>
            <a:pPr algn="ctr" indent="0" marL="0">
              <a:buNone/>
            </a:pPr>
            <a:r>
              <a:rPr lang="en-US" sz="1600" b="1" dirty="0">
                <a:solidFill>
                  <a:srgbClr val="FFFFFF"/>
                </a:solidFill>
                <a:latin typeface="Cambria" pitchFamily="34" charset="0"/>
                <a:ea typeface="Cambria" pitchFamily="34" charset="-122"/>
                <a:cs typeface="Cambria" pitchFamily="34" charset="-120"/>
              </a:rPr>
              <a:t>Cloud</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640080"/>
          </a:xfrm>
          <a:prstGeom prst="rect">
            <a:avLst/>
          </a:prstGeom>
          <a:noFill/>
          <a:ln/>
        </p:spPr>
        <p:txBody>
          <a:bodyPr wrap="square" lIns="0" tIns="0" rIns="0" bIns="0" rtlCol="0" anchor="ctr"/>
          <a:lstStyle/>
          <a:p>
            <a:pPr indent="0" marL="0">
              <a:buNone/>
            </a:pPr>
            <a:r>
              <a:rPr lang="en-US" sz="2800" b="1" dirty="0">
                <a:solidFill>
                  <a:srgbClr val="14213D"/>
                </a:solidFill>
                <a:latin typeface="Cambria" pitchFamily="34" charset="0"/>
                <a:ea typeface="Cambria" pitchFamily="34" charset="-122"/>
                <a:cs typeface="Cambria" pitchFamily="34" charset="-120"/>
              </a:rPr>
              <a:t>Roadmap</a:t>
            </a:r>
            <a:endParaRPr lang="en-US" sz="2800" dirty="0"/>
          </a:p>
        </p:txBody>
      </p:sp>
      <p:sp>
        <p:nvSpPr>
          <p:cNvPr id="3" name="Text 1"/>
          <p:cNvSpPr txBox="1"/>
          <p:nvPr/>
        </p:nvSpPr>
        <p:spPr>
          <a:xfrm>
            <a:off x="457200" y="4754880"/>
            <a:ext cx="5486400" cy="22860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Nieto et al., J. Cloud Computing 13, 94 (2024)</a:t>
            </a:r>
            <a:endParaRPr lang="en-US" sz="900" dirty="0"/>
          </a:p>
        </p:txBody>
      </p:sp>
      <p:sp>
        <p:nvSpPr>
          <p:cNvPr id="4" name="Text 2"/>
          <p:cNvSpPr txBox="1"/>
          <p:nvPr/>
        </p:nvSpPr>
        <p:spPr>
          <a:xfrm>
            <a:off x="8229600" y="4754880"/>
            <a:ext cx="457200" cy="22860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2</a:t>
            </a:r>
            <a:endParaRPr lang="en-US" sz="900" dirty="0"/>
          </a:p>
        </p:txBody>
      </p:sp>
      <p:sp>
        <p:nvSpPr>
          <p:cNvPr id="6" name="Shape 3"/>
          <p:cNvSpPr/>
          <p:nvPr/>
        </p:nvSpPr>
        <p:spPr>
          <a:xfrm>
            <a:off x="457200" y="1188720"/>
            <a:ext cx="3931920" cy="868680"/>
          </a:xfrm>
          <a:prstGeom prst="roundRect">
            <a:avLst>
              <a:gd name="adj" fmla="val 8421"/>
            </a:avLst>
          </a:prstGeom>
          <a:solidFill>
            <a:srgbClr val="EEF4F7"/>
          </a:solidFill>
          <a:ln w="12700">
            <a:solidFill>
              <a:srgbClr val="EEF4F7"/>
            </a:solidFill>
            <a:prstDash val="solid"/>
          </a:ln>
          <a:effectLst>
            <a:outerShdw sx="100000" sy="100000" kx="0" ky="0" algn="bl" rotWithShape="0" blurRad="101600" dist="25400" dir="5400000">
              <a:srgbClr val="000000">
                <a:alpha val="12000"/>
              </a:srgbClr>
            </a:outerShdw>
          </a:effectLst>
        </p:spPr>
      </p:sp>
      <p:sp>
        <p:nvSpPr>
          <p:cNvPr id="7" name="Shape 4"/>
          <p:cNvSpPr/>
          <p:nvPr/>
        </p:nvSpPr>
        <p:spPr>
          <a:xfrm>
            <a:off x="640080" y="1426464"/>
            <a:ext cx="384048" cy="384048"/>
          </a:xfrm>
          <a:prstGeom prst="ellipse">
            <a:avLst/>
          </a:prstGeom>
          <a:solidFill>
            <a:srgbClr val="0E7C86"/>
          </a:solidFill>
          <a:ln w="12700">
            <a:solidFill>
              <a:srgbClr val="0E7C86"/>
            </a:solidFill>
            <a:prstDash val="solid"/>
          </a:ln>
        </p:spPr>
      </p:sp>
      <p:sp>
        <p:nvSpPr>
          <p:cNvPr id="8" name="Text 5"/>
          <p:cNvSpPr txBox="1"/>
          <p:nvPr/>
        </p:nvSpPr>
        <p:spPr>
          <a:xfrm>
            <a:off x="640080" y="1426464"/>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9" name="Text 6"/>
          <p:cNvSpPr txBox="1"/>
          <p:nvPr/>
        </p:nvSpPr>
        <p:spPr>
          <a:xfrm>
            <a:off x="1188720" y="1280160"/>
            <a:ext cx="3108960" cy="685800"/>
          </a:xfrm>
          <a:prstGeom prst="rect">
            <a:avLst/>
          </a:prstGeom>
          <a:noFill/>
          <a:ln/>
        </p:spPr>
        <p:txBody>
          <a:bodyPr wrap="square" lIns="0" tIns="0" rIns="0" bIns="0" rtlCol="0" anchor="ctr"/>
          <a:lstStyle/>
          <a:p>
            <a:pPr indent="0" marL="0">
              <a:buNone/>
            </a:pPr>
            <a:r>
              <a:rPr lang="en-US" sz="1500" dirty="0">
                <a:solidFill>
                  <a:srgbClr val="1F2937"/>
                </a:solidFill>
                <a:latin typeface="Calibri" pitchFamily="34" charset="0"/>
                <a:ea typeface="Calibri" pitchFamily="34" charset="-122"/>
                <a:cs typeface="Calibri" pitchFamily="34" charset="-120"/>
              </a:rPr>
              <a:t>Paper overview and motivation</a:t>
            </a:r>
            <a:endParaRPr lang="en-US" sz="1500" dirty="0"/>
          </a:p>
        </p:txBody>
      </p:sp>
      <p:sp>
        <p:nvSpPr>
          <p:cNvPr id="10" name="Shape 7"/>
          <p:cNvSpPr/>
          <p:nvPr/>
        </p:nvSpPr>
        <p:spPr>
          <a:xfrm>
            <a:off x="4663440" y="1188720"/>
            <a:ext cx="3931920" cy="868680"/>
          </a:xfrm>
          <a:prstGeom prst="roundRect">
            <a:avLst>
              <a:gd name="adj" fmla="val 8421"/>
            </a:avLst>
          </a:prstGeom>
          <a:solidFill>
            <a:srgbClr val="EEF4F7"/>
          </a:solidFill>
          <a:ln w="12700">
            <a:solidFill>
              <a:srgbClr val="EEF4F7"/>
            </a:solidFill>
            <a:prstDash val="solid"/>
          </a:ln>
          <a:effectLst>
            <a:outerShdw sx="100000" sy="100000" kx="0" ky="0" algn="bl" rotWithShape="0" blurRad="101600" dist="25400" dir="5400000">
              <a:srgbClr val="000000">
                <a:alpha val="12000"/>
              </a:srgbClr>
            </a:outerShdw>
          </a:effectLst>
        </p:spPr>
      </p:sp>
      <p:sp>
        <p:nvSpPr>
          <p:cNvPr id="11" name="Shape 8"/>
          <p:cNvSpPr/>
          <p:nvPr/>
        </p:nvSpPr>
        <p:spPr>
          <a:xfrm>
            <a:off x="4846320" y="1426464"/>
            <a:ext cx="384048" cy="384048"/>
          </a:xfrm>
          <a:prstGeom prst="ellipse">
            <a:avLst/>
          </a:prstGeom>
          <a:solidFill>
            <a:srgbClr val="0E7C86"/>
          </a:solidFill>
          <a:ln w="12700">
            <a:solidFill>
              <a:srgbClr val="0E7C86"/>
            </a:solidFill>
            <a:prstDash val="solid"/>
          </a:ln>
        </p:spPr>
      </p:sp>
      <p:sp>
        <p:nvSpPr>
          <p:cNvPr id="12" name="Text 9"/>
          <p:cNvSpPr txBox="1"/>
          <p:nvPr/>
        </p:nvSpPr>
        <p:spPr>
          <a:xfrm>
            <a:off x="4846320" y="1426464"/>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3" name="Text 10"/>
          <p:cNvSpPr txBox="1"/>
          <p:nvPr/>
        </p:nvSpPr>
        <p:spPr>
          <a:xfrm>
            <a:off x="5394960" y="1280160"/>
            <a:ext cx="3108960" cy="685800"/>
          </a:xfrm>
          <a:prstGeom prst="rect">
            <a:avLst/>
          </a:prstGeom>
          <a:noFill/>
          <a:ln/>
        </p:spPr>
        <p:txBody>
          <a:bodyPr wrap="square" lIns="0" tIns="0" rIns="0" bIns="0" rtlCol="0" anchor="ctr"/>
          <a:lstStyle/>
          <a:p>
            <a:pPr indent="0" marL="0">
              <a:buNone/>
            </a:pPr>
            <a:r>
              <a:rPr lang="en-US" sz="1500" dirty="0">
                <a:solidFill>
                  <a:srgbClr val="1F2937"/>
                </a:solidFill>
                <a:latin typeface="Calibri" pitchFamily="34" charset="0"/>
                <a:ea typeface="Calibri" pitchFamily="34" charset="-122"/>
                <a:cs typeface="Calibri" pitchFamily="34" charset="-120"/>
              </a:rPr>
              <a:t>Problem and research gap</a:t>
            </a:r>
            <a:endParaRPr lang="en-US" sz="1500" dirty="0"/>
          </a:p>
        </p:txBody>
      </p:sp>
      <p:sp>
        <p:nvSpPr>
          <p:cNvPr id="14" name="Shape 11"/>
          <p:cNvSpPr/>
          <p:nvPr/>
        </p:nvSpPr>
        <p:spPr>
          <a:xfrm>
            <a:off x="457200" y="2286000"/>
            <a:ext cx="3931920" cy="868680"/>
          </a:xfrm>
          <a:prstGeom prst="roundRect">
            <a:avLst>
              <a:gd name="adj" fmla="val 8421"/>
            </a:avLst>
          </a:prstGeom>
          <a:solidFill>
            <a:srgbClr val="EEF4F7"/>
          </a:solidFill>
          <a:ln w="12700">
            <a:solidFill>
              <a:srgbClr val="EEF4F7"/>
            </a:solidFill>
            <a:prstDash val="solid"/>
          </a:ln>
          <a:effectLst>
            <a:outerShdw sx="100000" sy="100000" kx="0" ky="0" algn="bl" rotWithShape="0" blurRad="101600" dist="25400" dir="5400000">
              <a:srgbClr val="000000">
                <a:alpha val="12000"/>
              </a:srgbClr>
            </a:outerShdw>
          </a:effectLst>
        </p:spPr>
      </p:sp>
      <p:sp>
        <p:nvSpPr>
          <p:cNvPr id="15" name="Shape 12"/>
          <p:cNvSpPr/>
          <p:nvPr/>
        </p:nvSpPr>
        <p:spPr>
          <a:xfrm>
            <a:off x="640080" y="2523744"/>
            <a:ext cx="384048" cy="384048"/>
          </a:xfrm>
          <a:prstGeom prst="ellipse">
            <a:avLst/>
          </a:prstGeom>
          <a:solidFill>
            <a:srgbClr val="0E7C86"/>
          </a:solidFill>
          <a:ln w="12700">
            <a:solidFill>
              <a:srgbClr val="0E7C86"/>
            </a:solidFill>
            <a:prstDash val="solid"/>
          </a:ln>
        </p:spPr>
      </p:sp>
      <p:sp>
        <p:nvSpPr>
          <p:cNvPr id="16" name="Text 13"/>
          <p:cNvSpPr txBox="1"/>
          <p:nvPr/>
        </p:nvSpPr>
        <p:spPr>
          <a:xfrm>
            <a:off x="640080" y="2523744"/>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17" name="Text 14"/>
          <p:cNvSpPr txBox="1"/>
          <p:nvPr/>
        </p:nvSpPr>
        <p:spPr>
          <a:xfrm>
            <a:off x="1188720" y="2377440"/>
            <a:ext cx="3108960" cy="685800"/>
          </a:xfrm>
          <a:prstGeom prst="rect">
            <a:avLst/>
          </a:prstGeom>
          <a:noFill/>
          <a:ln/>
        </p:spPr>
        <p:txBody>
          <a:bodyPr wrap="square" lIns="0" tIns="0" rIns="0" bIns="0" rtlCol="0" anchor="ctr"/>
          <a:lstStyle/>
          <a:p>
            <a:pPr indent="0" marL="0">
              <a:buNone/>
            </a:pPr>
            <a:r>
              <a:rPr lang="en-US" sz="1500" dirty="0">
                <a:solidFill>
                  <a:srgbClr val="1F2937"/>
                </a:solidFill>
                <a:latin typeface="Calibri" pitchFamily="34" charset="0"/>
                <a:ea typeface="Calibri" pitchFamily="34" charset="-122"/>
                <a:cs typeface="Calibri" pitchFamily="34" charset="-120"/>
              </a:rPr>
              <a:t>System model: network, tasks, latency, energy</a:t>
            </a:r>
            <a:endParaRPr lang="en-US" sz="1500" dirty="0"/>
          </a:p>
        </p:txBody>
      </p:sp>
      <p:sp>
        <p:nvSpPr>
          <p:cNvPr id="18" name="Shape 15"/>
          <p:cNvSpPr/>
          <p:nvPr/>
        </p:nvSpPr>
        <p:spPr>
          <a:xfrm>
            <a:off x="4663440" y="2286000"/>
            <a:ext cx="3931920" cy="868680"/>
          </a:xfrm>
          <a:prstGeom prst="roundRect">
            <a:avLst>
              <a:gd name="adj" fmla="val 8421"/>
            </a:avLst>
          </a:prstGeom>
          <a:solidFill>
            <a:srgbClr val="EEF4F7"/>
          </a:solidFill>
          <a:ln w="12700">
            <a:solidFill>
              <a:srgbClr val="EEF4F7"/>
            </a:solidFill>
            <a:prstDash val="solid"/>
          </a:ln>
          <a:effectLst>
            <a:outerShdw sx="100000" sy="100000" kx="0" ky="0" algn="bl" rotWithShape="0" blurRad="101600" dist="25400" dir="5400000">
              <a:srgbClr val="000000">
                <a:alpha val="12000"/>
              </a:srgbClr>
            </a:outerShdw>
          </a:effectLst>
        </p:spPr>
      </p:sp>
      <p:sp>
        <p:nvSpPr>
          <p:cNvPr id="19" name="Shape 16"/>
          <p:cNvSpPr/>
          <p:nvPr/>
        </p:nvSpPr>
        <p:spPr>
          <a:xfrm>
            <a:off x="4846320" y="2523744"/>
            <a:ext cx="384048" cy="384048"/>
          </a:xfrm>
          <a:prstGeom prst="ellipse">
            <a:avLst/>
          </a:prstGeom>
          <a:solidFill>
            <a:srgbClr val="0E7C86"/>
          </a:solidFill>
          <a:ln w="12700">
            <a:solidFill>
              <a:srgbClr val="0E7C86"/>
            </a:solidFill>
            <a:prstDash val="solid"/>
          </a:ln>
        </p:spPr>
      </p:sp>
      <p:sp>
        <p:nvSpPr>
          <p:cNvPr id="20" name="Text 17"/>
          <p:cNvSpPr txBox="1"/>
          <p:nvPr/>
        </p:nvSpPr>
        <p:spPr>
          <a:xfrm>
            <a:off x="4846320" y="2523744"/>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4</a:t>
            </a:r>
            <a:endParaRPr lang="en-US" sz="1400" dirty="0"/>
          </a:p>
        </p:txBody>
      </p:sp>
      <p:sp>
        <p:nvSpPr>
          <p:cNvPr id="21" name="Text 18"/>
          <p:cNvSpPr txBox="1"/>
          <p:nvPr/>
        </p:nvSpPr>
        <p:spPr>
          <a:xfrm>
            <a:off x="5394960" y="2377440"/>
            <a:ext cx="3108960" cy="685800"/>
          </a:xfrm>
          <a:prstGeom prst="rect">
            <a:avLst/>
          </a:prstGeom>
          <a:noFill/>
          <a:ln/>
        </p:spPr>
        <p:txBody>
          <a:bodyPr wrap="square" lIns="0" tIns="0" rIns="0" bIns="0" rtlCol="0" anchor="ctr"/>
          <a:lstStyle/>
          <a:p>
            <a:pPr indent="0" marL="0">
              <a:buNone/>
            </a:pPr>
            <a:r>
              <a:rPr lang="en-US" sz="1500" dirty="0">
                <a:solidFill>
                  <a:srgbClr val="1F2937"/>
                </a:solidFill>
                <a:latin typeface="Calibri" pitchFamily="34" charset="0"/>
                <a:ea typeface="Calibri" pitchFamily="34" charset="-122"/>
                <a:cs typeface="Calibri" pitchFamily="34" charset="-120"/>
              </a:rPr>
              <a:t>DRL formulation and Actor-Critic algorithm</a:t>
            </a:r>
            <a:endParaRPr lang="en-US" sz="1500" dirty="0"/>
          </a:p>
        </p:txBody>
      </p:sp>
      <p:sp>
        <p:nvSpPr>
          <p:cNvPr id="22" name="Shape 19"/>
          <p:cNvSpPr/>
          <p:nvPr/>
        </p:nvSpPr>
        <p:spPr>
          <a:xfrm>
            <a:off x="457200" y="3383280"/>
            <a:ext cx="3931920" cy="868680"/>
          </a:xfrm>
          <a:prstGeom prst="roundRect">
            <a:avLst>
              <a:gd name="adj" fmla="val 8421"/>
            </a:avLst>
          </a:prstGeom>
          <a:solidFill>
            <a:srgbClr val="EEF4F7"/>
          </a:solidFill>
          <a:ln w="12700">
            <a:solidFill>
              <a:srgbClr val="EEF4F7"/>
            </a:solidFill>
            <a:prstDash val="solid"/>
          </a:ln>
          <a:effectLst>
            <a:outerShdw sx="100000" sy="100000" kx="0" ky="0" algn="bl" rotWithShape="0" blurRad="101600" dist="25400" dir="5400000">
              <a:srgbClr val="000000">
                <a:alpha val="12000"/>
              </a:srgbClr>
            </a:outerShdw>
          </a:effectLst>
        </p:spPr>
      </p:sp>
      <p:sp>
        <p:nvSpPr>
          <p:cNvPr id="23" name="Shape 20"/>
          <p:cNvSpPr/>
          <p:nvPr/>
        </p:nvSpPr>
        <p:spPr>
          <a:xfrm>
            <a:off x="640080" y="3621024"/>
            <a:ext cx="384048" cy="384048"/>
          </a:xfrm>
          <a:prstGeom prst="ellipse">
            <a:avLst/>
          </a:prstGeom>
          <a:solidFill>
            <a:srgbClr val="0E7C86"/>
          </a:solidFill>
          <a:ln w="12700">
            <a:solidFill>
              <a:srgbClr val="0E7C86"/>
            </a:solidFill>
            <a:prstDash val="solid"/>
          </a:ln>
        </p:spPr>
      </p:sp>
      <p:sp>
        <p:nvSpPr>
          <p:cNvPr id="24" name="Text 21"/>
          <p:cNvSpPr txBox="1"/>
          <p:nvPr/>
        </p:nvSpPr>
        <p:spPr>
          <a:xfrm>
            <a:off x="640080" y="3621024"/>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5</a:t>
            </a:r>
            <a:endParaRPr lang="en-US" sz="1400" dirty="0"/>
          </a:p>
        </p:txBody>
      </p:sp>
      <p:sp>
        <p:nvSpPr>
          <p:cNvPr id="25" name="Text 22"/>
          <p:cNvSpPr txBox="1"/>
          <p:nvPr/>
        </p:nvSpPr>
        <p:spPr>
          <a:xfrm>
            <a:off x="1188720" y="3474720"/>
            <a:ext cx="3108960" cy="685800"/>
          </a:xfrm>
          <a:prstGeom prst="rect">
            <a:avLst/>
          </a:prstGeom>
          <a:noFill/>
          <a:ln/>
        </p:spPr>
        <p:txBody>
          <a:bodyPr wrap="square" lIns="0" tIns="0" rIns="0" bIns="0" rtlCol="0" anchor="ctr"/>
          <a:lstStyle/>
          <a:p>
            <a:pPr indent="0" marL="0">
              <a:buNone/>
            </a:pPr>
            <a:r>
              <a:rPr lang="en-US" sz="1500" dirty="0">
                <a:solidFill>
                  <a:srgbClr val="1F2937"/>
                </a:solidFill>
                <a:latin typeface="Calibri" pitchFamily="34" charset="0"/>
                <a:ea typeface="Calibri" pitchFamily="34" charset="-122"/>
                <a:cs typeface="Calibri" pitchFamily="34" charset="-120"/>
              </a:rPr>
              <a:t>Experiments and results</a:t>
            </a:r>
            <a:endParaRPr lang="en-US" sz="1500" dirty="0"/>
          </a:p>
        </p:txBody>
      </p:sp>
      <p:sp>
        <p:nvSpPr>
          <p:cNvPr id="26" name="Shape 23"/>
          <p:cNvSpPr/>
          <p:nvPr/>
        </p:nvSpPr>
        <p:spPr>
          <a:xfrm>
            <a:off x="4663440" y="3383280"/>
            <a:ext cx="3931920" cy="868680"/>
          </a:xfrm>
          <a:prstGeom prst="roundRect">
            <a:avLst>
              <a:gd name="adj" fmla="val 8421"/>
            </a:avLst>
          </a:prstGeom>
          <a:solidFill>
            <a:srgbClr val="EEF4F7"/>
          </a:solidFill>
          <a:ln w="12700">
            <a:solidFill>
              <a:srgbClr val="EEF4F7"/>
            </a:solidFill>
            <a:prstDash val="solid"/>
          </a:ln>
          <a:effectLst>
            <a:outerShdw sx="100000" sy="100000" kx="0" ky="0" algn="bl" rotWithShape="0" blurRad="101600" dist="25400" dir="5400000">
              <a:srgbClr val="000000">
                <a:alpha val="12000"/>
              </a:srgbClr>
            </a:outerShdw>
          </a:effectLst>
        </p:spPr>
      </p:sp>
      <p:sp>
        <p:nvSpPr>
          <p:cNvPr id="27" name="Shape 24"/>
          <p:cNvSpPr/>
          <p:nvPr/>
        </p:nvSpPr>
        <p:spPr>
          <a:xfrm>
            <a:off x="4846320" y="3621024"/>
            <a:ext cx="384048" cy="384048"/>
          </a:xfrm>
          <a:prstGeom prst="ellipse">
            <a:avLst/>
          </a:prstGeom>
          <a:solidFill>
            <a:srgbClr val="0E7C86"/>
          </a:solidFill>
          <a:ln w="12700">
            <a:solidFill>
              <a:srgbClr val="0E7C86"/>
            </a:solidFill>
            <a:prstDash val="solid"/>
          </a:ln>
        </p:spPr>
      </p:sp>
      <p:sp>
        <p:nvSpPr>
          <p:cNvPr id="28" name="Text 25"/>
          <p:cNvSpPr txBox="1"/>
          <p:nvPr/>
        </p:nvSpPr>
        <p:spPr>
          <a:xfrm>
            <a:off x="4846320" y="3621024"/>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6</a:t>
            </a:r>
            <a:endParaRPr lang="en-US" sz="1400" dirty="0"/>
          </a:p>
        </p:txBody>
      </p:sp>
      <p:sp>
        <p:nvSpPr>
          <p:cNvPr id="29" name="Text 26"/>
          <p:cNvSpPr txBox="1"/>
          <p:nvPr/>
        </p:nvSpPr>
        <p:spPr>
          <a:xfrm>
            <a:off x="5394960" y="3474720"/>
            <a:ext cx="3108960" cy="685800"/>
          </a:xfrm>
          <a:prstGeom prst="rect">
            <a:avLst/>
          </a:prstGeom>
          <a:noFill/>
          <a:ln/>
        </p:spPr>
        <p:txBody>
          <a:bodyPr wrap="square" lIns="0" tIns="0" rIns="0" bIns="0" rtlCol="0" anchor="ctr"/>
          <a:lstStyle/>
          <a:p>
            <a:pPr indent="0" marL="0">
              <a:buNone/>
            </a:pPr>
            <a:r>
              <a:rPr lang="en-US" sz="1500" dirty="0">
                <a:solidFill>
                  <a:srgbClr val="1F2937"/>
                </a:solidFill>
                <a:latin typeface="Calibri" pitchFamily="34" charset="0"/>
                <a:ea typeface="Calibri" pitchFamily="34" charset="-122"/>
                <a:cs typeface="Calibri" pitchFamily="34" charset="-120"/>
              </a:rPr>
              <a:t>Critical analysis, course relevance, conclusion</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640080"/>
          </a:xfrm>
          <a:prstGeom prst="rect">
            <a:avLst/>
          </a:prstGeom>
          <a:noFill/>
          <a:ln/>
        </p:spPr>
        <p:txBody>
          <a:bodyPr wrap="square" lIns="0" tIns="0" rIns="0" bIns="0" rtlCol="0" anchor="ctr"/>
          <a:lstStyle/>
          <a:p>
            <a:pPr indent="0" marL="0">
              <a:buNone/>
            </a:pPr>
            <a:r>
              <a:rPr lang="en-US" sz="2800" b="1" dirty="0">
                <a:solidFill>
                  <a:srgbClr val="14213D"/>
                </a:solidFill>
                <a:latin typeface="Cambria" pitchFamily="34" charset="0"/>
                <a:ea typeface="Cambria" pitchFamily="34" charset="-122"/>
                <a:cs typeface="Cambria" pitchFamily="34" charset="-120"/>
              </a:rPr>
              <a:t>The paper at a glance</a:t>
            </a:r>
            <a:endParaRPr lang="en-US" sz="2800" dirty="0"/>
          </a:p>
        </p:txBody>
      </p:sp>
      <p:sp>
        <p:nvSpPr>
          <p:cNvPr id="3" name="Text 1"/>
          <p:cNvSpPr txBox="1"/>
          <p:nvPr/>
        </p:nvSpPr>
        <p:spPr>
          <a:xfrm>
            <a:off x="457200" y="4754880"/>
            <a:ext cx="5486400" cy="22860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Nieto et al., J. Cloud Computing 13, 94 (2024)</a:t>
            </a:r>
            <a:endParaRPr lang="en-US" sz="900" dirty="0"/>
          </a:p>
        </p:txBody>
      </p:sp>
      <p:sp>
        <p:nvSpPr>
          <p:cNvPr id="4" name="Text 2"/>
          <p:cNvSpPr txBox="1"/>
          <p:nvPr/>
        </p:nvSpPr>
        <p:spPr>
          <a:xfrm>
            <a:off x="8229600" y="4754880"/>
            <a:ext cx="457200" cy="22860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3</a:t>
            </a:r>
            <a:endParaRPr lang="en-US" sz="900" dirty="0"/>
          </a:p>
        </p:txBody>
      </p:sp>
      <p:sp>
        <p:nvSpPr>
          <p:cNvPr id="6" name="Shape 3"/>
          <p:cNvSpPr/>
          <p:nvPr/>
        </p:nvSpPr>
        <p:spPr>
          <a:xfrm>
            <a:off x="457200" y="1097280"/>
            <a:ext cx="5120640" cy="3383280"/>
          </a:xfrm>
          <a:prstGeom prst="roundRect">
            <a:avLst>
              <a:gd name="adj" fmla="val 2162"/>
            </a:avLst>
          </a:prstGeom>
          <a:solidFill>
            <a:srgbClr val="EEF4F7"/>
          </a:solidFill>
          <a:ln w="12700">
            <a:solidFill>
              <a:srgbClr val="EEF4F7"/>
            </a:solidFill>
            <a:prstDash val="solid"/>
          </a:ln>
          <a:effectLst>
            <a:outerShdw sx="100000" sy="100000" kx="0" ky="0" algn="bl" rotWithShape="0" blurRad="101600" dist="25400" dir="5400000">
              <a:srgbClr val="000000">
                <a:alpha val="12000"/>
              </a:srgbClr>
            </a:outerShdw>
          </a:effectLst>
        </p:spPr>
      </p:sp>
      <p:sp>
        <p:nvSpPr>
          <p:cNvPr id="7" name="Text 4"/>
          <p:cNvSpPr txBox="1"/>
          <p:nvPr/>
        </p:nvSpPr>
        <p:spPr>
          <a:xfrm>
            <a:off x="685800" y="1234440"/>
            <a:ext cx="1005840" cy="548640"/>
          </a:xfrm>
          <a:prstGeom prst="rect">
            <a:avLst/>
          </a:prstGeom>
          <a:noFill/>
          <a:ln/>
        </p:spPr>
        <p:txBody>
          <a:bodyPr wrap="square" lIns="0" tIns="0" rIns="0" bIns="0" rtlCol="0" anchor="t"/>
          <a:lstStyle/>
          <a:p>
            <a:pPr indent="0" marL="0">
              <a:buNone/>
            </a:pPr>
            <a:r>
              <a:rPr lang="en-US" sz="1300" b="1" dirty="0">
                <a:solidFill>
                  <a:srgbClr val="0E7C86"/>
                </a:solidFill>
                <a:latin typeface="Calibri" pitchFamily="34" charset="0"/>
                <a:ea typeface="Calibri" pitchFamily="34" charset="-122"/>
                <a:cs typeface="Calibri" pitchFamily="34" charset="-120"/>
              </a:rPr>
              <a:t>Title</a:t>
            </a:r>
            <a:endParaRPr lang="en-US" sz="1300" dirty="0"/>
          </a:p>
        </p:txBody>
      </p:sp>
      <p:sp>
        <p:nvSpPr>
          <p:cNvPr id="8" name="Text 5"/>
          <p:cNvSpPr txBox="1"/>
          <p:nvPr/>
        </p:nvSpPr>
        <p:spPr>
          <a:xfrm>
            <a:off x="1737360" y="1234440"/>
            <a:ext cx="3657600" cy="914400"/>
          </a:xfrm>
          <a:prstGeom prst="rect">
            <a:avLst/>
          </a:prstGeom>
          <a:noFill/>
          <a:ln/>
        </p:spPr>
        <p:txBody>
          <a:bodyPr wrap="square" lIns="0" tIns="0" rIns="0" bIns="0" rtlCol="0" anchor="t"/>
          <a:lstStyle/>
          <a:p>
            <a:pPr indent="0" marL="0">
              <a:buNone/>
            </a:pPr>
            <a:r>
              <a:rPr lang="en-US" sz="1300" dirty="0">
                <a:solidFill>
                  <a:srgbClr val="1F2937"/>
                </a:solidFill>
                <a:latin typeface="Calibri" pitchFamily="34" charset="0"/>
                <a:ea typeface="Calibri" pitchFamily="34" charset="-122"/>
                <a:cs typeface="Calibri" pitchFamily="34" charset="-120"/>
              </a:rPr>
              <a:t>Deep Reinforcement Learning techniques for dynamic task offloading in the 5G edge-cloud continuum</a:t>
            </a:r>
            <a:endParaRPr lang="en-US" sz="1300" dirty="0"/>
          </a:p>
        </p:txBody>
      </p:sp>
      <p:sp>
        <p:nvSpPr>
          <p:cNvPr id="9" name="Text 6"/>
          <p:cNvSpPr txBox="1"/>
          <p:nvPr/>
        </p:nvSpPr>
        <p:spPr>
          <a:xfrm>
            <a:off x="685800" y="2194560"/>
            <a:ext cx="1005840" cy="548640"/>
          </a:xfrm>
          <a:prstGeom prst="rect">
            <a:avLst/>
          </a:prstGeom>
          <a:noFill/>
          <a:ln/>
        </p:spPr>
        <p:txBody>
          <a:bodyPr wrap="square" lIns="0" tIns="0" rIns="0" bIns="0" rtlCol="0" anchor="t"/>
          <a:lstStyle/>
          <a:p>
            <a:pPr indent="0" marL="0">
              <a:buNone/>
            </a:pPr>
            <a:r>
              <a:rPr lang="en-US" sz="1300" b="1" dirty="0">
                <a:solidFill>
                  <a:srgbClr val="0E7C86"/>
                </a:solidFill>
                <a:latin typeface="Calibri" pitchFamily="34" charset="0"/>
                <a:ea typeface="Calibri" pitchFamily="34" charset="-122"/>
                <a:cs typeface="Calibri" pitchFamily="34" charset="-120"/>
              </a:rPr>
              <a:t>Authors</a:t>
            </a:r>
            <a:endParaRPr lang="en-US" sz="1300" dirty="0"/>
          </a:p>
        </p:txBody>
      </p:sp>
      <p:sp>
        <p:nvSpPr>
          <p:cNvPr id="10" name="Text 7"/>
          <p:cNvSpPr txBox="1"/>
          <p:nvPr/>
        </p:nvSpPr>
        <p:spPr>
          <a:xfrm>
            <a:off x="1737360" y="2194560"/>
            <a:ext cx="3657600" cy="548640"/>
          </a:xfrm>
          <a:prstGeom prst="rect">
            <a:avLst/>
          </a:prstGeom>
          <a:noFill/>
          <a:ln/>
        </p:spPr>
        <p:txBody>
          <a:bodyPr wrap="square" lIns="0" tIns="0" rIns="0" bIns="0" rtlCol="0" anchor="t"/>
          <a:lstStyle/>
          <a:p>
            <a:pPr indent="0" marL="0">
              <a:buNone/>
            </a:pPr>
            <a:r>
              <a:rPr lang="en-US" sz="1300" dirty="0">
                <a:solidFill>
                  <a:srgbClr val="1F2937"/>
                </a:solidFill>
                <a:latin typeface="Calibri" pitchFamily="34" charset="0"/>
                <a:ea typeface="Calibri" pitchFamily="34" charset="-122"/>
                <a:cs typeface="Calibri" pitchFamily="34" charset="-120"/>
              </a:rPr>
              <a:t>G. Nieto, I. de la Iglesia, U. Lopez-Novoa, C. Perfecto</a:t>
            </a:r>
            <a:endParaRPr lang="en-US" sz="1300" dirty="0"/>
          </a:p>
        </p:txBody>
      </p:sp>
      <p:sp>
        <p:nvSpPr>
          <p:cNvPr id="11" name="Text 8"/>
          <p:cNvSpPr txBox="1"/>
          <p:nvPr/>
        </p:nvSpPr>
        <p:spPr>
          <a:xfrm>
            <a:off x="685800" y="2788920"/>
            <a:ext cx="1005840" cy="548640"/>
          </a:xfrm>
          <a:prstGeom prst="rect">
            <a:avLst/>
          </a:prstGeom>
          <a:noFill/>
          <a:ln/>
        </p:spPr>
        <p:txBody>
          <a:bodyPr wrap="square" lIns="0" tIns="0" rIns="0" bIns="0" rtlCol="0" anchor="t"/>
          <a:lstStyle/>
          <a:p>
            <a:pPr indent="0" marL="0">
              <a:buNone/>
            </a:pPr>
            <a:r>
              <a:rPr lang="en-US" sz="1300" b="1" dirty="0">
                <a:solidFill>
                  <a:srgbClr val="0E7C86"/>
                </a:solidFill>
                <a:latin typeface="Calibri" pitchFamily="34" charset="0"/>
                <a:ea typeface="Calibri" pitchFamily="34" charset="-122"/>
                <a:cs typeface="Calibri" pitchFamily="34" charset="-120"/>
              </a:rPr>
              <a:t>Journal</a:t>
            </a:r>
            <a:endParaRPr lang="en-US" sz="1300" dirty="0"/>
          </a:p>
        </p:txBody>
      </p:sp>
      <p:sp>
        <p:nvSpPr>
          <p:cNvPr id="12" name="Text 9"/>
          <p:cNvSpPr txBox="1"/>
          <p:nvPr/>
        </p:nvSpPr>
        <p:spPr>
          <a:xfrm>
            <a:off x="1737360" y="2788920"/>
            <a:ext cx="3657600" cy="548640"/>
          </a:xfrm>
          <a:prstGeom prst="rect">
            <a:avLst/>
          </a:prstGeom>
          <a:noFill/>
          <a:ln/>
        </p:spPr>
        <p:txBody>
          <a:bodyPr wrap="square" lIns="0" tIns="0" rIns="0" bIns="0" rtlCol="0" anchor="t"/>
          <a:lstStyle/>
          <a:p>
            <a:pPr indent="0" marL="0">
              <a:buNone/>
            </a:pPr>
            <a:r>
              <a:rPr lang="en-US" sz="1300" dirty="0">
                <a:solidFill>
                  <a:srgbClr val="1F2937"/>
                </a:solidFill>
                <a:latin typeface="Calibri" pitchFamily="34" charset="0"/>
                <a:ea typeface="Calibri" pitchFamily="34" charset="-122"/>
                <a:cs typeface="Calibri" pitchFamily="34" charset="-120"/>
              </a:rPr>
              <a:t>Journal of Cloud Computing (Springer), vol. 13, art. 94</a:t>
            </a:r>
            <a:endParaRPr lang="en-US" sz="1300" dirty="0"/>
          </a:p>
        </p:txBody>
      </p:sp>
      <p:sp>
        <p:nvSpPr>
          <p:cNvPr id="13" name="Text 10"/>
          <p:cNvSpPr txBox="1"/>
          <p:nvPr/>
        </p:nvSpPr>
        <p:spPr>
          <a:xfrm>
            <a:off x="685800" y="3383280"/>
            <a:ext cx="1005840" cy="548640"/>
          </a:xfrm>
          <a:prstGeom prst="rect">
            <a:avLst/>
          </a:prstGeom>
          <a:noFill/>
          <a:ln/>
        </p:spPr>
        <p:txBody>
          <a:bodyPr wrap="square" lIns="0" tIns="0" rIns="0" bIns="0" rtlCol="0" anchor="t"/>
          <a:lstStyle/>
          <a:p>
            <a:pPr indent="0" marL="0">
              <a:buNone/>
            </a:pPr>
            <a:r>
              <a:rPr lang="en-US" sz="1300" b="1" dirty="0">
                <a:solidFill>
                  <a:srgbClr val="0E7C86"/>
                </a:solidFill>
                <a:latin typeface="Calibri" pitchFamily="34" charset="0"/>
                <a:ea typeface="Calibri" pitchFamily="34" charset="-122"/>
                <a:cs typeface="Calibri" pitchFamily="34" charset="-120"/>
              </a:rPr>
              <a:t>Published</a:t>
            </a:r>
            <a:endParaRPr lang="en-US" sz="1300" dirty="0"/>
          </a:p>
        </p:txBody>
      </p:sp>
      <p:sp>
        <p:nvSpPr>
          <p:cNvPr id="14" name="Text 11"/>
          <p:cNvSpPr txBox="1"/>
          <p:nvPr/>
        </p:nvSpPr>
        <p:spPr>
          <a:xfrm>
            <a:off x="1737360" y="3383280"/>
            <a:ext cx="3657600" cy="548640"/>
          </a:xfrm>
          <a:prstGeom prst="rect">
            <a:avLst/>
          </a:prstGeom>
          <a:noFill/>
          <a:ln/>
        </p:spPr>
        <p:txBody>
          <a:bodyPr wrap="square" lIns="0" tIns="0" rIns="0" bIns="0" rtlCol="0" anchor="t"/>
          <a:lstStyle/>
          <a:p>
            <a:pPr indent="0" marL="0">
              <a:buNone/>
            </a:pPr>
            <a:r>
              <a:rPr lang="en-US" sz="1300" dirty="0">
                <a:solidFill>
                  <a:srgbClr val="1F2937"/>
                </a:solidFill>
                <a:latin typeface="Calibri" pitchFamily="34" charset="0"/>
                <a:ea typeface="Calibri" pitchFamily="34" charset="-122"/>
                <a:cs typeface="Calibri" pitchFamily="34" charset="-120"/>
              </a:rPr>
              <a:t>3 May 2024</a:t>
            </a:r>
            <a:endParaRPr lang="en-US" sz="1300" dirty="0"/>
          </a:p>
        </p:txBody>
      </p:sp>
      <p:sp>
        <p:nvSpPr>
          <p:cNvPr id="15" name="Text 12"/>
          <p:cNvSpPr txBox="1"/>
          <p:nvPr/>
        </p:nvSpPr>
        <p:spPr>
          <a:xfrm>
            <a:off x="685800" y="3977640"/>
            <a:ext cx="1005840" cy="548640"/>
          </a:xfrm>
          <a:prstGeom prst="rect">
            <a:avLst/>
          </a:prstGeom>
          <a:noFill/>
          <a:ln/>
        </p:spPr>
        <p:txBody>
          <a:bodyPr wrap="square" lIns="0" tIns="0" rIns="0" bIns="0" rtlCol="0" anchor="t"/>
          <a:lstStyle/>
          <a:p>
            <a:pPr indent="0" marL="0">
              <a:buNone/>
            </a:pPr>
            <a:r>
              <a:rPr lang="en-US" sz="1300" b="1" dirty="0">
                <a:solidFill>
                  <a:srgbClr val="0E7C86"/>
                </a:solidFill>
                <a:latin typeface="Calibri" pitchFamily="34" charset="0"/>
                <a:ea typeface="Calibri" pitchFamily="34" charset="-122"/>
                <a:cs typeface="Calibri" pitchFamily="34" charset="-120"/>
              </a:rPr>
              <a:t>DOI</a:t>
            </a:r>
            <a:endParaRPr lang="en-US" sz="1300" dirty="0"/>
          </a:p>
        </p:txBody>
      </p:sp>
      <p:sp>
        <p:nvSpPr>
          <p:cNvPr id="16" name="Text 13"/>
          <p:cNvSpPr txBox="1"/>
          <p:nvPr/>
        </p:nvSpPr>
        <p:spPr>
          <a:xfrm>
            <a:off x="1737360" y="3977640"/>
            <a:ext cx="3657600" cy="548640"/>
          </a:xfrm>
          <a:prstGeom prst="rect">
            <a:avLst/>
          </a:prstGeom>
          <a:noFill/>
          <a:ln/>
        </p:spPr>
        <p:txBody>
          <a:bodyPr wrap="square" lIns="0" tIns="0" rIns="0" bIns="0" rtlCol="0" anchor="t"/>
          <a:lstStyle/>
          <a:p>
            <a:pPr indent="0" marL="0">
              <a:buNone/>
            </a:pPr>
            <a:r>
              <a:rPr lang="en-US" sz="1300" dirty="0">
                <a:solidFill>
                  <a:srgbClr val="1F2937"/>
                </a:solidFill>
                <a:latin typeface="Calibri" pitchFamily="34" charset="0"/>
                <a:ea typeface="Calibri" pitchFamily="34" charset="-122"/>
                <a:cs typeface="Calibri" pitchFamily="34" charset="-120"/>
              </a:rPr>
              <a:t>10.1186/s13677-024-00658-0</a:t>
            </a:r>
            <a:endParaRPr lang="en-US" sz="1300" dirty="0"/>
          </a:p>
        </p:txBody>
      </p:sp>
      <p:sp>
        <p:nvSpPr>
          <p:cNvPr id="17" name="Shape 14"/>
          <p:cNvSpPr/>
          <p:nvPr/>
        </p:nvSpPr>
        <p:spPr>
          <a:xfrm>
            <a:off x="5852160" y="1097280"/>
            <a:ext cx="2834640" cy="3383280"/>
          </a:xfrm>
          <a:prstGeom prst="roundRect">
            <a:avLst>
              <a:gd name="adj" fmla="val 2581"/>
            </a:avLst>
          </a:prstGeom>
          <a:solidFill>
            <a:srgbClr val="14213D"/>
          </a:solidFill>
          <a:ln w="12700">
            <a:solidFill>
              <a:srgbClr val="14213D"/>
            </a:solidFill>
            <a:prstDash val="solid"/>
          </a:ln>
          <a:effectLst>
            <a:outerShdw sx="100000" sy="100000" kx="0" ky="0" algn="bl" rotWithShape="0" blurRad="101600" dist="25400" dir="5400000">
              <a:srgbClr val="000000">
                <a:alpha val="12000"/>
              </a:srgbClr>
            </a:outerShdw>
          </a:effectLst>
        </p:spPr>
      </p:sp>
      <p:sp>
        <p:nvSpPr>
          <p:cNvPr id="18" name="Text 15"/>
          <p:cNvSpPr txBox="1"/>
          <p:nvPr/>
        </p:nvSpPr>
        <p:spPr>
          <a:xfrm>
            <a:off x="6080760" y="1280160"/>
            <a:ext cx="2377440" cy="365760"/>
          </a:xfrm>
          <a:prstGeom prst="rect">
            <a:avLst/>
          </a:prstGeom>
          <a:noFill/>
          <a:ln/>
        </p:spPr>
        <p:txBody>
          <a:bodyPr wrap="square" lIns="0" tIns="0" rIns="0" bIns="0" rtlCol="0" anchor="ctr"/>
          <a:lstStyle/>
          <a:p>
            <a:pPr indent="0" marL="0">
              <a:buNone/>
            </a:pPr>
            <a:r>
              <a:rPr lang="en-US" sz="1600" b="1" dirty="0">
                <a:solidFill>
                  <a:srgbClr val="F2A541"/>
                </a:solidFill>
                <a:latin typeface="Cambria" pitchFamily="34" charset="0"/>
                <a:ea typeface="Cambria" pitchFamily="34" charset="-122"/>
                <a:cs typeface="Cambria" pitchFamily="34" charset="-120"/>
              </a:rPr>
              <a:t>In one sentence</a:t>
            </a:r>
            <a:endParaRPr lang="en-US" sz="1600" dirty="0"/>
          </a:p>
        </p:txBody>
      </p:sp>
      <p:sp>
        <p:nvSpPr>
          <p:cNvPr id="19" name="Text 16"/>
          <p:cNvSpPr txBox="1"/>
          <p:nvPr/>
        </p:nvSpPr>
        <p:spPr>
          <a:xfrm>
            <a:off x="6080760" y="1737360"/>
            <a:ext cx="2423160" cy="2560320"/>
          </a:xfrm>
          <a:prstGeom prst="rect">
            <a:avLst/>
          </a:prstGeom>
          <a:noFill/>
          <a:ln/>
        </p:spPr>
        <p:txBody>
          <a:bodyPr wrap="square" lIns="0" tIns="0" rIns="0" bIns="0" rtlCol="0" anchor="t"/>
          <a:lstStyle/>
          <a:p>
            <a:pPr indent="0" marL="0">
              <a:buNone/>
            </a:pPr>
            <a:r>
              <a:rPr lang="en-US" sz="1500" dirty="0">
                <a:solidFill>
                  <a:srgbClr val="FFFFFF"/>
                </a:solidFill>
                <a:latin typeface="Calibri" pitchFamily="34" charset="0"/>
                <a:ea typeface="Calibri" pitchFamily="34" charset="-122"/>
                <a:cs typeface="Calibri" pitchFamily="34" charset="-120"/>
              </a:rPr>
              <a:t>Each 5G device runs its own Actor-Critic agent that learns where to execute every task (local, MEC or cloud) to save battery while meeting the deadline.</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640080"/>
          </a:xfrm>
          <a:prstGeom prst="rect">
            <a:avLst/>
          </a:prstGeom>
          <a:noFill/>
          <a:ln/>
        </p:spPr>
        <p:txBody>
          <a:bodyPr wrap="square" lIns="0" tIns="0" rIns="0" bIns="0" rtlCol="0" anchor="ctr"/>
          <a:lstStyle/>
          <a:p>
            <a:pPr indent="0" marL="0">
              <a:buNone/>
            </a:pPr>
            <a:r>
              <a:rPr lang="en-US" sz="2800" b="1" dirty="0">
                <a:solidFill>
                  <a:srgbClr val="14213D"/>
                </a:solidFill>
                <a:latin typeface="Cambria" pitchFamily="34" charset="0"/>
                <a:ea typeface="Cambria" pitchFamily="34" charset="-122"/>
                <a:cs typeface="Cambria" pitchFamily="34" charset="-120"/>
              </a:rPr>
              <a:t>Motivation: why offloading is hard</a:t>
            </a:r>
            <a:endParaRPr lang="en-US" sz="2800" dirty="0"/>
          </a:p>
        </p:txBody>
      </p:sp>
      <p:sp>
        <p:nvSpPr>
          <p:cNvPr id="3" name="Text 1"/>
          <p:cNvSpPr txBox="1"/>
          <p:nvPr/>
        </p:nvSpPr>
        <p:spPr>
          <a:xfrm>
            <a:off x="457200" y="4754880"/>
            <a:ext cx="5486400" cy="22860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Nieto et al., J. Cloud Computing 13, 94 (2024)</a:t>
            </a:r>
            <a:endParaRPr lang="en-US" sz="900" dirty="0"/>
          </a:p>
        </p:txBody>
      </p:sp>
      <p:sp>
        <p:nvSpPr>
          <p:cNvPr id="4" name="Text 2"/>
          <p:cNvSpPr txBox="1"/>
          <p:nvPr/>
        </p:nvSpPr>
        <p:spPr>
          <a:xfrm>
            <a:off x="8229600" y="4754880"/>
            <a:ext cx="457200" cy="22860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4</a:t>
            </a:r>
            <a:endParaRPr lang="en-US" sz="900" dirty="0"/>
          </a:p>
        </p:txBody>
      </p:sp>
      <p:sp>
        <p:nvSpPr>
          <p:cNvPr id="6" name="Shape 3"/>
          <p:cNvSpPr/>
          <p:nvPr/>
        </p:nvSpPr>
        <p:spPr>
          <a:xfrm>
            <a:off x="457200" y="1143000"/>
            <a:ext cx="3931920" cy="1463040"/>
          </a:xfrm>
          <a:prstGeom prst="roundRect">
            <a:avLst>
              <a:gd name="adj" fmla="val 5000"/>
            </a:avLst>
          </a:prstGeom>
          <a:solidFill>
            <a:srgbClr val="EEF4F7"/>
          </a:solidFill>
          <a:ln w="12700">
            <a:solidFill>
              <a:srgbClr val="EEF4F7"/>
            </a:solidFill>
            <a:prstDash val="solid"/>
          </a:ln>
          <a:effectLst>
            <a:outerShdw sx="100000" sy="100000" kx="0" ky="0" algn="bl" rotWithShape="0" blurRad="101600" dist="25400" dir="5400000">
              <a:srgbClr val="000000">
                <a:alpha val="12000"/>
              </a:srgbClr>
            </a:outerShdw>
          </a:effectLst>
        </p:spPr>
      </p:sp>
      <p:sp>
        <p:nvSpPr>
          <p:cNvPr id="7" name="Shape 4"/>
          <p:cNvSpPr/>
          <p:nvPr/>
        </p:nvSpPr>
        <p:spPr>
          <a:xfrm>
            <a:off x="640080" y="1325880"/>
            <a:ext cx="384048" cy="384048"/>
          </a:xfrm>
          <a:prstGeom prst="ellipse">
            <a:avLst/>
          </a:prstGeom>
          <a:solidFill>
            <a:srgbClr val="0E7C86"/>
          </a:solidFill>
          <a:ln w="12700">
            <a:solidFill>
              <a:srgbClr val="0E7C86"/>
            </a:solidFill>
            <a:prstDash val="solid"/>
          </a:ln>
        </p:spPr>
      </p:sp>
      <p:sp>
        <p:nvSpPr>
          <p:cNvPr id="8" name="Text 5"/>
          <p:cNvSpPr txBox="1"/>
          <p:nvPr/>
        </p:nvSpPr>
        <p:spPr>
          <a:xfrm>
            <a:off x="640080" y="132588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9" name="Text 6"/>
          <p:cNvSpPr txBox="1"/>
          <p:nvPr/>
        </p:nvSpPr>
        <p:spPr>
          <a:xfrm>
            <a:off x="1188720" y="1280160"/>
            <a:ext cx="3063240" cy="411480"/>
          </a:xfrm>
          <a:prstGeom prst="rect">
            <a:avLst/>
          </a:prstGeom>
          <a:noFill/>
          <a:ln/>
        </p:spPr>
        <p:txBody>
          <a:bodyPr wrap="square" lIns="0" tIns="0" rIns="0" bIns="0" rtlCol="0" anchor="ctr"/>
          <a:lstStyle/>
          <a:p>
            <a:pPr indent="0" marL="0">
              <a:buNone/>
            </a:pPr>
            <a:r>
              <a:rPr lang="en-US" sz="1600" b="1" dirty="0">
                <a:solidFill>
                  <a:srgbClr val="14213D"/>
                </a:solidFill>
                <a:latin typeface="Cambria" pitchFamily="34" charset="0"/>
                <a:ea typeface="Cambria" pitchFamily="34" charset="-122"/>
                <a:cs typeface="Cambria" pitchFamily="34" charset="-120"/>
              </a:rPr>
              <a:t>Constrained devices</a:t>
            </a:r>
            <a:endParaRPr lang="en-US" sz="1600" dirty="0"/>
          </a:p>
        </p:txBody>
      </p:sp>
      <p:sp>
        <p:nvSpPr>
          <p:cNvPr id="10" name="Text 7"/>
          <p:cNvSpPr txBox="1"/>
          <p:nvPr/>
        </p:nvSpPr>
        <p:spPr>
          <a:xfrm>
            <a:off x="1188720" y="1737360"/>
            <a:ext cx="3063240" cy="777240"/>
          </a:xfrm>
          <a:prstGeom prst="rect">
            <a:avLst/>
          </a:prstGeom>
          <a:noFill/>
          <a:ln/>
        </p:spPr>
        <p:txBody>
          <a:bodyPr wrap="square" lIns="0" tIns="0" rIns="0" bIns="0" rtlCol="0" anchor="t"/>
          <a:lstStyle/>
          <a:p>
            <a:pPr indent="0" marL="0">
              <a:buNone/>
            </a:pPr>
            <a:r>
              <a:rPr lang="en-US" sz="1300" dirty="0">
                <a:solidFill>
                  <a:srgbClr val="1F2937"/>
                </a:solidFill>
                <a:latin typeface="Calibri" pitchFamily="34" charset="0"/>
                <a:ea typeface="Calibri" pitchFamily="34" charset="-122"/>
                <a:cs typeface="Calibri" pitchFamily="34" charset="-120"/>
              </a:rPr>
              <a:t>IoT and mobile devices have limited CPU and battery, so heavy tasks cannot always run locally.</a:t>
            </a:r>
            <a:endParaRPr lang="en-US" sz="1300" dirty="0"/>
          </a:p>
        </p:txBody>
      </p:sp>
      <p:sp>
        <p:nvSpPr>
          <p:cNvPr id="11" name="Shape 8"/>
          <p:cNvSpPr/>
          <p:nvPr/>
        </p:nvSpPr>
        <p:spPr>
          <a:xfrm>
            <a:off x="4663440" y="1143000"/>
            <a:ext cx="3931920" cy="1463040"/>
          </a:xfrm>
          <a:prstGeom prst="roundRect">
            <a:avLst>
              <a:gd name="adj" fmla="val 5000"/>
            </a:avLst>
          </a:prstGeom>
          <a:solidFill>
            <a:srgbClr val="EEF4F7"/>
          </a:solidFill>
          <a:ln w="12700">
            <a:solidFill>
              <a:srgbClr val="EEF4F7"/>
            </a:solidFill>
            <a:prstDash val="solid"/>
          </a:ln>
          <a:effectLst>
            <a:outerShdw sx="100000" sy="100000" kx="0" ky="0" algn="bl" rotWithShape="0" blurRad="101600" dist="25400" dir="5400000">
              <a:srgbClr val="000000">
                <a:alpha val="12000"/>
              </a:srgbClr>
            </a:outerShdw>
          </a:effectLst>
        </p:spPr>
      </p:sp>
      <p:sp>
        <p:nvSpPr>
          <p:cNvPr id="12" name="Shape 9"/>
          <p:cNvSpPr/>
          <p:nvPr/>
        </p:nvSpPr>
        <p:spPr>
          <a:xfrm>
            <a:off x="4846320" y="1325880"/>
            <a:ext cx="384048" cy="384048"/>
          </a:xfrm>
          <a:prstGeom prst="ellipse">
            <a:avLst/>
          </a:prstGeom>
          <a:solidFill>
            <a:srgbClr val="0E7C86"/>
          </a:solidFill>
          <a:ln w="12700">
            <a:solidFill>
              <a:srgbClr val="0E7C86"/>
            </a:solidFill>
            <a:prstDash val="solid"/>
          </a:ln>
        </p:spPr>
      </p:sp>
      <p:sp>
        <p:nvSpPr>
          <p:cNvPr id="13" name="Text 10"/>
          <p:cNvSpPr txBox="1"/>
          <p:nvPr/>
        </p:nvSpPr>
        <p:spPr>
          <a:xfrm>
            <a:off x="4846320" y="132588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4" name="Text 11"/>
          <p:cNvSpPr txBox="1"/>
          <p:nvPr/>
        </p:nvSpPr>
        <p:spPr>
          <a:xfrm>
            <a:off x="5394960" y="1280160"/>
            <a:ext cx="3063240" cy="411480"/>
          </a:xfrm>
          <a:prstGeom prst="rect">
            <a:avLst/>
          </a:prstGeom>
          <a:noFill/>
          <a:ln/>
        </p:spPr>
        <p:txBody>
          <a:bodyPr wrap="square" lIns="0" tIns="0" rIns="0" bIns="0" rtlCol="0" anchor="ctr"/>
          <a:lstStyle/>
          <a:p>
            <a:pPr indent="0" marL="0">
              <a:buNone/>
            </a:pPr>
            <a:r>
              <a:rPr lang="en-US" sz="1600" b="1" dirty="0">
                <a:solidFill>
                  <a:srgbClr val="14213D"/>
                </a:solidFill>
                <a:latin typeface="Cambria" pitchFamily="34" charset="0"/>
                <a:ea typeface="Cambria" pitchFamily="34" charset="-122"/>
                <a:cs typeface="Cambria" pitchFamily="34" charset="-120"/>
              </a:rPr>
              <a:t>Cloud is far</a:t>
            </a:r>
            <a:endParaRPr lang="en-US" sz="1600" dirty="0"/>
          </a:p>
        </p:txBody>
      </p:sp>
      <p:sp>
        <p:nvSpPr>
          <p:cNvPr id="15" name="Text 12"/>
          <p:cNvSpPr txBox="1"/>
          <p:nvPr/>
        </p:nvSpPr>
        <p:spPr>
          <a:xfrm>
            <a:off x="5394960" y="1737360"/>
            <a:ext cx="3063240" cy="777240"/>
          </a:xfrm>
          <a:prstGeom prst="rect">
            <a:avLst/>
          </a:prstGeom>
          <a:noFill/>
          <a:ln/>
        </p:spPr>
        <p:txBody>
          <a:bodyPr wrap="square" lIns="0" tIns="0" rIns="0" bIns="0" rtlCol="0" anchor="t"/>
          <a:lstStyle/>
          <a:p>
            <a:pPr indent="0" marL="0">
              <a:buNone/>
            </a:pPr>
            <a:r>
              <a:rPr lang="en-US" sz="1300" dirty="0">
                <a:solidFill>
                  <a:srgbClr val="1F2937"/>
                </a:solidFill>
                <a:latin typeface="Calibri" pitchFamily="34" charset="0"/>
                <a:ea typeface="Calibri" pitchFamily="34" charset="-122"/>
                <a:cs typeface="Calibri" pitchFamily="34" charset="-120"/>
              </a:rPr>
              <a:t>Cloud computing has huge capacity, but the round trip is too slow for latency-critical tasks.</a:t>
            </a:r>
            <a:endParaRPr lang="en-US" sz="1300" dirty="0"/>
          </a:p>
        </p:txBody>
      </p:sp>
      <p:sp>
        <p:nvSpPr>
          <p:cNvPr id="16" name="Shape 13"/>
          <p:cNvSpPr/>
          <p:nvPr/>
        </p:nvSpPr>
        <p:spPr>
          <a:xfrm>
            <a:off x="457200" y="2834640"/>
            <a:ext cx="3931920" cy="1463040"/>
          </a:xfrm>
          <a:prstGeom prst="roundRect">
            <a:avLst>
              <a:gd name="adj" fmla="val 5000"/>
            </a:avLst>
          </a:prstGeom>
          <a:solidFill>
            <a:srgbClr val="EEF4F7"/>
          </a:solidFill>
          <a:ln w="12700">
            <a:solidFill>
              <a:srgbClr val="EEF4F7"/>
            </a:solidFill>
            <a:prstDash val="solid"/>
          </a:ln>
          <a:effectLst>
            <a:outerShdw sx="100000" sy="100000" kx="0" ky="0" algn="bl" rotWithShape="0" blurRad="101600" dist="25400" dir="5400000">
              <a:srgbClr val="000000">
                <a:alpha val="12000"/>
              </a:srgbClr>
            </a:outerShdw>
          </a:effectLst>
        </p:spPr>
      </p:sp>
      <p:sp>
        <p:nvSpPr>
          <p:cNvPr id="17" name="Shape 14"/>
          <p:cNvSpPr/>
          <p:nvPr/>
        </p:nvSpPr>
        <p:spPr>
          <a:xfrm>
            <a:off x="640080" y="3017520"/>
            <a:ext cx="384048" cy="384048"/>
          </a:xfrm>
          <a:prstGeom prst="ellipse">
            <a:avLst/>
          </a:prstGeom>
          <a:solidFill>
            <a:srgbClr val="0E7C86"/>
          </a:solidFill>
          <a:ln w="12700">
            <a:solidFill>
              <a:srgbClr val="0E7C86"/>
            </a:solidFill>
            <a:prstDash val="solid"/>
          </a:ln>
        </p:spPr>
      </p:sp>
      <p:sp>
        <p:nvSpPr>
          <p:cNvPr id="18" name="Text 15"/>
          <p:cNvSpPr txBox="1"/>
          <p:nvPr/>
        </p:nvSpPr>
        <p:spPr>
          <a:xfrm>
            <a:off x="640080" y="301752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19" name="Text 16"/>
          <p:cNvSpPr txBox="1"/>
          <p:nvPr/>
        </p:nvSpPr>
        <p:spPr>
          <a:xfrm>
            <a:off x="1188720" y="2971800"/>
            <a:ext cx="3063240" cy="411480"/>
          </a:xfrm>
          <a:prstGeom prst="rect">
            <a:avLst/>
          </a:prstGeom>
          <a:noFill/>
          <a:ln/>
        </p:spPr>
        <p:txBody>
          <a:bodyPr wrap="square" lIns="0" tIns="0" rIns="0" bIns="0" rtlCol="0" anchor="ctr"/>
          <a:lstStyle/>
          <a:p>
            <a:pPr indent="0" marL="0">
              <a:buNone/>
            </a:pPr>
            <a:r>
              <a:rPr lang="en-US" sz="1600" b="1" dirty="0">
                <a:solidFill>
                  <a:srgbClr val="14213D"/>
                </a:solidFill>
                <a:latin typeface="Cambria" pitchFamily="34" charset="0"/>
                <a:ea typeface="Cambria" pitchFamily="34" charset="-122"/>
                <a:cs typeface="Cambria" pitchFamily="34" charset="-120"/>
              </a:rPr>
              <a:t>Edge is close but small</a:t>
            </a:r>
            <a:endParaRPr lang="en-US" sz="1600" dirty="0"/>
          </a:p>
        </p:txBody>
      </p:sp>
      <p:sp>
        <p:nvSpPr>
          <p:cNvPr id="20" name="Text 17"/>
          <p:cNvSpPr txBox="1"/>
          <p:nvPr/>
        </p:nvSpPr>
        <p:spPr>
          <a:xfrm>
            <a:off x="1188720" y="3429000"/>
            <a:ext cx="3063240" cy="777240"/>
          </a:xfrm>
          <a:prstGeom prst="rect">
            <a:avLst/>
          </a:prstGeom>
          <a:noFill/>
          <a:ln/>
        </p:spPr>
        <p:txBody>
          <a:bodyPr wrap="square" lIns="0" tIns="0" rIns="0" bIns="0" rtlCol="0" anchor="t"/>
          <a:lstStyle/>
          <a:p>
            <a:pPr indent="0" marL="0">
              <a:buNone/>
            </a:pPr>
            <a:r>
              <a:rPr lang="en-US" sz="1300" dirty="0">
                <a:solidFill>
                  <a:srgbClr val="1F2937"/>
                </a:solidFill>
                <a:latin typeface="Calibri" pitchFamily="34" charset="0"/>
                <a:ea typeface="Calibri" pitchFamily="34" charset="-122"/>
                <a:cs typeface="Calibri" pitchFamily="34" charset="-120"/>
              </a:rPr>
              <a:t>Multi-access Edge Computing (MEC) sits at the base station: low delay, limited resources.</a:t>
            </a:r>
            <a:endParaRPr lang="en-US" sz="1300" dirty="0"/>
          </a:p>
        </p:txBody>
      </p:sp>
      <p:sp>
        <p:nvSpPr>
          <p:cNvPr id="21" name="Shape 18"/>
          <p:cNvSpPr/>
          <p:nvPr/>
        </p:nvSpPr>
        <p:spPr>
          <a:xfrm>
            <a:off x="4663440" y="2834640"/>
            <a:ext cx="3931920" cy="1463040"/>
          </a:xfrm>
          <a:prstGeom prst="roundRect">
            <a:avLst>
              <a:gd name="adj" fmla="val 5000"/>
            </a:avLst>
          </a:prstGeom>
          <a:solidFill>
            <a:srgbClr val="EEF4F7"/>
          </a:solidFill>
          <a:ln w="12700">
            <a:solidFill>
              <a:srgbClr val="EEF4F7"/>
            </a:solidFill>
            <a:prstDash val="solid"/>
          </a:ln>
          <a:effectLst>
            <a:outerShdw sx="100000" sy="100000" kx="0" ky="0" algn="bl" rotWithShape="0" blurRad="101600" dist="25400" dir="5400000">
              <a:srgbClr val="000000">
                <a:alpha val="12000"/>
              </a:srgbClr>
            </a:outerShdw>
          </a:effectLst>
        </p:spPr>
      </p:sp>
      <p:sp>
        <p:nvSpPr>
          <p:cNvPr id="22" name="Shape 19"/>
          <p:cNvSpPr/>
          <p:nvPr/>
        </p:nvSpPr>
        <p:spPr>
          <a:xfrm>
            <a:off x="4846320" y="3017520"/>
            <a:ext cx="384048" cy="384048"/>
          </a:xfrm>
          <a:prstGeom prst="ellipse">
            <a:avLst/>
          </a:prstGeom>
          <a:solidFill>
            <a:srgbClr val="0E7C86"/>
          </a:solidFill>
          <a:ln w="12700">
            <a:solidFill>
              <a:srgbClr val="0E7C86"/>
            </a:solidFill>
            <a:prstDash val="solid"/>
          </a:ln>
        </p:spPr>
      </p:sp>
      <p:sp>
        <p:nvSpPr>
          <p:cNvPr id="23" name="Text 20"/>
          <p:cNvSpPr txBox="1"/>
          <p:nvPr/>
        </p:nvSpPr>
        <p:spPr>
          <a:xfrm>
            <a:off x="4846320" y="301752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4</a:t>
            </a:r>
            <a:endParaRPr lang="en-US" sz="1400" dirty="0"/>
          </a:p>
        </p:txBody>
      </p:sp>
      <p:sp>
        <p:nvSpPr>
          <p:cNvPr id="24" name="Text 21"/>
          <p:cNvSpPr txBox="1"/>
          <p:nvPr/>
        </p:nvSpPr>
        <p:spPr>
          <a:xfrm>
            <a:off x="5394960" y="2971800"/>
            <a:ext cx="3063240" cy="411480"/>
          </a:xfrm>
          <a:prstGeom prst="rect">
            <a:avLst/>
          </a:prstGeom>
          <a:noFill/>
          <a:ln/>
        </p:spPr>
        <p:txBody>
          <a:bodyPr wrap="square" lIns="0" tIns="0" rIns="0" bIns="0" rtlCol="0" anchor="ctr"/>
          <a:lstStyle/>
          <a:p>
            <a:pPr indent="0" marL="0">
              <a:buNone/>
            </a:pPr>
            <a:r>
              <a:rPr lang="en-US" sz="1600" b="1" dirty="0">
                <a:solidFill>
                  <a:srgbClr val="14213D"/>
                </a:solidFill>
                <a:latin typeface="Cambria" pitchFamily="34" charset="0"/>
                <a:ea typeface="Cambria" pitchFamily="34" charset="-122"/>
                <a:cs typeface="Cambria" pitchFamily="34" charset="-120"/>
              </a:rPr>
              <a:t>Conditions keep changing</a:t>
            </a:r>
            <a:endParaRPr lang="en-US" sz="1600" dirty="0"/>
          </a:p>
        </p:txBody>
      </p:sp>
      <p:sp>
        <p:nvSpPr>
          <p:cNvPr id="25" name="Text 22"/>
          <p:cNvSpPr txBox="1"/>
          <p:nvPr/>
        </p:nvSpPr>
        <p:spPr>
          <a:xfrm>
            <a:off x="5394960" y="3429000"/>
            <a:ext cx="3063240" cy="777240"/>
          </a:xfrm>
          <a:prstGeom prst="rect">
            <a:avLst/>
          </a:prstGeom>
          <a:noFill/>
          <a:ln/>
        </p:spPr>
        <p:txBody>
          <a:bodyPr wrap="square" lIns="0" tIns="0" rIns="0" bIns="0" rtlCol="0" anchor="t"/>
          <a:lstStyle/>
          <a:p>
            <a:pPr indent="0" marL="0">
              <a:buNone/>
            </a:pPr>
            <a:r>
              <a:rPr lang="en-US" sz="1300" dirty="0">
                <a:solidFill>
                  <a:srgbClr val="1F2937"/>
                </a:solidFill>
                <a:latin typeface="Calibri" pitchFamily="34" charset="0"/>
                <a:ea typeface="Calibri" pitchFamily="34" charset="-122"/>
                <a:cs typeface="Calibri" pitchFamily="34" charset="-120"/>
              </a:rPr>
              <a:t>Channel quality, server load and battery level vary, so one fixed rule cannot stay optimal.</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640080"/>
          </a:xfrm>
          <a:prstGeom prst="rect">
            <a:avLst/>
          </a:prstGeom>
          <a:noFill/>
          <a:ln/>
        </p:spPr>
        <p:txBody>
          <a:bodyPr wrap="square" lIns="0" tIns="0" rIns="0" bIns="0" rtlCol="0" anchor="ctr"/>
          <a:lstStyle/>
          <a:p>
            <a:pPr indent="0" marL="0">
              <a:buNone/>
            </a:pPr>
            <a:r>
              <a:rPr lang="en-US" sz="2800" b="1" dirty="0">
                <a:solidFill>
                  <a:srgbClr val="14213D"/>
                </a:solidFill>
                <a:latin typeface="Cambria" pitchFamily="34" charset="0"/>
                <a:ea typeface="Cambria" pitchFamily="34" charset="-122"/>
                <a:cs typeface="Cambria" pitchFamily="34" charset="-120"/>
              </a:rPr>
              <a:t>Problem statement and research gap</a:t>
            </a:r>
            <a:endParaRPr lang="en-US" sz="2800" dirty="0"/>
          </a:p>
        </p:txBody>
      </p:sp>
      <p:sp>
        <p:nvSpPr>
          <p:cNvPr id="3" name="Text 1"/>
          <p:cNvSpPr txBox="1"/>
          <p:nvPr/>
        </p:nvSpPr>
        <p:spPr>
          <a:xfrm>
            <a:off x="457200" y="4754880"/>
            <a:ext cx="5486400" cy="22860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Nieto et al., J. Cloud Computing 13, 94 (2024)</a:t>
            </a:r>
            <a:endParaRPr lang="en-US" sz="900" dirty="0"/>
          </a:p>
        </p:txBody>
      </p:sp>
      <p:sp>
        <p:nvSpPr>
          <p:cNvPr id="4" name="Text 2"/>
          <p:cNvSpPr txBox="1"/>
          <p:nvPr/>
        </p:nvSpPr>
        <p:spPr>
          <a:xfrm>
            <a:off x="8229600" y="4754880"/>
            <a:ext cx="457200" cy="22860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5</a:t>
            </a:r>
            <a:endParaRPr lang="en-US" sz="900" dirty="0"/>
          </a:p>
        </p:txBody>
      </p:sp>
      <p:sp>
        <p:nvSpPr>
          <p:cNvPr id="6" name="Text 3"/>
          <p:cNvSpPr txBox="1"/>
          <p:nvPr/>
        </p:nvSpPr>
        <p:spPr>
          <a:xfrm>
            <a:off x="457200" y="1005840"/>
            <a:ext cx="8229600" cy="548640"/>
          </a:xfrm>
          <a:prstGeom prst="rect">
            <a:avLst/>
          </a:prstGeom>
          <a:noFill/>
          <a:ln/>
        </p:spPr>
        <p:txBody>
          <a:bodyPr wrap="square" lIns="0" tIns="0" rIns="0" bIns="0" rtlCol="0" anchor="ctr"/>
          <a:lstStyle/>
          <a:p>
            <a:pPr indent="0" marL="0">
              <a:buNone/>
            </a:pPr>
            <a:r>
              <a:rPr lang="en-US" sz="1500" i="1" dirty="0">
                <a:solidFill>
                  <a:srgbClr val="0E7C86"/>
                </a:solidFill>
                <a:latin typeface="Calibri" pitchFamily="34" charset="0"/>
                <a:ea typeface="Calibri" pitchFamily="34" charset="-122"/>
                <a:cs typeface="Calibri" pitchFamily="34" charset="-120"/>
              </a:rPr>
              <a:t>Goal: for every task, choose local, MEC or cloud execution to maximize QoE (energy saved) while meeting the latency deadline.</a:t>
            </a:r>
            <a:endParaRPr lang="en-US" sz="1500" dirty="0"/>
          </a:p>
        </p:txBody>
      </p:sp>
      <p:sp>
        <p:nvSpPr>
          <p:cNvPr id="7" name="Shape 4"/>
          <p:cNvSpPr/>
          <p:nvPr/>
        </p:nvSpPr>
        <p:spPr>
          <a:xfrm>
            <a:off x="457200" y="1737360"/>
            <a:ext cx="2606040" cy="2103120"/>
          </a:xfrm>
          <a:prstGeom prst="roundRect">
            <a:avLst>
              <a:gd name="adj" fmla="val 3478"/>
            </a:avLst>
          </a:prstGeom>
          <a:solidFill>
            <a:srgbClr val="EEF4F7"/>
          </a:solidFill>
          <a:ln w="12700">
            <a:solidFill>
              <a:srgbClr val="EEF4F7"/>
            </a:solidFill>
            <a:prstDash val="solid"/>
          </a:ln>
          <a:effectLst>
            <a:outerShdw sx="100000" sy="100000" kx="0" ky="0" algn="bl" rotWithShape="0" blurRad="101600" dist="25400" dir="5400000">
              <a:srgbClr val="000000">
                <a:alpha val="12000"/>
              </a:srgbClr>
            </a:outerShdw>
          </a:effectLst>
        </p:spPr>
      </p:sp>
      <p:sp>
        <p:nvSpPr>
          <p:cNvPr id="8" name="Text 5"/>
          <p:cNvSpPr txBox="1"/>
          <p:nvPr/>
        </p:nvSpPr>
        <p:spPr>
          <a:xfrm>
            <a:off x="640080" y="1874520"/>
            <a:ext cx="2240280" cy="548640"/>
          </a:xfrm>
          <a:prstGeom prst="rect">
            <a:avLst/>
          </a:prstGeom>
          <a:noFill/>
          <a:ln/>
        </p:spPr>
        <p:txBody>
          <a:bodyPr wrap="square" lIns="0" tIns="0" rIns="0" bIns="0" rtlCol="0" anchor="t"/>
          <a:lstStyle/>
          <a:p>
            <a:pPr indent="0" marL="0">
              <a:buNone/>
            </a:pPr>
            <a:r>
              <a:rPr lang="en-US" sz="1500" b="1" dirty="0">
                <a:solidFill>
                  <a:srgbClr val="14213D"/>
                </a:solidFill>
                <a:latin typeface="Cambria" pitchFamily="34" charset="0"/>
                <a:ea typeface="Cambria" pitchFamily="34" charset="-122"/>
                <a:cs typeface="Cambria" pitchFamily="34" charset="-120"/>
              </a:rPr>
              <a:t>Heuristics / metaheuristics</a:t>
            </a:r>
            <a:endParaRPr lang="en-US" sz="1500" dirty="0"/>
          </a:p>
        </p:txBody>
      </p:sp>
      <p:sp>
        <p:nvSpPr>
          <p:cNvPr id="9" name="Text 6"/>
          <p:cNvSpPr txBox="1"/>
          <p:nvPr/>
        </p:nvSpPr>
        <p:spPr>
          <a:xfrm>
            <a:off x="640080" y="2514600"/>
            <a:ext cx="2240280" cy="1280160"/>
          </a:xfrm>
          <a:prstGeom prst="rect">
            <a:avLst/>
          </a:prstGeom>
          <a:noFill/>
          <a:ln/>
        </p:spPr>
        <p:txBody>
          <a:bodyPr wrap="square" lIns="0" tIns="0" rIns="0" bIns="0" rtlCol="0" anchor="t"/>
          <a:lstStyle/>
          <a:p>
            <a:pPr indent="0" marL="0">
              <a:buNone/>
            </a:pPr>
            <a:r>
              <a:rPr lang="en-US" sz="1300" dirty="0">
                <a:solidFill>
                  <a:srgbClr val="1F2937"/>
                </a:solidFill>
                <a:latin typeface="Calibri" pitchFamily="34" charset="0"/>
                <a:ea typeface="Calibri" pitchFamily="34" charset="-122"/>
                <a:cs typeface="Calibri" pitchFamily="34" charset="-120"/>
              </a:rPr>
              <a:t>Do not adapt to dynamic conditions; centralized versions scale poorly; some ignore battery and channel status.</a:t>
            </a:r>
            <a:endParaRPr lang="en-US" sz="1300" dirty="0"/>
          </a:p>
        </p:txBody>
      </p:sp>
      <p:sp>
        <p:nvSpPr>
          <p:cNvPr id="10" name="Shape 7"/>
          <p:cNvSpPr/>
          <p:nvPr/>
        </p:nvSpPr>
        <p:spPr>
          <a:xfrm>
            <a:off x="3246120" y="1737360"/>
            <a:ext cx="2606040" cy="2103120"/>
          </a:xfrm>
          <a:prstGeom prst="roundRect">
            <a:avLst>
              <a:gd name="adj" fmla="val 3478"/>
            </a:avLst>
          </a:prstGeom>
          <a:solidFill>
            <a:srgbClr val="EEF4F7"/>
          </a:solidFill>
          <a:ln w="12700">
            <a:solidFill>
              <a:srgbClr val="EEF4F7"/>
            </a:solidFill>
            <a:prstDash val="solid"/>
          </a:ln>
          <a:effectLst>
            <a:outerShdw sx="100000" sy="100000" kx="0" ky="0" algn="bl" rotWithShape="0" blurRad="101600" dist="25400" dir="5400000">
              <a:srgbClr val="000000">
                <a:alpha val="12000"/>
              </a:srgbClr>
            </a:outerShdw>
          </a:effectLst>
        </p:spPr>
      </p:sp>
      <p:sp>
        <p:nvSpPr>
          <p:cNvPr id="11" name="Text 8"/>
          <p:cNvSpPr txBox="1"/>
          <p:nvPr/>
        </p:nvSpPr>
        <p:spPr>
          <a:xfrm>
            <a:off x="3429000" y="1874520"/>
            <a:ext cx="2240280" cy="548640"/>
          </a:xfrm>
          <a:prstGeom prst="rect">
            <a:avLst/>
          </a:prstGeom>
          <a:noFill/>
          <a:ln/>
        </p:spPr>
        <p:txBody>
          <a:bodyPr wrap="square" lIns="0" tIns="0" rIns="0" bIns="0" rtlCol="0" anchor="t"/>
          <a:lstStyle/>
          <a:p>
            <a:pPr indent="0" marL="0">
              <a:buNone/>
            </a:pPr>
            <a:r>
              <a:rPr lang="en-US" sz="1500" b="1" dirty="0">
                <a:solidFill>
                  <a:srgbClr val="14213D"/>
                </a:solidFill>
                <a:latin typeface="Cambria" pitchFamily="34" charset="0"/>
                <a:ea typeface="Cambria" pitchFamily="34" charset="-122"/>
                <a:cs typeface="Cambria" pitchFamily="34" charset="-120"/>
              </a:rPr>
              <a:t>Centralized ML</a:t>
            </a:r>
            <a:endParaRPr lang="en-US" sz="1500" dirty="0"/>
          </a:p>
        </p:txBody>
      </p:sp>
      <p:sp>
        <p:nvSpPr>
          <p:cNvPr id="12" name="Text 9"/>
          <p:cNvSpPr txBox="1"/>
          <p:nvPr/>
        </p:nvSpPr>
        <p:spPr>
          <a:xfrm>
            <a:off x="3429000" y="2514600"/>
            <a:ext cx="2240280" cy="1280160"/>
          </a:xfrm>
          <a:prstGeom prst="rect">
            <a:avLst/>
          </a:prstGeom>
          <a:noFill/>
          <a:ln/>
        </p:spPr>
        <p:txBody>
          <a:bodyPr wrap="square" lIns="0" tIns="0" rIns="0" bIns="0" rtlCol="0" anchor="t"/>
          <a:lstStyle/>
          <a:p>
            <a:pPr indent="0" marL="0">
              <a:buNone/>
            </a:pPr>
            <a:r>
              <a:rPr lang="en-US" sz="1300" dirty="0">
                <a:solidFill>
                  <a:srgbClr val="1F2937"/>
                </a:solidFill>
                <a:latin typeface="Calibri" pitchFamily="34" charset="0"/>
                <a:ea typeface="Calibri" pitchFamily="34" charset="-122"/>
                <a:cs typeface="Calibri" pitchFamily="34" charset="-120"/>
              </a:rPr>
              <a:t>Network overhead and privacy concerns; many ignore the cloud tier or use one task type.</a:t>
            </a:r>
            <a:endParaRPr lang="en-US" sz="1300" dirty="0"/>
          </a:p>
        </p:txBody>
      </p:sp>
      <p:sp>
        <p:nvSpPr>
          <p:cNvPr id="13" name="Shape 10"/>
          <p:cNvSpPr/>
          <p:nvPr/>
        </p:nvSpPr>
        <p:spPr>
          <a:xfrm>
            <a:off x="6035040" y="1737360"/>
            <a:ext cx="2606040" cy="2103120"/>
          </a:xfrm>
          <a:prstGeom prst="roundRect">
            <a:avLst>
              <a:gd name="adj" fmla="val 3478"/>
            </a:avLst>
          </a:prstGeom>
          <a:solidFill>
            <a:srgbClr val="14213D"/>
          </a:solidFill>
          <a:ln w="12700">
            <a:solidFill>
              <a:srgbClr val="14213D"/>
            </a:solidFill>
            <a:prstDash val="solid"/>
          </a:ln>
          <a:effectLst>
            <a:outerShdw sx="100000" sy="100000" kx="0" ky="0" algn="bl" rotWithShape="0" blurRad="101600" dist="25400" dir="5400000">
              <a:srgbClr val="000000">
                <a:alpha val="12000"/>
              </a:srgbClr>
            </a:outerShdw>
          </a:effectLst>
        </p:spPr>
      </p:sp>
      <p:sp>
        <p:nvSpPr>
          <p:cNvPr id="14" name="Text 11"/>
          <p:cNvSpPr txBox="1"/>
          <p:nvPr/>
        </p:nvSpPr>
        <p:spPr>
          <a:xfrm>
            <a:off x="6217920" y="1874520"/>
            <a:ext cx="2240280" cy="548640"/>
          </a:xfrm>
          <a:prstGeom prst="rect">
            <a:avLst/>
          </a:prstGeom>
          <a:noFill/>
          <a:ln/>
        </p:spPr>
        <p:txBody>
          <a:bodyPr wrap="square" lIns="0" tIns="0" rIns="0" bIns="0" rtlCol="0" anchor="t"/>
          <a:lstStyle/>
          <a:p>
            <a:pPr indent="0" marL="0">
              <a:buNone/>
            </a:pPr>
            <a:r>
              <a:rPr lang="en-US" sz="1500" b="1" dirty="0">
                <a:solidFill>
                  <a:srgbClr val="F2A541"/>
                </a:solidFill>
                <a:latin typeface="Cambria" pitchFamily="34" charset="0"/>
                <a:ea typeface="Cambria" pitchFamily="34" charset="-122"/>
                <a:cs typeface="Cambria" pitchFamily="34" charset="-120"/>
              </a:rPr>
              <a:t>This paper</a:t>
            </a:r>
            <a:endParaRPr lang="en-US" sz="1500" dirty="0"/>
          </a:p>
        </p:txBody>
      </p:sp>
      <p:sp>
        <p:nvSpPr>
          <p:cNvPr id="15" name="Text 12"/>
          <p:cNvSpPr txBox="1"/>
          <p:nvPr/>
        </p:nvSpPr>
        <p:spPr>
          <a:xfrm>
            <a:off x="6217920" y="2514600"/>
            <a:ext cx="2240280" cy="128016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Distributed: one agent per device. Three task classes, three execution options, dynamic network and server behavior.</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640080"/>
          </a:xfrm>
          <a:prstGeom prst="rect">
            <a:avLst/>
          </a:prstGeom>
          <a:noFill/>
          <a:ln/>
        </p:spPr>
        <p:txBody>
          <a:bodyPr wrap="square" lIns="0" tIns="0" rIns="0" bIns="0" rtlCol="0" anchor="ctr"/>
          <a:lstStyle/>
          <a:p>
            <a:pPr indent="0" marL="0">
              <a:buNone/>
            </a:pPr>
            <a:r>
              <a:rPr lang="en-US" sz="2800" b="1" dirty="0">
                <a:solidFill>
                  <a:srgbClr val="14213D"/>
                </a:solidFill>
                <a:latin typeface="Cambria" pitchFamily="34" charset="0"/>
                <a:ea typeface="Cambria" pitchFamily="34" charset="-122"/>
                <a:cs typeface="Cambria" pitchFamily="34" charset="-120"/>
              </a:rPr>
              <a:t>Key contributions</a:t>
            </a:r>
            <a:endParaRPr lang="en-US" sz="2800" dirty="0"/>
          </a:p>
        </p:txBody>
      </p:sp>
      <p:sp>
        <p:nvSpPr>
          <p:cNvPr id="3" name="Text 1"/>
          <p:cNvSpPr txBox="1"/>
          <p:nvPr/>
        </p:nvSpPr>
        <p:spPr>
          <a:xfrm>
            <a:off x="457200" y="4754880"/>
            <a:ext cx="5486400" cy="22860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Nieto et al., J. Cloud Computing 13, 94 (2024)</a:t>
            </a:r>
            <a:endParaRPr lang="en-US" sz="900" dirty="0"/>
          </a:p>
        </p:txBody>
      </p:sp>
      <p:sp>
        <p:nvSpPr>
          <p:cNvPr id="4" name="Text 2"/>
          <p:cNvSpPr txBox="1"/>
          <p:nvPr/>
        </p:nvSpPr>
        <p:spPr>
          <a:xfrm>
            <a:off x="8229600" y="4754880"/>
            <a:ext cx="457200" cy="22860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6</a:t>
            </a:r>
            <a:endParaRPr lang="en-US" sz="900" dirty="0"/>
          </a:p>
        </p:txBody>
      </p:sp>
      <p:sp>
        <p:nvSpPr>
          <p:cNvPr id="6" name="Shape 3"/>
          <p:cNvSpPr/>
          <p:nvPr/>
        </p:nvSpPr>
        <p:spPr>
          <a:xfrm>
            <a:off x="457200" y="1097280"/>
            <a:ext cx="8229600" cy="731520"/>
          </a:xfrm>
          <a:prstGeom prst="roundRect">
            <a:avLst>
              <a:gd name="adj" fmla="val 10000"/>
            </a:avLst>
          </a:prstGeom>
          <a:solidFill>
            <a:srgbClr val="EEF4F7"/>
          </a:solidFill>
          <a:ln w="12700">
            <a:solidFill>
              <a:srgbClr val="EEF4F7"/>
            </a:solidFill>
            <a:prstDash val="solid"/>
          </a:ln>
          <a:effectLst>
            <a:outerShdw sx="100000" sy="100000" kx="0" ky="0" algn="bl" rotWithShape="0" blurRad="101600" dist="25400" dir="5400000">
              <a:srgbClr val="000000">
                <a:alpha val="12000"/>
              </a:srgbClr>
            </a:outerShdw>
          </a:effectLst>
        </p:spPr>
      </p:sp>
      <p:sp>
        <p:nvSpPr>
          <p:cNvPr id="7" name="Shape 4"/>
          <p:cNvSpPr/>
          <p:nvPr/>
        </p:nvSpPr>
        <p:spPr>
          <a:xfrm>
            <a:off x="640080" y="1271016"/>
            <a:ext cx="384048" cy="384048"/>
          </a:xfrm>
          <a:prstGeom prst="ellipse">
            <a:avLst/>
          </a:prstGeom>
          <a:solidFill>
            <a:srgbClr val="0E7C86"/>
          </a:solidFill>
          <a:ln w="12700">
            <a:solidFill>
              <a:srgbClr val="0E7C86"/>
            </a:solidFill>
            <a:prstDash val="solid"/>
          </a:ln>
        </p:spPr>
      </p:sp>
      <p:sp>
        <p:nvSpPr>
          <p:cNvPr id="8" name="Text 5"/>
          <p:cNvSpPr txBox="1"/>
          <p:nvPr/>
        </p:nvSpPr>
        <p:spPr>
          <a:xfrm>
            <a:off x="640080" y="1271016"/>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9" name="Text 6"/>
          <p:cNvSpPr txBox="1"/>
          <p:nvPr/>
        </p:nvSpPr>
        <p:spPr>
          <a:xfrm>
            <a:off x="1234440" y="1143000"/>
            <a:ext cx="7269480" cy="640080"/>
          </a:xfrm>
          <a:prstGeom prst="rect">
            <a:avLst/>
          </a:prstGeom>
          <a:noFill/>
          <a:ln/>
        </p:spPr>
        <p:txBody>
          <a:bodyPr wrap="square" lIns="0" tIns="0" rIns="0" bIns="0" rtlCol="0" anchor="ctr"/>
          <a:lstStyle/>
          <a:p>
            <a:pPr indent="0" marL="0">
              <a:buNone/>
            </a:pPr>
            <a:r>
              <a:rPr lang="en-US" sz="1500" dirty="0">
                <a:solidFill>
                  <a:srgbClr val="1F2937"/>
                </a:solidFill>
                <a:latin typeface="Calibri" pitchFamily="34" charset="0"/>
                <a:ea typeface="Calibri" pitchFamily="34" charset="-122"/>
                <a:cs typeface="Calibri" pitchFamily="34" charset="-120"/>
              </a:rPr>
              <a:t>A system model that captures device and server occupancy, network status and several task types</a:t>
            </a:r>
            <a:endParaRPr lang="en-US" sz="1500" dirty="0"/>
          </a:p>
        </p:txBody>
      </p:sp>
      <p:sp>
        <p:nvSpPr>
          <p:cNvPr id="10" name="Shape 7"/>
          <p:cNvSpPr/>
          <p:nvPr/>
        </p:nvSpPr>
        <p:spPr>
          <a:xfrm>
            <a:off x="457200" y="1965960"/>
            <a:ext cx="8229600" cy="731520"/>
          </a:xfrm>
          <a:prstGeom prst="roundRect">
            <a:avLst>
              <a:gd name="adj" fmla="val 10000"/>
            </a:avLst>
          </a:prstGeom>
          <a:solidFill>
            <a:srgbClr val="EEF4F7"/>
          </a:solidFill>
          <a:ln w="12700">
            <a:solidFill>
              <a:srgbClr val="EEF4F7"/>
            </a:solidFill>
            <a:prstDash val="solid"/>
          </a:ln>
          <a:effectLst>
            <a:outerShdw sx="100000" sy="100000" kx="0" ky="0" algn="bl" rotWithShape="0" blurRad="101600" dist="25400" dir="5400000">
              <a:srgbClr val="000000">
                <a:alpha val="12000"/>
              </a:srgbClr>
            </a:outerShdw>
          </a:effectLst>
        </p:spPr>
      </p:sp>
      <p:sp>
        <p:nvSpPr>
          <p:cNvPr id="11" name="Shape 8"/>
          <p:cNvSpPr/>
          <p:nvPr/>
        </p:nvSpPr>
        <p:spPr>
          <a:xfrm>
            <a:off x="640080" y="2139696"/>
            <a:ext cx="384048" cy="384048"/>
          </a:xfrm>
          <a:prstGeom prst="ellipse">
            <a:avLst/>
          </a:prstGeom>
          <a:solidFill>
            <a:srgbClr val="F2A541"/>
          </a:solidFill>
          <a:ln w="12700">
            <a:solidFill>
              <a:srgbClr val="F2A541"/>
            </a:solidFill>
            <a:prstDash val="solid"/>
          </a:ln>
        </p:spPr>
      </p:sp>
      <p:sp>
        <p:nvSpPr>
          <p:cNvPr id="12" name="Text 9"/>
          <p:cNvSpPr txBox="1"/>
          <p:nvPr/>
        </p:nvSpPr>
        <p:spPr>
          <a:xfrm>
            <a:off x="640080" y="2139696"/>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3" name="Text 10"/>
          <p:cNvSpPr txBox="1"/>
          <p:nvPr/>
        </p:nvSpPr>
        <p:spPr>
          <a:xfrm>
            <a:off x="1234440" y="2011680"/>
            <a:ext cx="7269480" cy="640080"/>
          </a:xfrm>
          <a:prstGeom prst="rect">
            <a:avLst/>
          </a:prstGeom>
          <a:noFill/>
          <a:ln/>
        </p:spPr>
        <p:txBody>
          <a:bodyPr wrap="square" lIns="0" tIns="0" rIns="0" bIns="0" rtlCol="0" anchor="ctr"/>
          <a:lstStyle/>
          <a:p>
            <a:pPr indent="0" marL="0">
              <a:buNone/>
            </a:pPr>
            <a:r>
              <a:rPr lang="en-US" sz="1500" dirty="0">
                <a:solidFill>
                  <a:srgbClr val="1F2937"/>
                </a:solidFill>
                <a:latin typeface="Calibri" pitchFamily="34" charset="0"/>
                <a:ea typeface="Calibri" pitchFamily="34" charset="-122"/>
                <a:cs typeface="Calibri" pitchFamily="34" charset="-120"/>
              </a:rPr>
              <a:t>A QoE metric based on energy use, conditioned on meeting the latency requirement</a:t>
            </a:r>
            <a:endParaRPr lang="en-US" sz="1500" dirty="0"/>
          </a:p>
        </p:txBody>
      </p:sp>
      <p:sp>
        <p:nvSpPr>
          <p:cNvPr id="14" name="Shape 11"/>
          <p:cNvSpPr/>
          <p:nvPr/>
        </p:nvSpPr>
        <p:spPr>
          <a:xfrm>
            <a:off x="457200" y="2834640"/>
            <a:ext cx="8229600" cy="731520"/>
          </a:xfrm>
          <a:prstGeom prst="roundRect">
            <a:avLst>
              <a:gd name="adj" fmla="val 10000"/>
            </a:avLst>
          </a:prstGeom>
          <a:solidFill>
            <a:srgbClr val="EEF4F7"/>
          </a:solidFill>
          <a:ln w="12700">
            <a:solidFill>
              <a:srgbClr val="EEF4F7"/>
            </a:solidFill>
            <a:prstDash val="solid"/>
          </a:ln>
          <a:effectLst>
            <a:outerShdw sx="100000" sy="100000" kx="0" ky="0" algn="bl" rotWithShape="0" blurRad="101600" dist="25400" dir="5400000">
              <a:srgbClr val="000000">
                <a:alpha val="12000"/>
              </a:srgbClr>
            </a:outerShdw>
          </a:effectLst>
        </p:spPr>
      </p:sp>
      <p:sp>
        <p:nvSpPr>
          <p:cNvPr id="15" name="Shape 12"/>
          <p:cNvSpPr/>
          <p:nvPr/>
        </p:nvSpPr>
        <p:spPr>
          <a:xfrm>
            <a:off x="640080" y="3008376"/>
            <a:ext cx="384048" cy="384048"/>
          </a:xfrm>
          <a:prstGeom prst="ellipse">
            <a:avLst/>
          </a:prstGeom>
          <a:solidFill>
            <a:srgbClr val="0E7C86"/>
          </a:solidFill>
          <a:ln w="12700">
            <a:solidFill>
              <a:srgbClr val="0E7C86"/>
            </a:solidFill>
            <a:prstDash val="solid"/>
          </a:ln>
        </p:spPr>
      </p:sp>
      <p:sp>
        <p:nvSpPr>
          <p:cNvPr id="16" name="Text 13"/>
          <p:cNvSpPr txBox="1"/>
          <p:nvPr/>
        </p:nvSpPr>
        <p:spPr>
          <a:xfrm>
            <a:off x="640080" y="3008376"/>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17" name="Text 14"/>
          <p:cNvSpPr txBox="1"/>
          <p:nvPr/>
        </p:nvSpPr>
        <p:spPr>
          <a:xfrm>
            <a:off x="1234440" y="2880360"/>
            <a:ext cx="7269480" cy="640080"/>
          </a:xfrm>
          <a:prstGeom prst="rect">
            <a:avLst/>
          </a:prstGeom>
          <a:noFill/>
          <a:ln/>
        </p:spPr>
        <p:txBody>
          <a:bodyPr wrap="square" lIns="0" tIns="0" rIns="0" bIns="0" rtlCol="0" anchor="ctr"/>
          <a:lstStyle/>
          <a:p>
            <a:pPr indent="0" marL="0">
              <a:buNone/>
            </a:pPr>
            <a:r>
              <a:rPr lang="en-US" sz="1500" dirty="0">
                <a:solidFill>
                  <a:srgbClr val="1F2937"/>
                </a:solidFill>
                <a:latin typeface="Calibri" pitchFamily="34" charset="0"/>
                <a:ea typeface="Calibri" pitchFamily="34" charset="-122"/>
                <a:cs typeface="Calibri" pitchFamily="34" charset="-120"/>
              </a:rPr>
              <a:t>A distributed DRL approach: adaptive offloading decisions for each device in a time-varying environment</a:t>
            </a:r>
            <a:endParaRPr lang="en-US" sz="1500" dirty="0"/>
          </a:p>
        </p:txBody>
      </p:sp>
      <p:sp>
        <p:nvSpPr>
          <p:cNvPr id="18" name="Shape 15"/>
          <p:cNvSpPr/>
          <p:nvPr/>
        </p:nvSpPr>
        <p:spPr>
          <a:xfrm>
            <a:off x="457200" y="3703320"/>
            <a:ext cx="8229600" cy="731520"/>
          </a:xfrm>
          <a:prstGeom prst="roundRect">
            <a:avLst>
              <a:gd name="adj" fmla="val 10000"/>
            </a:avLst>
          </a:prstGeom>
          <a:solidFill>
            <a:srgbClr val="EEF4F7"/>
          </a:solidFill>
          <a:ln w="12700">
            <a:solidFill>
              <a:srgbClr val="EEF4F7"/>
            </a:solidFill>
            <a:prstDash val="solid"/>
          </a:ln>
          <a:effectLst>
            <a:outerShdw sx="100000" sy="100000" kx="0" ky="0" algn="bl" rotWithShape="0" blurRad="101600" dist="25400" dir="5400000">
              <a:srgbClr val="000000">
                <a:alpha val="12000"/>
              </a:srgbClr>
            </a:outerShdw>
          </a:effectLst>
        </p:spPr>
      </p:sp>
      <p:sp>
        <p:nvSpPr>
          <p:cNvPr id="19" name="Shape 16"/>
          <p:cNvSpPr/>
          <p:nvPr/>
        </p:nvSpPr>
        <p:spPr>
          <a:xfrm>
            <a:off x="640080" y="3877056"/>
            <a:ext cx="384048" cy="384048"/>
          </a:xfrm>
          <a:prstGeom prst="ellipse">
            <a:avLst/>
          </a:prstGeom>
          <a:solidFill>
            <a:srgbClr val="F2A541"/>
          </a:solidFill>
          <a:ln w="12700">
            <a:solidFill>
              <a:srgbClr val="F2A541"/>
            </a:solidFill>
            <a:prstDash val="solid"/>
          </a:ln>
        </p:spPr>
      </p:sp>
      <p:sp>
        <p:nvSpPr>
          <p:cNvPr id="20" name="Text 17"/>
          <p:cNvSpPr txBox="1"/>
          <p:nvPr/>
        </p:nvSpPr>
        <p:spPr>
          <a:xfrm>
            <a:off x="640080" y="3877056"/>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4</a:t>
            </a:r>
            <a:endParaRPr lang="en-US" sz="1400" dirty="0"/>
          </a:p>
        </p:txBody>
      </p:sp>
      <p:sp>
        <p:nvSpPr>
          <p:cNvPr id="21" name="Text 18"/>
          <p:cNvSpPr txBox="1"/>
          <p:nvPr/>
        </p:nvSpPr>
        <p:spPr>
          <a:xfrm>
            <a:off x="1234440" y="3749040"/>
            <a:ext cx="7269480" cy="640080"/>
          </a:xfrm>
          <a:prstGeom prst="rect">
            <a:avLst/>
          </a:prstGeom>
          <a:noFill/>
          <a:ln/>
        </p:spPr>
        <p:txBody>
          <a:bodyPr wrap="square" lIns="0" tIns="0" rIns="0" bIns="0" rtlCol="0" anchor="ctr"/>
          <a:lstStyle/>
          <a:p>
            <a:pPr indent="0" marL="0">
              <a:buNone/>
            </a:pPr>
            <a:r>
              <a:rPr lang="en-US" sz="1500" dirty="0">
                <a:solidFill>
                  <a:srgbClr val="1F2937"/>
                </a:solidFill>
                <a:latin typeface="Calibri" pitchFamily="34" charset="0"/>
                <a:ea typeface="Calibri" pitchFamily="34" charset="-122"/>
                <a:cs typeface="Calibri" pitchFamily="34" charset="-120"/>
              </a:rPr>
              <a:t>Experiments showing dynamic approaches are necessary and that the proposal beats the baselines</a:t>
            </a:r>
            <a:endParaRPr lang="en-US" sz="15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640080"/>
          </a:xfrm>
          <a:prstGeom prst="rect">
            <a:avLst/>
          </a:prstGeom>
          <a:noFill/>
          <a:ln/>
        </p:spPr>
        <p:txBody>
          <a:bodyPr wrap="square" lIns="0" tIns="0" rIns="0" bIns="0" rtlCol="0" anchor="ctr"/>
          <a:lstStyle/>
          <a:p>
            <a:pPr indent="0" marL="0">
              <a:buNone/>
            </a:pPr>
            <a:r>
              <a:rPr lang="en-US" sz="2800" b="1" dirty="0">
                <a:solidFill>
                  <a:srgbClr val="14213D"/>
                </a:solidFill>
                <a:latin typeface="Cambria" pitchFamily="34" charset="0"/>
                <a:ea typeface="Cambria" pitchFamily="34" charset="-122"/>
                <a:cs typeface="Cambria" pitchFamily="34" charset="-120"/>
              </a:rPr>
              <a:t>System architecture: three tiers</a:t>
            </a:r>
            <a:endParaRPr lang="en-US" sz="2800" dirty="0"/>
          </a:p>
        </p:txBody>
      </p:sp>
      <p:sp>
        <p:nvSpPr>
          <p:cNvPr id="3" name="Text 1"/>
          <p:cNvSpPr txBox="1"/>
          <p:nvPr/>
        </p:nvSpPr>
        <p:spPr>
          <a:xfrm>
            <a:off x="457200" y="4754880"/>
            <a:ext cx="5486400" cy="22860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Nieto et al., J. Cloud Computing 13, 94 (2024)</a:t>
            </a:r>
            <a:endParaRPr lang="en-US" sz="900" dirty="0"/>
          </a:p>
        </p:txBody>
      </p:sp>
      <p:sp>
        <p:nvSpPr>
          <p:cNvPr id="4" name="Text 2"/>
          <p:cNvSpPr txBox="1"/>
          <p:nvPr/>
        </p:nvSpPr>
        <p:spPr>
          <a:xfrm>
            <a:off x="8229600" y="4754880"/>
            <a:ext cx="457200" cy="22860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7</a:t>
            </a:r>
            <a:endParaRPr lang="en-US" sz="900" dirty="0"/>
          </a:p>
        </p:txBody>
      </p:sp>
      <p:sp>
        <p:nvSpPr>
          <p:cNvPr id="6" name="Shape 3"/>
          <p:cNvSpPr/>
          <p:nvPr/>
        </p:nvSpPr>
        <p:spPr>
          <a:xfrm>
            <a:off x="457200" y="1234440"/>
            <a:ext cx="2103120" cy="2377440"/>
          </a:xfrm>
          <a:prstGeom prst="roundRect">
            <a:avLst>
              <a:gd name="adj" fmla="val 3478"/>
            </a:avLst>
          </a:prstGeom>
          <a:solidFill>
            <a:srgbClr val="EEF4F7"/>
          </a:solidFill>
          <a:ln w="12700">
            <a:solidFill>
              <a:srgbClr val="EEF4F7"/>
            </a:solidFill>
            <a:prstDash val="solid"/>
          </a:ln>
          <a:effectLst>
            <a:outerShdw sx="100000" sy="100000" kx="0" ky="0" algn="bl" rotWithShape="0" blurRad="101600" dist="25400" dir="5400000">
              <a:srgbClr val="000000">
                <a:alpha val="12000"/>
              </a:srgbClr>
            </a:outerShdw>
          </a:effectLst>
        </p:spPr>
      </p:sp>
      <p:sp>
        <p:nvSpPr>
          <p:cNvPr id="7" name="Text 4"/>
          <p:cNvSpPr txBox="1"/>
          <p:nvPr/>
        </p:nvSpPr>
        <p:spPr>
          <a:xfrm>
            <a:off x="457200" y="1298448"/>
            <a:ext cx="2103120" cy="320040"/>
          </a:xfrm>
          <a:prstGeom prst="rect">
            <a:avLst/>
          </a:prstGeom>
          <a:noFill/>
          <a:ln/>
        </p:spPr>
        <p:txBody>
          <a:bodyPr wrap="square" lIns="0" tIns="0" rIns="0" bIns="0" rtlCol="0" anchor="ctr"/>
          <a:lstStyle/>
          <a:p>
            <a:pPr algn="ctr" indent="0" marL="0">
              <a:buNone/>
            </a:pPr>
            <a:r>
              <a:rPr lang="en-US" sz="1400" b="1" dirty="0">
                <a:solidFill>
                  <a:srgbClr val="14213D"/>
                </a:solidFill>
                <a:latin typeface="Cambria" pitchFamily="34" charset="0"/>
                <a:ea typeface="Cambria" pitchFamily="34" charset="-122"/>
                <a:cs typeface="Cambria" pitchFamily="34" charset="-120"/>
              </a:rPr>
              <a:t>User Equipment</a:t>
            </a:r>
            <a:endParaRPr lang="en-US" sz="1400" dirty="0"/>
          </a:p>
        </p:txBody>
      </p:sp>
      <p:sp>
        <p:nvSpPr>
          <p:cNvPr id="8" name="Shape 5"/>
          <p:cNvSpPr/>
          <p:nvPr/>
        </p:nvSpPr>
        <p:spPr>
          <a:xfrm>
            <a:off x="777240" y="1783080"/>
            <a:ext cx="457200" cy="457200"/>
          </a:xfrm>
          <a:prstGeom prst="ellipse">
            <a:avLst/>
          </a:prstGeom>
          <a:solidFill>
            <a:srgbClr val="0E7C86"/>
          </a:solidFill>
          <a:ln w="12700">
            <a:solidFill>
              <a:srgbClr val="0E7C86"/>
            </a:solidFill>
            <a:prstDash val="solid"/>
          </a:ln>
        </p:spPr>
      </p:sp>
      <p:sp>
        <p:nvSpPr>
          <p:cNvPr id="9" name="Shape 6"/>
          <p:cNvSpPr/>
          <p:nvPr/>
        </p:nvSpPr>
        <p:spPr>
          <a:xfrm>
            <a:off x="1508760" y="1783080"/>
            <a:ext cx="457200" cy="457200"/>
          </a:xfrm>
          <a:prstGeom prst="ellipse">
            <a:avLst/>
          </a:prstGeom>
          <a:solidFill>
            <a:srgbClr val="0E7C86"/>
          </a:solidFill>
          <a:ln w="12700">
            <a:solidFill>
              <a:srgbClr val="0E7C86"/>
            </a:solidFill>
            <a:prstDash val="solid"/>
          </a:ln>
        </p:spPr>
      </p:sp>
      <p:sp>
        <p:nvSpPr>
          <p:cNvPr id="10" name="Shape 7"/>
          <p:cNvSpPr/>
          <p:nvPr/>
        </p:nvSpPr>
        <p:spPr>
          <a:xfrm>
            <a:off x="1143000" y="2331720"/>
            <a:ext cx="457200" cy="457200"/>
          </a:xfrm>
          <a:prstGeom prst="ellipse">
            <a:avLst/>
          </a:prstGeom>
          <a:solidFill>
            <a:srgbClr val="0E7C86"/>
          </a:solidFill>
          <a:ln w="12700">
            <a:solidFill>
              <a:srgbClr val="0E7C86"/>
            </a:solidFill>
            <a:prstDash val="solid"/>
          </a:ln>
        </p:spPr>
      </p:sp>
      <p:sp>
        <p:nvSpPr>
          <p:cNvPr id="11" name="Text 8"/>
          <p:cNvSpPr txBox="1"/>
          <p:nvPr/>
        </p:nvSpPr>
        <p:spPr>
          <a:xfrm>
            <a:off x="457200" y="2926080"/>
            <a:ext cx="2103120" cy="594360"/>
          </a:xfrm>
          <a:prstGeom prst="rect">
            <a:avLst/>
          </a:prstGeom>
          <a:noFill/>
          <a:ln/>
        </p:spPr>
        <p:txBody>
          <a:bodyPr wrap="square" lIns="0" tIns="0" rIns="0" bIns="0" rtlCol="0" anchor="ctr"/>
          <a:lstStyle/>
          <a:p>
            <a:pPr algn="ctr" indent="0" marL="0">
              <a:buNone/>
            </a:pPr>
            <a:r>
              <a:rPr lang="en-US" sz="1100" dirty="0">
                <a:solidFill>
                  <a:srgbClr val="1F2937"/>
                </a:solidFill>
                <a:latin typeface="Calibri" pitchFamily="34" charset="0"/>
                <a:ea typeface="Calibri" pitchFamily="34" charset="-122"/>
                <a:cs typeface="Calibri" pitchFamily="34" charset="-120"/>
              </a:rPr>
              <a:t>Battery, CPU 1.5 GHz</a:t>
            </a:r>
            <a:endParaRPr lang="en-US" sz="1100" dirty="0"/>
          </a:p>
          <a:p>
            <a:pPr algn="ctr" indent="0" marL="0">
              <a:buNone/>
            </a:pPr>
            <a:r>
              <a:rPr lang="en-US" sz="1100" dirty="0">
                <a:solidFill>
                  <a:srgbClr val="1F2937"/>
                </a:solidFill>
                <a:latin typeface="Calibri" pitchFamily="34" charset="0"/>
                <a:ea typeface="Calibri" pitchFamily="34" charset="-122"/>
                <a:cs typeface="Calibri" pitchFamily="34" charset="-120"/>
              </a:rPr>
              <a:t>α = 0: run locally</a:t>
            </a:r>
            <a:endParaRPr lang="en-US" sz="1100" dirty="0"/>
          </a:p>
        </p:txBody>
      </p:sp>
      <p:sp>
        <p:nvSpPr>
          <p:cNvPr id="12" name="Shape 9"/>
          <p:cNvSpPr/>
          <p:nvPr/>
        </p:nvSpPr>
        <p:spPr>
          <a:xfrm>
            <a:off x="3520440" y="1234440"/>
            <a:ext cx="2103120" cy="2377440"/>
          </a:xfrm>
          <a:prstGeom prst="roundRect">
            <a:avLst>
              <a:gd name="adj" fmla="val 3478"/>
            </a:avLst>
          </a:prstGeom>
          <a:solidFill>
            <a:srgbClr val="EEF4F7"/>
          </a:solidFill>
          <a:ln w="12700">
            <a:solidFill>
              <a:srgbClr val="EEF4F7"/>
            </a:solidFill>
            <a:prstDash val="solid"/>
          </a:ln>
          <a:effectLst>
            <a:outerShdw sx="100000" sy="100000" kx="0" ky="0" algn="bl" rotWithShape="0" blurRad="101600" dist="25400" dir="5400000">
              <a:srgbClr val="000000">
                <a:alpha val="12000"/>
              </a:srgbClr>
            </a:outerShdw>
          </a:effectLst>
        </p:spPr>
      </p:sp>
      <p:sp>
        <p:nvSpPr>
          <p:cNvPr id="13" name="Text 10"/>
          <p:cNvSpPr txBox="1"/>
          <p:nvPr/>
        </p:nvSpPr>
        <p:spPr>
          <a:xfrm>
            <a:off x="3520440" y="1298448"/>
            <a:ext cx="2103120" cy="320040"/>
          </a:xfrm>
          <a:prstGeom prst="rect">
            <a:avLst/>
          </a:prstGeom>
          <a:noFill/>
          <a:ln/>
        </p:spPr>
        <p:txBody>
          <a:bodyPr wrap="square" lIns="0" tIns="0" rIns="0" bIns="0" rtlCol="0" anchor="ctr"/>
          <a:lstStyle/>
          <a:p>
            <a:pPr algn="ctr" indent="0" marL="0">
              <a:buNone/>
            </a:pPr>
            <a:r>
              <a:rPr lang="en-US" sz="1400" b="1" dirty="0">
                <a:solidFill>
                  <a:srgbClr val="14213D"/>
                </a:solidFill>
                <a:latin typeface="Cambria" pitchFamily="34" charset="0"/>
                <a:ea typeface="Cambria" pitchFamily="34" charset="-122"/>
                <a:cs typeface="Cambria" pitchFamily="34" charset="-120"/>
              </a:rPr>
              <a:t>Base station + MEC</a:t>
            </a:r>
            <a:endParaRPr lang="en-US" sz="1400" dirty="0"/>
          </a:p>
        </p:txBody>
      </p:sp>
      <p:sp>
        <p:nvSpPr>
          <p:cNvPr id="14" name="Shape 11"/>
          <p:cNvSpPr/>
          <p:nvPr/>
        </p:nvSpPr>
        <p:spPr>
          <a:xfrm>
            <a:off x="4114800" y="1828800"/>
            <a:ext cx="914400" cy="822960"/>
          </a:xfrm>
          <a:prstGeom prst="roundRect">
            <a:avLst>
              <a:gd name="adj" fmla="val 6667"/>
            </a:avLst>
          </a:prstGeom>
          <a:solidFill>
            <a:srgbClr val="0E7C86"/>
          </a:solidFill>
          <a:ln w="12700">
            <a:solidFill>
              <a:srgbClr val="0E7C86"/>
            </a:solidFill>
            <a:prstDash val="solid"/>
          </a:ln>
        </p:spPr>
      </p:sp>
      <p:sp>
        <p:nvSpPr>
          <p:cNvPr id="15" name="Text 12"/>
          <p:cNvSpPr txBox="1"/>
          <p:nvPr/>
        </p:nvSpPr>
        <p:spPr>
          <a:xfrm>
            <a:off x="4114800" y="1828800"/>
            <a:ext cx="914400" cy="822960"/>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MEC</a:t>
            </a:r>
            <a:endParaRPr lang="en-US" sz="1400" dirty="0"/>
          </a:p>
        </p:txBody>
      </p:sp>
      <p:sp>
        <p:nvSpPr>
          <p:cNvPr id="16" name="Text 13"/>
          <p:cNvSpPr txBox="1"/>
          <p:nvPr/>
        </p:nvSpPr>
        <p:spPr>
          <a:xfrm>
            <a:off x="3520440" y="2926080"/>
            <a:ext cx="2103120" cy="594360"/>
          </a:xfrm>
          <a:prstGeom prst="rect">
            <a:avLst/>
          </a:prstGeom>
          <a:noFill/>
          <a:ln/>
        </p:spPr>
        <p:txBody>
          <a:bodyPr wrap="square" lIns="0" tIns="0" rIns="0" bIns="0" rtlCol="0" anchor="ctr"/>
          <a:lstStyle/>
          <a:p>
            <a:pPr algn="ctr" indent="0" marL="0">
              <a:buNone/>
            </a:pPr>
            <a:r>
              <a:rPr lang="en-US" sz="1100" dirty="0">
                <a:solidFill>
                  <a:srgbClr val="1F2937"/>
                </a:solidFill>
                <a:latin typeface="Calibri" pitchFamily="34" charset="0"/>
                <a:ea typeface="Calibri" pitchFamily="34" charset="-122"/>
                <a:cs typeface="Calibri" pitchFamily="34" charset="-120"/>
              </a:rPr>
              <a:t>10 GHz</a:t>
            </a:r>
            <a:endParaRPr lang="en-US" sz="1100" dirty="0"/>
          </a:p>
          <a:p>
            <a:pPr algn="ctr" indent="0" marL="0">
              <a:buNone/>
            </a:pPr>
            <a:r>
              <a:rPr lang="en-US" sz="1100" dirty="0">
                <a:solidFill>
                  <a:srgbClr val="1F2937"/>
                </a:solidFill>
                <a:latin typeface="Calibri" pitchFamily="34" charset="0"/>
                <a:ea typeface="Calibri" pitchFamily="34" charset="-122"/>
                <a:cs typeface="Calibri" pitchFamily="34" charset="-120"/>
              </a:rPr>
              <a:t>α = 1: offload to edge</a:t>
            </a:r>
            <a:endParaRPr lang="en-US" sz="1100" dirty="0"/>
          </a:p>
        </p:txBody>
      </p:sp>
      <p:sp>
        <p:nvSpPr>
          <p:cNvPr id="17" name="Shape 14"/>
          <p:cNvSpPr/>
          <p:nvPr/>
        </p:nvSpPr>
        <p:spPr>
          <a:xfrm>
            <a:off x="6583680" y="1234440"/>
            <a:ext cx="2103120" cy="2377440"/>
          </a:xfrm>
          <a:prstGeom prst="roundRect">
            <a:avLst>
              <a:gd name="adj" fmla="val 3478"/>
            </a:avLst>
          </a:prstGeom>
          <a:solidFill>
            <a:srgbClr val="14213D"/>
          </a:solidFill>
          <a:ln w="12700">
            <a:solidFill>
              <a:srgbClr val="14213D"/>
            </a:solidFill>
            <a:prstDash val="solid"/>
          </a:ln>
          <a:effectLst>
            <a:outerShdw sx="100000" sy="100000" kx="0" ky="0" algn="bl" rotWithShape="0" blurRad="101600" dist="25400" dir="5400000">
              <a:srgbClr val="000000">
                <a:alpha val="12000"/>
              </a:srgbClr>
            </a:outerShdw>
          </a:effectLst>
        </p:spPr>
      </p:sp>
      <p:sp>
        <p:nvSpPr>
          <p:cNvPr id="18" name="Text 15"/>
          <p:cNvSpPr txBox="1"/>
          <p:nvPr/>
        </p:nvSpPr>
        <p:spPr>
          <a:xfrm>
            <a:off x="6583680" y="1298448"/>
            <a:ext cx="2103120" cy="320040"/>
          </a:xfrm>
          <a:prstGeom prst="rect">
            <a:avLst/>
          </a:prstGeom>
          <a:noFill/>
          <a:ln/>
        </p:spPr>
        <p:txBody>
          <a:bodyPr wrap="square" lIns="0" tIns="0" rIns="0" bIns="0" rtlCol="0" anchor="ctr"/>
          <a:lstStyle/>
          <a:p>
            <a:pPr algn="ctr" indent="0" marL="0">
              <a:buNone/>
            </a:pPr>
            <a:r>
              <a:rPr lang="en-US" sz="1400" b="1" dirty="0">
                <a:solidFill>
                  <a:srgbClr val="F2A541"/>
                </a:solidFill>
                <a:latin typeface="Cambria" pitchFamily="34" charset="0"/>
                <a:ea typeface="Cambria" pitchFamily="34" charset="-122"/>
                <a:cs typeface="Cambria" pitchFamily="34" charset="-120"/>
              </a:rPr>
              <a:t>Cloud</a:t>
            </a:r>
            <a:endParaRPr lang="en-US" sz="1400" dirty="0"/>
          </a:p>
        </p:txBody>
      </p:sp>
      <p:sp>
        <p:nvSpPr>
          <p:cNvPr id="19" name="Shape 16"/>
          <p:cNvSpPr/>
          <p:nvPr/>
        </p:nvSpPr>
        <p:spPr>
          <a:xfrm>
            <a:off x="6995160" y="1783080"/>
            <a:ext cx="1280160" cy="914400"/>
          </a:xfrm>
          <a:prstGeom prst="cloud">
            <a:avLst/>
          </a:prstGeom>
          <a:solidFill>
            <a:srgbClr val="D8EFF0"/>
          </a:solidFill>
          <a:ln w="12700">
            <a:solidFill>
              <a:srgbClr val="D8EFF0"/>
            </a:solidFill>
            <a:prstDash val="solid"/>
          </a:ln>
        </p:spPr>
      </p:sp>
      <p:sp>
        <p:nvSpPr>
          <p:cNvPr id="20" name="Text 17"/>
          <p:cNvSpPr txBox="1"/>
          <p:nvPr/>
        </p:nvSpPr>
        <p:spPr>
          <a:xfrm>
            <a:off x="6583680" y="2926080"/>
            <a:ext cx="2103120" cy="594360"/>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50 GHz</a:t>
            </a:r>
            <a:endParaRPr lang="en-US" sz="1100" dirty="0"/>
          </a:p>
          <a:p>
            <a:pPr algn="ctr" indent="0" marL="0">
              <a:buNone/>
            </a:pPr>
            <a:r>
              <a:rPr lang="en-US" sz="1100" dirty="0">
                <a:solidFill>
                  <a:srgbClr val="FFFFFF"/>
                </a:solidFill>
                <a:latin typeface="Calibri" pitchFamily="34" charset="0"/>
                <a:ea typeface="Calibri" pitchFamily="34" charset="-122"/>
                <a:cs typeface="Calibri" pitchFamily="34" charset="-120"/>
              </a:rPr>
              <a:t>α = 2: offload to cloud</a:t>
            </a:r>
            <a:endParaRPr lang="en-US" sz="1100" dirty="0"/>
          </a:p>
        </p:txBody>
      </p:sp>
      <p:sp>
        <p:nvSpPr>
          <p:cNvPr id="21" name="Shape 18"/>
          <p:cNvSpPr/>
          <p:nvPr/>
        </p:nvSpPr>
        <p:spPr>
          <a:xfrm>
            <a:off x="2606040" y="2423160"/>
            <a:ext cx="868680" cy="0"/>
          </a:xfrm>
          <a:prstGeom prst="line">
            <a:avLst/>
          </a:prstGeom>
          <a:noFill/>
          <a:ln w="38100">
            <a:solidFill>
              <a:srgbClr val="F2A541"/>
            </a:solidFill>
            <a:prstDash val="solid"/>
            <a:tailEnd type="triangle"/>
          </a:ln>
        </p:spPr>
      </p:sp>
      <p:sp>
        <p:nvSpPr>
          <p:cNvPr id="22" name="Shape 19"/>
          <p:cNvSpPr/>
          <p:nvPr/>
        </p:nvSpPr>
        <p:spPr>
          <a:xfrm>
            <a:off x="5669280" y="2423160"/>
            <a:ext cx="868680" cy="0"/>
          </a:xfrm>
          <a:prstGeom prst="line">
            <a:avLst/>
          </a:prstGeom>
          <a:noFill/>
          <a:ln w="38100">
            <a:solidFill>
              <a:srgbClr val="F2A541"/>
            </a:solidFill>
            <a:prstDash val="solid"/>
            <a:tailEnd type="triangle"/>
          </a:ln>
        </p:spPr>
      </p:sp>
      <p:sp>
        <p:nvSpPr>
          <p:cNvPr id="23" name="Text 20"/>
          <p:cNvSpPr txBox="1"/>
          <p:nvPr/>
        </p:nvSpPr>
        <p:spPr>
          <a:xfrm>
            <a:off x="2286000" y="3703320"/>
            <a:ext cx="1737360" cy="502920"/>
          </a:xfrm>
          <a:prstGeom prst="rect">
            <a:avLst/>
          </a:prstGeom>
          <a:noFill/>
          <a:ln/>
        </p:spPr>
        <p:txBody>
          <a:bodyPr wrap="square" lIns="0" tIns="0" rIns="0" bIns="0" rtlCol="0" anchor="ctr"/>
          <a:lstStyle/>
          <a:p>
            <a:pPr algn="ctr" indent="0" marL="0">
              <a:buNone/>
            </a:pPr>
            <a:r>
              <a:rPr lang="en-US" sz="1200" dirty="0">
                <a:solidFill>
                  <a:srgbClr val="1F2937"/>
                </a:solidFill>
                <a:latin typeface="Calibri" pitchFamily="34" charset="0"/>
                <a:ea typeface="Calibri" pitchFamily="34" charset="-122"/>
                <a:cs typeface="Calibri" pitchFamily="34" charset="-120"/>
              </a:rPr>
              <a:t>Wireless link</a:t>
            </a:r>
            <a:endParaRPr lang="en-US" sz="1200" dirty="0"/>
          </a:p>
          <a:p>
            <a:pPr algn="ctr" indent="0" marL="0">
              <a:buNone/>
            </a:pPr>
            <a:r>
              <a:rPr lang="en-US" sz="1200" dirty="0">
                <a:solidFill>
                  <a:srgbClr val="1F2937"/>
                </a:solidFill>
                <a:latin typeface="Calibri" pitchFamily="34" charset="0"/>
                <a:ea typeface="Calibri" pitchFamily="34" charset="-122"/>
                <a:cs typeface="Calibri" pitchFamily="34" charset="-120"/>
              </a:rPr>
              <a:t>30-150 m</a:t>
            </a:r>
            <a:endParaRPr lang="en-US" sz="1200" dirty="0"/>
          </a:p>
        </p:txBody>
      </p:sp>
      <p:sp>
        <p:nvSpPr>
          <p:cNvPr id="24" name="Text 21"/>
          <p:cNvSpPr txBox="1"/>
          <p:nvPr/>
        </p:nvSpPr>
        <p:spPr>
          <a:xfrm>
            <a:off x="5349240" y="3703320"/>
            <a:ext cx="1737360" cy="502920"/>
          </a:xfrm>
          <a:prstGeom prst="rect">
            <a:avLst/>
          </a:prstGeom>
          <a:noFill/>
          <a:ln/>
        </p:spPr>
        <p:txBody>
          <a:bodyPr wrap="square" lIns="0" tIns="0" rIns="0" bIns="0" rtlCol="0" anchor="ctr"/>
          <a:lstStyle/>
          <a:p>
            <a:pPr algn="ctr" indent="0" marL="0">
              <a:buNone/>
            </a:pPr>
            <a:r>
              <a:rPr lang="en-US" sz="1200" dirty="0">
                <a:solidFill>
                  <a:srgbClr val="1F2937"/>
                </a:solidFill>
                <a:latin typeface="Calibri" pitchFamily="34" charset="0"/>
                <a:ea typeface="Calibri" pitchFamily="34" charset="-122"/>
                <a:cs typeface="Calibri" pitchFamily="34" charset="-120"/>
              </a:rPr>
              <a:t>Optical fiber</a:t>
            </a:r>
            <a:endParaRPr lang="en-US" sz="1200" dirty="0"/>
          </a:p>
          <a:p>
            <a:pPr algn="ctr" indent="0" marL="0">
              <a:buNone/>
            </a:pPr>
            <a:r>
              <a:rPr lang="en-US" sz="1200" dirty="0">
                <a:solidFill>
                  <a:srgbClr val="1F2937"/>
                </a:solidFill>
                <a:latin typeface="Calibri" pitchFamily="34" charset="0"/>
                <a:ea typeface="Calibri" pitchFamily="34" charset="-122"/>
                <a:cs typeface="Calibri" pitchFamily="34" charset="-120"/>
              </a:rPr>
              <a:t>50 km, 10 Tbps</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640080"/>
          </a:xfrm>
          <a:prstGeom prst="rect">
            <a:avLst/>
          </a:prstGeom>
          <a:noFill/>
          <a:ln/>
        </p:spPr>
        <p:txBody>
          <a:bodyPr wrap="square" lIns="0" tIns="0" rIns="0" bIns="0" rtlCol="0" anchor="ctr"/>
          <a:lstStyle/>
          <a:p>
            <a:pPr indent="0" marL="0">
              <a:buNone/>
            </a:pPr>
            <a:r>
              <a:rPr lang="en-US" sz="2800" b="1" dirty="0">
                <a:solidFill>
                  <a:srgbClr val="14213D"/>
                </a:solidFill>
                <a:latin typeface="Cambria" pitchFamily="34" charset="0"/>
                <a:ea typeface="Cambria" pitchFamily="34" charset="-122"/>
                <a:cs typeface="Cambria" pitchFamily="34" charset="-120"/>
              </a:rPr>
              <a:t>Task model: three task classes</a:t>
            </a:r>
            <a:endParaRPr lang="en-US" sz="2800" dirty="0"/>
          </a:p>
        </p:txBody>
      </p:sp>
      <p:sp>
        <p:nvSpPr>
          <p:cNvPr id="3" name="Text 1"/>
          <p:cNvSpPr txBox="1"/>
          <p:nvPr/>
        </p:nvSpPr>
        <p:spPr>
          <a:xfrm>
            <a:off x="457200" y="4754880"/>
            <a:ext cx="5486400" cy="22860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Nieto et al., J. Cloud Computing 13, 94 (2024)</a:t>
            </a:r>
            <a:endParaRPr lang="en-US" sz="900" dirty="0"/>
          </a:p>
        </p:txBody>
      </p:sp>
      <p:sp>
        <p:nvSpPr>
          <p:cNvPr id="4" name="Text 2"/>
          <p:cNvSpPr txBox="1"/>
          <p:nvPr/>
        </p:nvSpPr>
        <p:spPr>
          <a:xfrm>
            <a:off x="8229600" y="4754880"/>
            <a:ext cx="457200" cy="22860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8</a:t>
            </a:r>
            <a:endParaRPr lang="en-US" sz="900" dirty="0"/>
          </a:p>
        </p:txBody>
      </p:sp>
      <p:sp>
        <p:nvSpPr>
          <p:cNvPr id="6" name="Shape 3"/>
          <p:cNvSpPr/>
          <p:nvPr/>
        </p:nvSpPr>
        <p:spPr>
          <a:xfrm>
            <a:off x="457200" y="1097280"/>
            <a:ext cx="4206240" cy="914400"/>
          </a:xfrm>
          <a:prstGeom prst="roundRect">
            <a:avLst>
              <a:gd name="adj" fmla="val 8000"/>
            </a:avLst>
          </a:prstGeom>
          <a:solidFill>
            <a:srgbClr val="EEF4F7"/>
          </a:solidFill>
          <a:ln w="12700">
            <a:solidFill>
              <a:srgbClr val="EEF4F7"/>
            </a:solidFill>
            <a:prstDash val="solid"/>
          </a:ln>
          <a:effectLst>
            <a:outerShdw sx="100000" sy="100000" kx="0" ky="0" algn="bl" rotWithShape="0" blurRad="101600" dist="25400" dir="5400000">
              <a:srgbClr val="000000">
                <a:alpha val="12000"/>
              </a:srgbClr>
            </a:outerShdw>
          </a:effectLst>
        </p:spPr>
      </p:sp>
      <p:sp>
        <p:nvSpPr>
          <p:cNvPr id="7" name="Shape 4"/>
          <p:cNvSpPr/>
          <p:nvPr/>
        </p:nvSpPr>
        <p:spPr>
          <a:xfrm>
            <a:off x="640080" y="1362456"/>
            <a:ext cx="384048" cy="384048"/>
          </a:xfrm>
          <a:prstGeom prst="ellipse">
            <a:avLst/>
          </a:prstGeom>
          <a:solidFill>
            <a:srgbClr val="0E7C86"/>
          </a:solidFill>
          <a:ln w="12700">
            <a:solidFill>
              <a:srgbClr val="0E7C86"/>
            </a:solidFill>
            <a:prstDash val="solid"/>
          </a:ln>
        </p:spPr>
      </p:sp>
      <p:sp>
        <p:nvSpPr>
          <p:cNvPr id="8" name="Text 5"/>
          <p:cNvSpPr txBox="1"/>
          <p:nvPr/>
        </p:nvSpPr>
        <p:spPr>
          <a:xfrm>
            <a:off x="640080" y="1362456"/>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9" name="Text 6"/>
          <p:cNvSpPr txBox="1"/>
          <p:nvPr/>
        </p:nvSpPr>
        <p:spPr>
          <a:xfrm>
            <a:off x="1234440" y="1188720"/>
            <a:ext cx="3291840" cy="365760"/>
          </a:xfrm>
          <a:prstGeom prst="rect">
            <a:avLst/>
          </a:prstGeom>
          <a:noFill/>
          <a:ln/>
        </p:spPr>
        <p:txBody>
          <a:bodyPr wrap="square" lIns="0" tIns="0" rIns="0" bIns="0" rtlCol="0" anchor="ctr"/>
          <a:lstStyle/>
          <a:p>
            <a:pPr indent="0" marL="0">
              <a:buNone/>
            </a:pPr>
            <a:r>
              <a:rPr lang="en-US" sz="1400" b="1" dirty="0">
                <a:solidFill>
                  <a:srgbClr val="14213D"/>
                </a:solidFill>
                <a:latin typeface="Cambria" pitchFamily="34" charset="0"/>
                <a:ea typeface="Cambria" pitchFamily="34" charset="-122"/>
                <a:cs typeface="Cambria" pitchFamily="34" charset="-120"/>
              </a:rPr>
              <a:t>Class 1: delay-sensitive</a:t>
            </a:r>
            <a:endParaRPr lang="en-US" sz="1400" dirty="0"/>
          </a:p>
        </p:txBody>
      </p:sp>
      <p:sp>
        <p:nvSpPr>
          <p:cNvPr id="10" name="Text 7"/>
          <p:cNvSpPr txBox="1"/>
          <p:nvPr/>
        </p:nvSpPr>
        <p:spPr>
          <a:xfrm>
            <a:off x="1234440" y="1554480"/>
            <a:ext cx="3291840" cy="365760"/>
          </a:xfrm>
          <a:prstGeom prst="rect">
            <a:avLst/>
          </a:prstGeom>
          <a:noFill/>
          <a:ln/>
        </p:spPr>
        <p:txBody>
          <a:bodyPr wrap="square" lIns="0" tIns="0" rIns="0" bIns="0" rtlCol="0" anchor="ctr"/>
          <a:lstStyle/>
          <a:p>
            <a:pPr indent="0" marL="0">
              <a:buNone/>
            </a:pPr>
            <a:r>
              <a:rPr lang="en-US" sz="1200" dirty="0">
                <a:solidFill>
                  <a:srgbClr val="1F2937"/>
                </a:solidFill>
                <a:latin typeface="Calibri" pitchFamily="34" charset="0"/>
                <a:ea typeface="Calibri" pitchFamily="34" charset="-122"/>
                <a:cs typeface="Calibri" pitchFamily="34" charset="-120"/>
              </a:rPr>
              <a:t>Smart sensors. Deadline 10-50 ms</a:t>
            </a:r>
            <a:endParaRPr lang="en-US" sz="1200" dirty="0"/>
          </a:p>
        </p:txBody>
      </p:sp>
      <p:sp>
        <p:nvSpPr>
          <p:cNvPr id="11" name="Shape 8"/>
          <p:cNvSpPr/>
          <p:nvPr/>
        </p:nvSpPr>
        <p:spPr>
          <a:xfrm>
            <a:off x="457200" y="2194560"/>
            <a:ext cx="4206240" cy="914400"/>
          </a:xfrm>
          <a:prstGeom prst="roundRect">
            <a:avLst>
              <a:gd name="adj" fmla="val 8000"/>
            </a:avLst>
          </a:prstGeom>
          <a:solidFill>
            <a:srgbClr val="EEF4F7"/>
          </a:solidFill>
          <a:ln w="12700">
            <a:solidFill>
              <a:srgbClr val="EEF4F7"/>
            </a:solidFill>
            <a:prstDash val="solid"/>
          </a:ln>
          <a:effectLst>
            <a:outerShdw sx="100000" sy="100000" kx="0" ky="0" algn="bl" rotWithShape="0" blurRad="101600" dist="25400" dir="5400000">
              <a:srgbClr val="000000">
                <a:alpha val="12000"/>
              </a:srgbClr>
            </a:outerShdw>
          </a:effectLst>
        </p:spPr>
      </p:sp>
      <p:sp>
        <p:nvSpPr>
          <p:cNvPr id="12" name="Shape 9"/>
          <p:cNvSpPr/>
          <p:nvPr/>
        </p:nvSpPr>
        <p:spPr>
          <a:xfrm>
            <a:off x="640080" y="2459736"/>
            <a:ext cx="384048" cy="384048"/>
          </a:xfrm>
          <a:prstGeom prst="ellipse">
            <a:avLst/>
          </a:prstGeom>
          <a:solidFill>
            <a:srgbClr val="0E7C86"/>
          </a:solidFill>
          <a:ln w="12700">
            <a:solidFill>
              <a:srgbClr val="0E7C86"/>
            </a:solidFill>
            <a:prstDash val="solid"/>
          </a:ln>
        </p:spPr>
      </p:sp>
      <p:sp>
        <p:nvSpPr>
          <p:cNvPr id="13" name="Text 10"/>
          <p:cNvSpPr txBox="1"/>
          <p:nvPr/>
        </p:nvSpPr>
        <p:spPr>
          <a:xfrm>
            <a:off x="640080" y="2459736"/>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4" name="Text 11"/>
          <p:cNvSpPr txBox="1"/>
          <p:nvPr/>
        </p:nvSpPr>
        <p:spPr>
          <a:xfrm>
            <a:off x="1234440" y="2286000"/>
            <a:ext cx="3291840" cy="365760"/>
          </a:xfrm>
          <a:prstGeom prst="rect">
            <a:avLst/>
          </a:prstGeom>
          <a:noFill/>
          <a:ln/>
        </p:spPr>
        <p:txBody>
          <a:bodyPr wrap="square" lIns="0" tIns="0" rIns="0" bIns="0" rtlCol="0" anchor="ctr"/>
          <a:lstStyle/>
          <a:p>
            <a:pPr indent="0" marL="0">
              <a:buNone/>
            </a:pPr>
            <a:r>
              <a:rPr lang="en-US" sz="1400" b="1" dirty="0">
                <a:solidFill>
                  <a:srgbClr val="14213D"/>
                </a:solidFill>
                <a:latin typeface="Cambria" pitchFamily="34" charset="0"/>
                <a:ea typeface="Cambria" pitchFamily="34" charset="-122"/>
                <a:cs typeface="Cambria" pitchFamily="34" charset="-120"/>
              </a:rPr>
              <a:t>Class 2: energy-sensitive</a:t>
            </a:r>
            <a:endParaRPr lang="en-US" sz="1400" dirty="0"/>
          </a:p>
        </p:txBody>
      </p:sp>
      <p:sp>
        <p:nvSpPr>
          <p:cNvPr id="15" name="Text 12"/>
          <p:cNvSpPr txBox="1"/>
          <p:nvPr/>
        </p:nvSpPr>
        <p:spPr>
          <a:xfrm>
            <a:off x="1234440" y="2651760"/>
            <a:ext cx="3291840" cy="365760"/>
          </a:xfrm>
          <a:prstGeom prst="rect">
            <a:avLst/>
          </a:prstGeom>
          <a:noFill/>
          <a:ln/>
        </p:spPr>
        <p:txBody>
          <a:bodyPr wrap="square" lIns="0" tIns="0" rIns="0" bIns="0" rtlCol="0" anchor="ctr"/>
          <a:lstStyle/>
          <a:p>
            <a:pPr indent="0" marL="0">
              <a:buNone/>
            </a:pPr>
            <a:r>
              <a:rPr lang="en-US" sz="1200" dirty="0">
                <a:solidFill>
                  <a:srgbClr val="1F2937"/>
                </a:solidFill>
                <a:latin typeface="Calibri" pitchFamily="34" charset="0"/>
                <a:ea typeface="Calibri" pitchFamily="34" charset="-122"/>
                <a:cs typeface="Calibri" pitchFamily="34" charset="-120"/>
              </a:rPr>
              <a:t>AR applications. Deadline 50-500 ms</a:t>
            </a:r>
            <a:endParaRPr lang="en-US" sz="1200" dirty="0"/>
          </a:p>
        </p:txBody>
      </p:sp>
      <p:sp>
        <p:nvSpPr>
          <p:cNvPr id="16" name="Shape 13"/>
          <p:cNvSpPr/>
          <p:nvPr/>
        </p:nvSpPr>
        <p:spPr>
          <a:xfrm>
            <a:off x="457200" y="3291840"/>
            <a:ext cx="4206240" cy="914400"/>
          </a:xfrm>
          <a:prstGeom prst="roundRect">
            <a:avLst>
              <a:gd name="adj" fmla="val 8000"/>
            </a:avLst>
          </a:prstGeom>
          <a:solidFill>
            <a:srgbClr val="EEF4F7"/>
          </a:solidFill>
          <a:ln w="12700">
            <a:solidFill>
              <a:srgbClr val="EEF4F7"/>
            </a:solidFill>
            <a:prstDash val="solid"/>
          </a:ln>
          <a:effectLst>
            <a:outerShdw sx="100000" sy="100000" kx="0" ky="0" algn="bl" rotWithShape="0" blurRad="101600" dist="25400" dir="5400000">
              <a:srgbClr val="000000">
                <a:alpha val="12000"/>
              </a:srgbClr>
            </a:outerShdw>
          </a:effectLst>
        </p:spPr>
      </p:sp>
      <p:sp>
        <p:nvSpPr>
          <p:cNvPr id="17" name="Shape 14"/>
          <p:cNvSpPr/>
          <p:nvPr/>
        </p:nvSpPr>
        <p:spPr>
          <a:xfrm>
            <a:off x="640080" y="3557016"/>
            <a:ext cx="384048" cy="384048"/>
          </a:xfrm>
          <a:prstGeom prst="ellipse">
            <a:avLst/>
          </a:prstGeom>
          <a:solidFill>
            <a:srgbClr val="0E7C86"/>
          </a:solidFill>
          <a:ln w="12700">
            <a:solidFill>
              <a:srgbClr val="0E7C86"/>
            </a:solidFill>
            <a:prstDash val="solid"/>
          </a:ln>
        </p:spPr>
      </p:sp>
      <p:sp>
        <p:nvSpPr>
          <p:cNvPr id="18" name="Text 15"/>
          <p:cNvSpPr txBox="1"/>
          <p:nvPr/>
        </p:nvSpPr>
        <p:spPr>
          <a:xfrm>
            <a:off x="640080" y="3557016"/>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19" name="Text 16"/>
          <p:cNvSpPr txBox="1"/>
          <p:nvPr/>
        </p:nvSpPr>
        <p:spPr>
          <a:xfrm>
            <a:off x="1234440" y="3383280"/>
            <a:ext cx="3291840" cy="365760"/>
          </a:xfrm>
          <a:prstGeom prst="rect">
            <a:avLst/>
          </a:prstGeom>
          <a:noFill/>
          <a:ln/>
        </p:spPr>
        <p:txBody>
          <a:bodyPr wrap="square" lIns="0" tIns="0" rIns="0" bIns="0" rtlCol="0" anchor="ctr"/>
          <a:lstStyle/>
          <a:p>
            <a:pPr indent="0" marL="0">
              <a:buNone/>
            </a:pPr>
            <a:r>
              <a:rPr lang="en-US" sz="1400" b="1" dirty="0">
                <a:solidFill>
                  <a:srgbClr val="14213D"/>
                </a:solidFill>
                <a:latin typeface="Cambria" pitchFamily="34" charset="0"/>
                <a:ea typeface="Cambria" pitchFamily="34" charset="-122"/>
                <a:cs typeface="Cambria" pitchFamily="34" charset="-120"/>
              </a:rPr>
              <a:t>Class 3: insensitive</a:t>
            </a:r>
            <a:endParaRPr lang="en-US" sz="1400" dirty="0"/>
          </a:p>
        </p:txBody>
      </p:sp>
      <p:sp>
        <p:nvSpPr>
          <p:cNvPr id="20" name="Text 17"/>
          <p:cNvSpPr txBox="1"/>
          <p:nvPr/>
        </p:nvSpPr>
        <p:spPr>
          <a:xfrm>
            <a:off x="1234440" y="3749040"/>
            <a:ext cx="3291840" cy="365760"/>
          </a:xfrm>
          <a:prstGeom prst="rect">
            <a:avLst/>
          </a:prstGeom>
          <a:noFill/>
          <a:ln/>
        </p:spPr>
        <p:txBody>
          <a:bodyPr wrap="square" lIns="0" tIns="0" rIns="0" bIns="0" rtlCol="0" anchor="ctr"/>
          <a:lstStyle/>
          <a:p>
            <a:pPr indent="0" marL="0">
              <a:buNone/>
            </a:pPr>
            <a:r>
              <a:rPr lang="en-US" sz="1200" dirty="0">
                <a:solidFill>
                  <a:srgbClr val="1F2937"/>
                </a:solidFill>
                <a:latin typeface="Calibri" pitchFamily="34" charset="0"/>
                <a:ea typeface="Calibri" pitchFamily="34" charset="-122"/>
                <a:cs typeface="Calibri" pitchFamily="34" charset="-120"/>
              </a:rPr>
              <a:t>Smart-grid analytics. Deadline 0.5-2 s</a:t>
            </a:r>
            <a:endParaRPr lang="en-US" sz="1200" dirty="0"/>
          </a:p>
        </p:txBody>
      </p:sp>
      <p:graphicFrame>
        <p:nvGraphicFramePr>
          <p:cNvPr id="21" name="Chart 0" descr=""/>
          <p:cNvGraphicFramePr/>
          <p:nvPr/>
        </p:nvGraphicFramePr>
        <p:xfrm>
          <a:off x="4937760" y="1051560"/>
          <a:ext cx="3749040" cy="3429000"/>
        </p:xfrm>
        <a:graphic xmlns:a="http://schemas.openxmlformats.org/drawingml/2006/main">
          <a:graphicData uri="http://schemas.openxmlformats.org/drawingml/2006/chart">
            <c:chart xmlns:c="http://schemas.openxmlformats.org/drawingml/2006/chart" r:id="rId1"/>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640080"/>
          </a:xfrm>
          <a:prstGeom prst="rect">
            <a:avLst/>
          </a:prstGeom>
          <a:noFill/>
          <a:ln/>
        </p:spPr>
        <p:txBody>
          <a:bodyPr wrap="square" lIns="0" tIns="0" rIns="0" bIns="0" rtlCol="0" anchor="ctr"/>
          <a:lstStyle/>
          <a:p>
            <a:pPr indent="0" marL="0">
              <a:buNone/>
            </a:pPr>
            <a:r>
              <a:rPr lang="en-US" sz="2800" b="1" dirty="0">
                <a:solidFill>
                  <a:srgbClr val="14213D"/>
                </a:solidFill>
                <a:latin typeface="Cambria" pitchFamily="34" charset="0"/>
                <a:ea typeface="Cambria" pitchFamily="34" charset="-122"/>
                <a:cs typeface="Cambria" pitchFamily="34" charset="-120"/>
              </a:rPr>
              <a:t>Latency and energy models</a:t>
            </a:r>
            <a:endParaRPr lang="en-US" sz="2800" dirty="0"/>
          </a:p>
        </p:txBody>
      </p:sp>
      <p:sp>
        <p:nvSpPr>
          <p:cNvPr id="3" name="Text 1"/>
          <p:cNvSpPr txBox="1"/>
          <p:nvPr/>
        </p:nvSpPr>
        <p:spPr>
          <a:xfrm>
            <a:off x="457200" y="4754880"/>
            <a:ext cx="5486400" cy="22860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Nieto et al., J. Cloud Computing 13, 94 (2024)</a:t>
            </a:r>
            <a:endParaRPr lang="en-US" sz="900" dirty="0"/>
          </a:p>
        </p:txBody>
      </p:sp>
      <p:sp>
        <p:nvSpPr>
          <p:cNvPr id="4" name="Text 2"/>
          <p:cNvSpPr txBox="1"/>
          <p:nvPr/>
        </p:nvSpPr>
        <p:spPr>
          <a:xfrm>
            <a:off x="8229600" y="4754880"/>
            <a:ext cx="457200" cy="22860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9</a:t>
            </a:r>
            <a:endParaRPr lang="en-US" sz="900" dirty="0"/>
          </a:p>
        </p:txBody>
      </p:sp>
      <p:sp>
        <p:nvSpPr>
          <p:cNvPr id="6" name="Shape 3"/>
          <p:cNvSpPr/>
          <p:nvPr/>
        </p:nvSpPr>
        <p:spPr>
          <a:xfrm>
            <a:off x="457200" y="1097280"/>
            <a:ext cx="8229600" cy="777240"/>
          </a:xfrm>
          <a:prstGeom prst="roundRect">
            <a:avLst>
              <a:gd name="adj" fmla="val 9412"/>
            </a:avLst>
          </a:prstGeom>
          <a:solidFill>
            <a:srgbClr val="EEF4F7"/>
          </a:solidFill>
          <a:ln w="12700">
            <a:solidFill>
              <a:srgbClr val="EEF4F7"/>
            </a:solidFill>
            <a:prstDash val="solid"/>
          </a:ln>
          <a:effectLst>
            <a:outerShdw sx="100000" sy="100000" kx="0" ky="0" algn="bl" rotWithShape="0" blurRad="101600" dist="25400" dir="5400000">
              <a:srgbClr val="000000">
                <a:alpha val="12000"/>
              </a:srgbClr>
            </a:outerShdw>
          </a:effectLst>
        </p:spPr>
      </p:sp>
      <p:sp>
        <p:nvSpPr>
          <p:cNvPr id="7" name="Text 4"/>
          <p:cNvSpPr txBox="1"/>
          <p:nvPr/>
        </p:nvSpPr>
        <p:spPr>
          <a:xfrm>
            <a:off x="640080" y="1097280"/>
            <a:ext cx="1097280" cy="777240"/>
          </a:xfrm>
          <a:prstGeom prst="rect">
            <a:avLst/>
          </a:prstGeom>
          <a:noFill/>
          <a:ln/>
        </p:spPr>
        <p:txBody>
          <a:bodyPr wrap="square" lIns="0" tIns="0" rIns="0" bIns="0" rtlCol="0" anchor="ctr"/>
          <a:lstStyle/>
          <a:p>
            <a:pPr indent="0" marL="0">
              <a:buNone/>
            </a:pPr>
            <a:r>
              <a:rPr lang="en-US" sz="1600" b="1" dirty="0">
                <a:solidFill>
                  <a:srgbClr val="0E7C86"/>
                </a:solidFill>
                <a:latin typeface="Cambria" pitchFamily="34" charset="0"/>
                <a:ea typeface="Cambria" pitchFamily="34" charset="-122"/>
                <a:cs typeface="Cambria" pitchFamily="34" charset="-120"/>
              </a:rPr>
              <a:t>Local</a:t>
            </a:r>
            <a:endParaRPr lang="en-US" sz="1600" dirty="0"/>
          </a:p>
        </p:txBody>
      </p:sp>
      <p:sp>
        <p:nvSpPr>
          <p:cNvPr id="8" name="Text 5"/>
          <p:cNvSpPr txBox="1"/>
          <p:nvPr/>
        </p:nvSpPr>
        <p:spPr>
          <a:xfrm>
            <a:off x="1737360" y="1143000"/>
            <a:ext cx="4023360" cy="685800"/>
          </a:xfrm>
          <a:prstGeom prst="rect">
            <a:avLst/>
          </a:prstGeom>
          <a:noFill/>
          <a:ln/>
        </p:spPr>
        <p:txBody>
          <a:bodyPr wrap="square" lIns="0" tIns="0" rIns="0" bIns="0" rtlCol="0" anchor="ctr"/>
          <a:lstStyle/>
          <a:p>
            <a:pPr indent="0" marL="0">
              <a:buNone/>
            </a:pPr>
            <a:r>
              <a:rPr lang="en-US" sz="1300" dirty="0">
                <a:solidFill>
                  <a:srgbClr val="1F2937"/>
                </a:solidFill>
                <a:latin typeface="Calibri" pitchFamily="34" charset="0"/>
                <a:ea typeface="Calibri" pitchFamily="34" charset="-122"/>
                <a:cs typeface="Calibri" pitchFamily="34" charset="-120"/>
              </a:rPr>
              <a:t>Latency:  t = φ / f</a:t>
            </a:r>
            <a:endParaRPr lang="en-US" sz="1300" dirty="0"/>
          </a:p>
        </p:txBody>
      </p:sp>
      <p:sp>
        <p:nvSpPr>
          <p:cNvPr id="9" name="Text 6"/>
          <p:cNvSpPr txBox="1"/>
          <p:nvPr/>
        </p:nvSpPr>
        <p:spPr>
          <a:xfrm>
            <a:off x="5760720" y="1143000"/>
            <a:ext cx="2834640" cy="685800"/>
          </a:xfrm>
          <a:prstGeom prst="rect">
            <a:avLst/>
          </a:prstGeom>
          <a:noFill/>
          <a:ln/>
        </p:spPr>
        <p:txBody>
          <a:bodyPr wrap="square" lIns="0" tIns="0" rIns="0" bIns="0" rtlCol="0" anchor="ctr"/>
          <a:lstStyle/>
          <a:p>
            <a:pPr indent="0" marL="0">
              <a:buNone/>
            </a:pPr>
            <a:r>
              <a:rPr lang="en-US" sz="1300" dirty="0">
                <a:solidFill>
                  <a:srgbClr val="1F2937"/>
                </a:solidFill>
                <a:latin typeface="Calibri" pitchFamily="34" charset="0"/>
                <a:ea typeface="Calibri" pitchFamily="34" charset="-122"/>
                <a:cs typeface="Calibri" pitchFamily="34" charset="-120"/>
              </a:rPr>
              <a:t>Energy:  e = κ · f² · φ</a:t>
            </a:r>
            <a:endParaRPr lang="en-US" sz="1300" dirty="0"/>
          </a:p>
        </p:txBody>
      </p:sp>
      <p:sp>
        <p:nvSpPr>
          <p:cNvPr id="10" name="Shape 7"/>
          <p:cNvSpPr/>
          <p:nvPr/>
        </p:nvSpPr>
        <p:spPr>
          <a:xfrm>
            <a:off x="457200" y="2011680"/>
            <a:ext cx="8229600" cy="777240"/>
          </a:xfrm>
          <a:prstGeom prst="roundRect">
            <a:avLst>
              <a:gd name="adj" fmla="val 9412"/>
            </a:avLst>
          </a:prstGeom>
          <a:solidFill>
            <a:srgbClr val="EEF4F7"/>
          </a:solidFill>
          <a:ln w="12700">
            <a:solidFill>
              <a:srgbClr val="EEF4F7"/>
            </a:solidFill>
            <a:prstDash val="solid"/>
          </a:ln>
          <a:effectLst>
            <a:outerShdw sx="100000" sy="100000" kx="0" ky="0" algn="bl" rotWithShape="0" blurRad="101600" dist="25400" dir="5400000">
              <a:srgbClr val="000000">
                <a:alpha val="12000"/>
              </a:srgbClr>
            </a:outerShdw>
          </a:effectLst>
        </p:spPr>
      </p:sp>
      <p:sp>
        <p:nvSpPr>
          <p:cNvPr id="11" name="Text 8"/>
          <p:cNvSpPr txBox="1"/>
          <p:nvPr/>
        </p:nvSpPr>
        <p:spPr>
          <a:xfrm>
            <a:off x="640080" y="2011680"/>
            <a:ext cx="1097280" cy="777240"/>
          </a:xfrm>
          <a:prstGeom prst="rect">
            <a:avLst/>
          </a:prstGeom>
          <a:noFill/>
          <a:ln/>
        </p:spPr>
        <p:txBody>
          <a:bodyPr wrap="square" lIns="0" tIns="0" rIns="0" bIns="0" rtlCol="0" anchor="ctr"/>
          <a:lstStyle/>
          <a:p>
            <a:pPr indent="0" marL="0">
              <a:buNone/>
            </a:pPr>
            <a:r>
              <a:rPr lang="en-US" sz="1600" b="1" dirty="0">
                <a:solidFill>
                  <a:srgbClr val="0E7C86"/>
                </a:solidFill>
                <a:latin typeface="Cambria" pitchFamily="34" charset="0"/>
                <a:ea typeface="Cambria" pitchFamily="34" charset="-122"/>
                <a:cs typeface="Cambria" pitchFamily="34" charset="-120"/>
              </a:rPr>
              <a:t>MEC</a:t>
            </a:r>
            <a:endParaRPr lang="en-US" sz="1600" dirty="0"/>
          </a:p>
        </p:txBody>
      </p:sp>
      <p:sp>
        <p:nvSpPr>
          <p:cNvPr id="12" name="Text 9"/>
          <p:cNvSpPr txBox="1"/>
          <p:nvPr/>
        </p:nvSpPr>
        <p:spPr>
          <a:xfrm>
            <a:off x="1737360" y="2057400"/>
            <a:ext cx="4023360" cy="685800"/>
          </a:xfrm>
          <a:prstGeom prst="rect">
            <a:avLst/>
          </a:prstGeom>
          <a:noFill/>
          <a:ln/>
        </p:spPr>
        <p:txBody>
          <a:bodyPr wrap="square" lIns="0" tIns="0" rIns="0" bIns="0" rtlCol="0" anchor="ctr"/>
          <a:lstStyle/>
          <a:p>
            <a:pPr indent="0" marL="0">
              <a:buNone/>
            </a:pPr>
            <a:r>
              <a:rPr lang="en-US" sz="1300" dirty="0">
                <a:solidFill>
                  <a:srgbClr val="1F2937"/>
                </a:solidFill>
                <a:latin typeface="Calibri" pitchFamily="34" charset="0"/>
                <a:ea typeface="Calibri" pitchFamily="34" charset="-122"/>
                <a:cs typeface="Calibri" pitchFamily="34" charset="-120"/>
              </a:rPr>
              <a:t>Latency:  t = D / R + φ / f_MEC</a:t>
            </a:r>
            <a:endParaRPr lang="en-US" sz="1300" dirty="0"/>
          </a:p>
        </p:txBody>
      </p:sp>
      <p:sp>
        <p:nvSpPr>
          <p:cNvPr id="13" name="Text 10"/>
          <p:cNvSpPr txBox="1"/>
          <p:nvPr/>
        </p:nvSpPr>
        <p:spPr>
          <a:xfrm>
            <a:off x="5760720" y="2057400"/>
            <a:ext cx="2834640" cy="685800"/>
          </a:xfrm>
          <a:prstGeom prst="rect">
            <a:avLst/>
          </a:prstGeom>
          <a:noFill/>
          <a:ln/>
        </p:spPr>
        <p:txBody>
          <a:bodyPr wrap="square" lIns="0" tIns="0" rIns="0" bIns="0" rtlCol="0" anchor="ctr"/>
          <a:lstStyle/>
          <a:p>
            <a:pPr indent="0" marL="0">
              <a:buNone/>
            </a:pPr>
            <a:r>
              <a:rPr lang="en-US" sz="1300" dirty="0">
                <a:solidFill>
                  <a:srgbClr val="1F2937"/>
                </a:solidFill>
                <a:latin typeface="Calibri" pitchFamily="34" charset="0"/>
                <a:ea typeface="Calibri" pitchFamily="34" charset="-122"/>
                <a:cs typeface="Calibri" pitchFamily="34" charset="-120"/>
              </a:rPr>
              <a:t>Energy:  e = p · D / R</a:t>
            </a:r>
            <a:endParaRPr lang="en-US" sz="1300" dirty="0"/>
          </a:p>
        </p:txBody>
      </p:sp>
      <p:sp>
        <p:nvSpPr>
          <p:cNvPr id="14" name="Shape 11"/>
          <p:cNvSpPr/>
          <p:nvPr/>
        </p:nvSpPr>
        <p:spPr>
          <a:xfrm>
            <a:off x="457200" y="2926080"/>
            <a:ext cx="8229600" cy="777240"/>
          </a:xfrm>
          <a:prstGeom prst="roundRect">
            <a:avLst>
              <a:gd name="adj" fmla="val 9412"/>
            </a:avLst>
          </a:prstGeom>
          <a:solidFill>
            <a:srgbClr val="EEF4F7"/>
          </a:solidFill>
          <a:ln w="12700">
            <a:solidFill>
              <a:srgbClr val="EEF4F7"/>
            </a:solidFill>
            <a:prstDash val="solid"/>
          </a:ln>
          <a:effectLst>
            <a:outerShdw sx="100000" sy="100000" kx="0" ky="0" algn="bl" rotWithShape="0" blurRad="101600" dist="25400" dir="5400000">
              <a:srgbClr val="000000">
                <a:alpha val="12000"/>
              </a:srgbClr>
            </a:outerShdw>
          </a:effectLst>
        </p:spPr>
      </p:sp>
      <p:sp>
        <p:nvSpPr>
          <p:cNvPr id="15" name="Text 12"/>
          <p:cNvSpPr txBox="1"/>
          <p:nvPr/>
        </p:nvSpPr>
        <p:spPr>
          <a:xfrm>
            <a:off x="640080" y="2926080"/>
            <a:ext cx="1097280" cy="777240"/>
          </a:xfrm>
          <a:prstGeom prst="rect">
            <a:avLst/>
          </a:prstGeom>
          <a:noFill/>
          <a:ln/>
        </p:spPr>
        <p:txBody>
          <a:bodyPr wrap="square" lIns="0" tIns="0" rIns="0" bIns="0" rtlCol="0" anchor="ctr"/>
          <a:lstStyle/>
          <a:p>
            <a:pPr indent="0" marL="0">
              <a:buNone/>
            </a:pPr>
            <a:r>
              <a:rPr lang="en-US" sz="1600" b="1" dirty="0">
                <a:solidFill>
                  <a:srgbClr val="0E7C86"/>
                </a:solidFill>
                <a:latin typeface="Cambria" pitchFamily="34" charset="0"/>
                <a:ea typeface="Cambria" pitchFamily="34" charset="-122"/>
                <a:cs typeface="Cambria" pitchFamily="34" charset="-120"/>
              </a:rPr>
              <a:t>Cloud</a:t>
            </a:r>
            <a:endParaRPr lang="en-US" sz="1600" dirty="0"/>
          </a:p>
        </p:txBody>
      </p:sp>
      <p:sp>
        <p:nvSpPr>
          <p:cNvPr id="16" name="Text 13"/>
          <p:cNvSpPr txBox="1"/>
          <p:nvPr/>
        </p:nvSpPr>
        <p:spPr>
          <a:xfrm>
            <a:off x="1737360" y="2971800"/>
            <a:ext cx="4023360" cy="685800"/>
          </a:xfrm>
          <a:prstGeom prst="rect">
            <a:avLst/>
          </a:prstGeom>
          <a:noFill/>
          <a:ln/>
        </p:spPr>
        <p:txBody>
          <a:bodyPr wrap="square" lIns="0" tIns="0" rIns="0" bIns="0" rtlCol="0" anchor="ctr"/>
          <a:lstStyle/>
          <a:p>
            <a:pPr indent="0" marL="0">
              <a:buNone/>
            </a:pPr>
            <a:r>
              <a:rPr lang="en-US" sz="1300" dirty="0">
                <a:solidFill>
                  <a:srgbClr val="1F2937"/>
                </a:solidFill>
                <a:latin typeface="Calibri" pitchFamily="34" charset="0"/>
                <a:ea typeface="Calibri" pitchFamily="34" charset="-122"/>
                <a:cs typeface="Calibri" pitchFamily="34" charset="-120"/>
              </a:rPr>
              <a:t>Latency:  t = D / R + fiber delay + φ / f_cloud</a:t>
            </a:r>
            <a:endParaRPr lang="en-US" sz="1300" dirty="0"/>
          </a:p>
        </p:txBody>
      </p:sp>
      <p:sp>
        <p:nvSpPr>
          <p:cNvPr id="17" name="Text 14"/>
          <p:cNvSpPr txBox="1"/>
          <p:nvPr/>
        </p:nvSpPr>
        <p:spPr>
          <a:xfrm>
            <a:off x="5760720" y="2971800"/>
            <a:ext cx="2834640" cy="685800"/>
          </a:xfrm>
          <a:prstGeom prst="rect">
            <a:avLst/>
          </a:prstGeom>
          <a:noFill/>
          <a:ln/>
        </p:spPr>
        <p:txBody>
          <a:bodyPr wrap="square" lIns="0" tIns="0" rIns="0" bIns="0" rtlCol="0" anchor="ctr"/>
          <a:lstStyle/>
          <a:p>
            <a:pPr indent="0" marL="0">
              <a:buNone/>
            </a:pPr>
            <a:r>
              <a:rPr lang="en-US" sz="1300" dirty="0">
                <a:solidFill>
                  <a:srgbClr val="1F2937"/>
                </a:solidFill>
                <a:latin typeface="Calibri" pitchFamily="34" charset="0"/>
                <a:ea typeface="Calibri" pitchFamily="34" charset="-122"/>
                <a:cs typeface="Calibri" pitchFamily="34" charset="-120"/>
              </a:rPr>
              <a:t>Energy:  e = p · D / R  (same as MEC)</a:t>
            </a:r>
            <a:endParaRPr lang="en-US" sz="1300" dirty="0"/>
          </a:p>
        </p:txBody>
      </p:sp>
      <p:sp>
        <p:nvSpPr>
          <p:cNvPr id="18" name="Text 15"/>
          <p:cNvSpPr txBox="1"/>
          <p:nvPr/>
        </p:nvSpPr>
        <p:spPr>
          <a:xfrm>
            <a:off x="457200" y="3931920"/>
            <a:ext cx="8229600" cy="548640"/>
          </a:xfrm>
          <a:prstGeom prst="rect">
            <a:avLst/>
          </a:prstGeom>
          <a:noFill/>
          <a:ln/>
        </p:spPr>
        <p:txBody>
          <a:bodyPr wrap="square" lIns="0" tIns="0" rIns="0" bIns="0" rtlCol="0" anchor="ctr"/>
          <a:lstStyle/>
          <a:p>
            <a:pPr indent="0" marL="0">
              <a:buNone/>
            </a:pPr>
            <a:r>
              <a:rPr lang="en-US" sz="1200" i="1" dirty="0">
                <a:solidFill>
                  <a:srgbClr val="6B7280"/>
                </a:solidFill>
                <a:latin typeface="Calibri" pitchFamily="34" charset="0"/>
                <a:ea typeface="Calibri" pitchFamily="34" charset="-122"/>
                <a:cs typeface="Calibri" pitchFamily="34" charset="-120"/>
              </a:rPr>
              <a:t>R = W · log₂(1 + p·h / N₀) is the uplink rate; channel gain h follows the 3GPP TR 38.901 indoor model (path loss + 5.9 dB shadow fading).</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640080"/>
          </a:xfrm>
          <a:prstGeom prst="rect">
            <a:avLst/>
          </a:prstGeom>
          <a:noFill/>
          <a:ln/>
        </p:spPr>
        <p:txBody>
          <a:bodyPr wrap="square" lIns="0" tIns="0" rIns="0" bIns="0" rtlCol="0" anchor="ctr"/>
          <a:lstStyle/>
          <a:p>
            <a:pPr indent="0" marL="0">
              <a:buNone/>
            </a:pPr>
            <a:r>
              <a:rPr lang="en-US" sz="2800" b="1" dirty="0">
                <a:solidFill>
                  <a:srgbClr val="14213D"/>
                </a:solidFill>
                <a:latin typeface="Cambria" pitchFamily="34" charset="0"/>
                <a:ea typeface="Cambria" pitchFamily="34" charset="-122"/>
                <a:cs typeface="Cambria" pitchFamily="34" charset="-120"/>
              </a:rPr>
              <a:t>DRL formulation: state, action, reward</a:t>
            </a:r>
            <a:endParaRPr lang="en-US" sz="2800" dirty="0"/>
          </a:p>
        </p:txBody>
      </p:sp>
      <p:sp>
        <p:nvSpPr>
          <p:cNvPr id="3" name="Text 1"/>
          <p:cNvSpPr txBox="1"/>
          <p:nvPr/>
        </p:nvSpPr>
        <p:spPr>
          <a:xfrm>
            <a:off x="457200" y="4754880"/>
            <a:ext cx="5486400" cy="22860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Nieto et al., J. Cloud Computing 13, 94 (2024)</a:t>
            </a:r>
            <a:endParaRPr lang="en-US" sz="900" dirty="0"/>
          </a:p>
        </p:txBody>
      </p:sp>
      <p:sp>
        <p:nvSpPr>
          <p:cNvPr id="4" name="Text 2"/>
          <p:cNvSpPr txBox="1"/>
          <p:nvPr/>
        </p:nvSpPr>
        <p:spPr>
          <a:xfrm>
            <a:off x="8229600" y="4754880"/>
            <a:ext cx="457200" cy="22860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10</a:t>
            </a:r>
            <a:endParaRPr lang="en-US" sz="900" dirty="0"/>
          </a:p>
        </p:txBody>
      </p:sp>
      <p:sp>
        <p:nvSpPr>
          <p:cNvPr id="6" name="Shape 3"/>
          <p:cNvSpPr/>
          <p:nvPr/>
        </p:nvSpPr>
        <p:spPr>
          <a:xfrm>
            <a:off x="457200" y="1097280"/>
            <a:ext cx="2606040" cy="2743200"/>
          </a:xfrm>
          <a:prstGeom prst="roundRect">
            <a:avLst>
              <a:gd name="adj" fmla="val 2807"/>
            </a:avLst>
          </a:prstGeom>
          <a:solidFill>
            <a:srgbClr val="EEF4F7"/>
          </a:solidFill>
          <a:ln w="12700">
            <a:solidFill>
              <a:srgbClr val="EEF4F7"/>
            </a:solidFill>
            <a:prstDash val="solid"/>
          </a:ln>
          <a:effectLst>
            <a:outerShdw sx="100000" sy="100000" kx="0" ky="0" algn="bl" rotWithShape="0" blurRad="101600" dist="25400" dir="5400000">
              <a:srgbClr val="000000">
                <a:alpha val="12000"/>
              </a:srgbClr>
            </a:outerShdw>
          </a:effectLst>
        </p:spPr>
      </p:sp>
      <p:sp>
        <p:nvSpPr>
          <p:cNvPr id="7" name="Text 4"/>
          <p:cNvSpPr txBox="1"/>
          <p:nvPr/>
        </p:nvSpPr>
        <p:spPr>
          <a:xfrm>
            <a:off x="640080" y="1234440"/>
            <a:ext cx="2240280" cy="411480"/>
          </a:xfrm>
          <a:prstGeom prst="rect">
            <a:avLst/>
          </a:prstGeom>
          <a:noFill/>
          <a:ln/>
        </p:spPr>
        <p:txBody>
          <a:bodyPr wrap="square" lIns="0" tIns="0" rIns="0" bIns="0" rtlCol="0" anchor="ctr"/>
          <a:lstStyle/>
          <a:p>
            <a:pPr indent="0" marL="0">
              <a:buNone/>
            </a:pPr>
            <a:r>
              <a:rPr lang="en-US" sz="1600" b="1" dirty="0">
                <a:solidFill>
                  <a:srgbClr val="14213D"/>
                </a:solidFill>
                <a:latin typeface="Cambria" pitchFamily="34" charset="0"/>
                <a:ea typeface="Cambria" pitchFamily="34" charset="-122"/>
                <a:cs typeface="Cambria" pitchFamily="34" charset="-120"/>
              </a:rPr>
              <a:t>State (6 values)</a:t>
            </a:r>
            <a:endParaRPr lang="en-US" sz="1600" dirty="0"/>
          </a:p>
        </p:txBody>
      </p:sp>
      <p:sp>
        <p:nvSpPr>
          <p:cNvPr id="8" name="Text 5"/>
          <p:cNvSpPr txBox="1"/>
          <p:nvPr/>
        </p:nvSpPr>
        <p:spPr>
          <a:xfrm>
            <a:off x="640080" y="1737360"/>
            <a:ext cx="2240280" cy="2011680"/>
          </a:xfrm>
          <a:prstGeom prst="rect">
            <a:avLst/>
          </a:prstGeom>
          <a:noFill/>
          <a:ln/>
        </p:spPr>
        <p:txBody>
          <a:bodyPr wrap="square" lIns="0" tIns="0" rIns="0" bIns="0" rtlCol="0" anchor="t"/>
          <a:lstStyle/>
          <a:p>
            <a:pPr indent="0" marL="0">
              <a:spcAft>
                <a:spcPts val="300"/>
              </a:spcAft>
              <a:buNone/>
            </a:pPr>
            <a:r>
              <a:rPr lang="en-US" sz="1300" dirty="0">
                <a:solidFill>
                  <a:srgbClr val="1F2937"/>
                </a:solidFill>
                <a:latin typeface="Calibri" pitchFamily="34" charset="0"/>
                <a:ea typeface="Calibri" pitchFamily="34" charset="-122"/>
                <a:cs typeface="Calibri" pitchFamily="34" charset="-120"/>
              </a:rPr>
              <a:t>Battery level</a:t>
            </a:r>
            <a:endParaRPr lang="en-US" sz="1300" dirty="0"/>
          </a:p>
          <a:p>
            <a:pPr indent="0" marL="0">
              <a:spcAft>
                <a:spcPts val="300"/>
              </a:spcAft>
              <a:buNone/>
            </a:pPr>
            <a:r>
              <a:rPr lang="en-US" sz="1300" dirty="0">
                <a:solidFill>
                  <a:srgbClr val="1F2937"/>
                </a:solidFill>
                <a:latin typeface="Calibri" pitchFamily="34" charset="0"/>
                <a:ea typeface="Calibri" pitchFamily="34" charset="-122"/>
                <a:cs typeface="Calibri" pitchFamily="34" charset="-120"/>
              </a:rPr>
              <a:t>UE free resources</a:t>
            </a:r>
            <a:endParaRPr lang="en-US" sz="1300" dirty="0"/>
          </a:p>
          <a:p>
            <a:pPr indent="0" marL="0">
              <a:spcAft>
                <a:spcPts val="300"/>
              </a:spcAft>
              <a:buNone/>
            </a:pPr>
            <a:r>
              <a:rPr lang="en-US" sz="1300" dirty="0">
                <a:solidFill>
                  <a:srgbClr val="1F2937"/>
                </a:solidFill>
                <a:latin typeface="Calibri" pitchFamily="34" charset="0"/>
                <a:ea typeface="Calibri" pitchFamily="34" charset="-122"/>
                <a:cs typeface="Calibri" pitchFamily="34" charset="-120"/>
              </a:rPr>
              <a:t>MEC free resources</a:t>
            </a:r>
            <a:endParaRPr lang="en-US" sz="1300" dirty="0"/>
          </a:p>
          <a:p>
            <a:pPr indent="0" marL="0">
              <a:spcAft>
                <a:spcPts val="300"/>
              </a:spcAft>
              <a:buNone/>
            </a:pPr>
            <a:r>
              <a:rPr lang="en-US" sz="1300" dirty="0">
                <a:solidFill>
                  <a:srgbClr val="1F2937"/>
                </a:solidFill>
                <a:latin typeface="Calibri" pitchFamily="34" charset="0"/>
                <a:ea typeface="Calibri" pitchFamily="34" charset="-122"/>
                <a:cs typeface="Calibri" pitchFamily="34" charset="-120"/>
              </a:rPr>
              <a:t>Cloud free resources</a:t>
            </a:r>
            <a:endParaRPr lang="en-US" sz="1300" dirty="0"/>
          </a:p>
          <a:p>
            <a:pPr indent="0" marL="0">
              <a:spcAft>
                <a:spcPts val="300"/>
              </a:spcAft>
              <a:buNone/>
            </a:pPr>
            <a:r>
              <a:rPr lang="en-US" sz="1300" dirty="0">
                <a:solidFill>
                  <a:srgbClr val="1F2937"/>
                </a:solidFill>
                <a:latin typeface="Calibri" pitchFamily="34" charset="0"/>
                <a:ea typeface="Calibri" pitchFamily="34" charset="-122"/>
                <a:cs typeface="Calibri" pitchFamily="34" charset="-120"/>
              </a:rPr>
              <a:t>Channel gain</a:t>
            </a:r>
            <a:endParaRPr lang="en-US" sz="1300" dirty="0"/>
          </a:p>
          <a:p>
            <a:pPr indent="0" marL="0">
              <a:spcAft>
                <a:spcPts val="300"/>
              </a:spcAft>
              <a:buNone/>
            </a:pPr>
            <a:r>
              <a:rPr lang="en-US" sz="1300" dirty="0">
                <a:solidFill>
                  <a:srgbClr val="1F2937"/>
                </a:solidFill>
                <a:latin typeface="Calibri" pitchFamily="34" charset="0"/>
                <a:ea typeface="Calibri" pitchFamily="34" charset="-122"/>
                <a:cs typeface="Calibri" pitchFamily="34" charset="-120"/>
              </a:rPr>
              <a:t>Task class</a:t>
            </a:r>
            <a:endParaRPr lang="en-US" sz="1300" dirty="0"/>
          </a:p>
        </p:txBody>
      </p:sp>
      <p:sp>
        <p:nvSpPr>
          <p:cNvPr id="9" name="Shape 6"/>
          <p:cNvSpPr/>
          <p:nvPr/>
        </p:nvSpPr>
        <p:spPr>
          <a:xfrm>
            <a:off x="3246120" y="1097280"/>
            <a:ext cx="2606040" cy="2743200"/>
          </a:xfrm>
          <a:prstGeom prst="roundRect">
            <a:avLst>
              <a:gd name="adj" fmla="val 2807"/>
            </a:avLst>
          </a:prstGeom>
          <a:solidFill>
            <a:srgbClr val="14213D"/>
          </a:solidFill>
          <a:ln w="12700">
            <a:solidFill>
              <a:srgbClr val="14213D"/>
            </a:solidFill>
            <a:prstDash val="solid"/>
          </a:ln>
          <a:effectLst>
            <a:outerShdw sx="100000" sy="100000" kx="0" ky="0" algn="bl" rotWithShape="0" blurRad="101600" dist="25400" dir="5400000">
              <a:srgbClr val="000000">
                <a:alpha val="12000"/>
              </a:srgbClr>
            </a:outerShdw>
          </a:effectLst>
        </p:spPr>
      </p:sp>
      <p:sp>
        <p:nvSpPr>
          <p:cNvPr id="10" name="Text 7"/>
          <p:cNvSpPr txBox="1"/>
          <p:nvPr/>
        </p:nvSpPr>
        <p:spPr>
          <a:xfrm>
            <a:off x="3429000" y="1234440"/>
            <a:ext cx="2240280" cy="411480"/>
          </a:xfrm>
          <a:prstGeom prst="rect">
            <a:avLst/>
          </a:prstGeom>
          <a:noFill/>
          <a:ln/>
        </p:spPr>
        <p:txBody>
          <a:bodyPr wrap="square" lIns="0" tIns="0" rIns="0" bIns="0" rtlCol="0" anchor="ctr"/>
          <a:lstStyle/>
          <a:p>
            <a:pPr indent="0" marL="0">
              <a:buNone/>
            </a:pPr>
            <a:r>
              <a:rPr lang="en-US" sz="1600" b="1" dirty="0">
                <a:solidFill>
                  <a:srgbClr val="F2A541"/>
                </a:solidFill>
                <a:latin typeface="Cambria" pitchFamily="34" charset="0"/>
                <a:ea typeface="Cambria" pitchFamily="34" charset="-122"/>
                <a:cs typeface="Cambria" pitchFamily="34" charset="-120"/>
              </a:rPr>
              <a:t>Action (3 choices)</a:t>
            </a:r>
            <a:endParaRPr lang="en-US" sz="1600" dirty="0"/>
          </a:p>
        </p:txBody>
      </p:sp>
      <p:sp>
        <p:nvSpPr>
          <p:cNvPr id="11" name="Text 8"/>
          <p:cNvSpPr txBox="1"/>
          <p:nvPr/>
        </p:nvSpPr>
        <p:spPr>
          <a:xfrm>
            <a:off x="3429000" y="1737360"/>
            <a:ext cx="2240280" cy="2011680"/>
          </a:xfrm>
          <a:prstGeom prst="rect">
            <a:avLst/>
          </a:prstGeom>
          <a:noFill/>
          <a:ln/>
        </p:spPr>
        <p:txBody>
          <a:bodyPr wrap="square" lIns="0" tIns="0" rIns="0" bIns="0" rtlCol="0" anchor="t"/>
          <a:lstStyle/>
          <a:p>
            <a:pPr indent="0" marL="0">
              <a:spcAft>
                <a:spcPts val="300"/>
              </a:spcAft>
              <a:buNone/>
            </a:pPr>
            <a:r>
              <a:rPr lang="en-US" sz="1300" dirty="0">
                <a:solidFill>
                  <a:srgbClr val="FFFFFF"/>
                </a:solidFill>
                <a:latin typeface="Calibri" pitchFamily="34" charset="0"/>
                <a:ea typeface="Calibri" pitchFamily="34" charset="-122"/>
                <a:cs typeface="Calibri" pitchFamily="34" charset="-120"/>
              </a:rPr>
              <a:t>0 = execute locally</a:t>
            </a:r>
            <a:endParaRPr lang="en-US" sz="1300" dirty="0"/>
          </a:p>
          <a:p>
            <a:pPr indent="0" marL="0">
              <a:spcAft>
                <a:spcPts val="300"/>
              </a:spcAft>
              <a:buNone/>
            </a:pPr>
            <a:r>
              <a:rPr lang="en-US" sz="1300" dirty="0">
                <a:solidFill>
                  <a:srgbClr val="FFFFFF"/>
                </a:solidFill>
                <a:latin typeface="Calibri" pitchFamily="34" charset="0"/>
                <a:ea typeface="Calibri" pitchFamily="34" charset="-122"/>
                <a:cs typeface="Calibri" pitchFamily="34" charset="-120"/>
              </a:rPr>
              <a:t>1 = offload to MEC</a:t>
            </a:r>
            <a:endParaRPr lang="en-US" sz="1300" dirty="0"/>
          </a:p>
          <a:p>
            <a:pPr indent="0" marL="0">
              <a:spcAft>
                <a:spcPts val="300"/>
              </a:spcAft>
              <a:buNone/>
            </a:pPr>
            <a:r>
              <a:rPr lang="en-US" sz="1300" dirty="0">
                <a:solidFill>
                  <a:srgbClr val="FFFFFF"/>
                </a:solidFill>
                <a:latin typeface="Calibri" pitchFamily="34" charset="0"/>
                <a:ea typeface="Calibri" pitchFamily="34" charset="-122"/>
                <a:cs typeface="Calibri" pitchFamily="34" charset="-120"/>
              </a:rPr>
              <a:t>2 = offload to cloud</a:t>
            </a:r>
            <a:endParaRPr lang="en-US" sz="1300" dirty="0"/>
          </a:p>
        </p:txBody>
      </p:sp>
      <p:sp>
        <p:nvSpPr>
          <p:cNvPr id="12" name="Shape 9"/>
          <p:cNvSpPr/>
          <p:nvPr/>
        </p:nvSpPr>
        <p:spPr>
          <a:xfrm>
            <a:off x="6035040" y="1097280"/>
            <a:ext cx="2606040" cy="2743200"/>
          </a:xfrm>
          <a:prstGeom prst="roundRect">
            <a:avLst>
              <a:gd name="adj" fmla="val 2807"/>
            </a:avLst>
          </a:prstGeom>
          <a:solidFill>
            <a:srgbClr val="EEF4F7"/>
          </a:solidFill>
          <a:ln w="12700">
            <a:solidFill>
              <a:srgbClr val="EEF4F7"/>
            </a:solidFill>
            <a:prstDash val="solid"/>
          </a:ln>
          <a:effectLst>
            <a:outerShdw sx="100000" sy="100000" kx="0" ky="0" algn="bl" rotWithShape="0" blurRad="101600" dist="25400" dir="5400000">
              <a:srgbClr val="000000">
                <a:alpha val="12000"/>
              </a:srgbClr>
            </a:outerShdw>
          </a:effectLst>
        </p:spPr>
      </p:sp>
      <p:sp>
        <p:nvSpPr>
          <p:cNvPr id="13" name="Text 10"/>
          <p:cNvSpPr txBox="1"/>
          <p:nvPr/>
        </p:nvSpPr>
        <p:spPr>
          <a:xfrm>
            <a:off x="6217920" y="1234440"/>
            <a:ext cx="2240280" cy="411480"/>
          </a:xfrm>
          <a:prstGeom prst="rect">
            <a:avLst/>
          </a:prstGeom>
          <a:noFill/>
          <a:ln/>
        </p:spPr>
        <p:txBody>
          <a:bodyPr wrap="square" lIns="0" tIns="0" rIns="0" bIns="0" rtlCol="0" anchor="ctr"/>
          <a:lstStyle/>
          <a:p>
            <a:pPr indent="0" marL="0">
              <a:buNone/>
            </a:pPr>
            <a:r>
              <a:rPr lang="en-US" sz="1600" b="1" dirty="0">
                <a:solidFill>
                  <a:srgbClr val="14213D"/>
                </a:solidFill>
                <a:latin typeface="Cambria" pitchFamily="34" charset="0"/>
                <a:ea typeface="Cambria" pitchFamily="34" charset="-122"/>
                <a:cs typeface="Cambria" pitchFamily="34" charset="-120"/>
              </a:rPr>
              <a:t>Reward = QoE</a:t>
            </a:r>
            <a:endParaRPr lang="en-US" sz="1600" dirty="0"/>
          </a:p>
        </p:txBody>
      </p:sp>
      <p:sp>
        <p:nvSpPr>
          <p:cNvPr id="14" name="Text 11"/>
          <p:cNvSpPr txBox="1"/>
          <p:nvPr/>
        </p:nvSpPr>
        <p:spPr>
          <a:xfrm>
            <a:off x="6217920" y="1737360"/>
            <a:ext cx="2240280" cy="2011680"/>
          </a:xfrm>
          <a:prstGeom prst="rect">
            <a:avLst/>
          </a:prstGeom>
          <a:noFill/>
          <a:ln/>
        </p:spPr>
        <p:txBody>
          <a:bodyPr wrap="square" lIns="0" tIns="0" rIns="0" bIns="0" rtlCol="0" anchor="t"/>
          <a:lstStyle/>
          <a:p>
            <a:pPr indent="0" marL="0">
              <a:spcAft>
                <a:spcPts val="300"/>
              </a:spcAft>
              <a:buNone/>
            </a:pPr>
            <a:r>
              <a:rPr lang="en-US" sz="1300" dirty="0">
                <a:solidFill>
                  <a:srgbClr val="1F2937"/>
                </a:solidFill>
                <a:latin typeface="Calibri" pitchFamily="34" charset="0"/>
                <a:ea typeface="Calibri" pitchFamily="34" charset="-122"/>
                <a:cs typeface="Calibri" pitchFamily="34" charset="-120"/>
              </a:rPr>
              <a:t>Deadline met: −energy used ÷ battery capacity</a:t>
            </a:r>
            <a:endParaRPr lang="en-US" sz="1300" dirty="0"/>
          </a:p>
          <a:p>
            <a:pPr indent="0" marL="0">
              <a:spcAft>
                <a:spcPts val="300"/>
              </a:spcAft>
              <a:buNone/>
            </a:pPr>
            <a:endParaRPr lang="en-US" sz="1300" dirty="0"/>
          </a:p>
          <a:p>
            <a:pPr indent="0" marL="0">
              <a:spcAft>
                <a:spcPts val="300"/>
              </a:spcAft>
              <a:buNone/>
            </a:pPr>
            <a:r>
              <a:rPr lang="en-US" sz="1300" dirty="0">
                <a:solidFill>
                  <a:srgbClr val="1F2937"/>
                </a:solidFill>
                <a:latin typeface="Calibri" pitchFamily="34" charset="0"/>
                <a:ea typeface="Calibri" pitchFamily="34" charset="-122"/>
                <a:cs typeface="Calibri" pitchFamily="34" charset="-120"/>
              </a:rPr>
              <a:t>Deadline missed: penalty η = −100</a:t>
            </a:r>
            <a:endParaRPr lang="en-US" sz="1300" dirty="0"/>
          </a:p>
        </p:txBody>
      </p:sp>
      <p:sp>
        <p:nvSpPr>
          <p:cNvPr id="15" name="Text 12"/>
          <p:cNvSpPr txBox="1"/>
          <p:nvPr/>
        </p:nvSpPr>
        <p:spPr>
          <a:xfrm>
            <a:off x="457200" y="4023360"/>
            <a:ext cx="8229600" cy="548640"/>
          </a:xfrm>
          <a:prstGeom prst="rect">
            <a:avLst/>
          </a:prstGeom>
          <a:noFill/>
          <a:ln/>
        </p:spPr>
        <p:txBody>
          <a:bodyPr wrap="square" lIns="0" tIns="0" rIns="0" bIns="0" rtlCol="0" anchor="ctr"/>
          <a:lstStyle/>
          <a:p>
            <a:pPr indent="0" marL="0">
              <a:buNone/>
            </a:pPr>
            <a:r>
              <a:rPr lang="en-US" sz="1300" i="1" dirty="0">
                <a:solidFill>
                  <a:srgbClr val="0E7C86"/>
                </a:solidFill>
                <a:latin typeface="Calibri" pitchFamily="34" charset="0"/>
                <a:ea typeface="Calibri" pitchFamily="34" charset="-122"/>
                <a:cs typeface="Calibri" pitchFamily="34" charset="-120"/>
              </a:rPr>
              <a:t>Objective: maximize the sum of QoE over all time steps, subject to resource constraints. Agents are non-cooperative: no central controller.</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640080"/>
          </a:xfrm>
          <a:prstGeom prst="rect">
            <a:avLst/>
          </a:prstGeom>
          <a:noFill/>
          <a:ln/>
        </p:spPr>
        <p:txBody>
          <a:bodyPr wrap="square" lIns="0" tIns="0" rIns="0" bIns="0" rtlCol="0" anchor="ctr"/>
          <a:lstStyle/>
          <a:p>
            <a:pPr indent="0" marL="0">
              <a:buNone/>
            </a:pPr>
            <a:r>
              <a:rPr lang="en-US" sz="2800" b="1" dirty="0">
                <a:solidFill>
                  <a:srgbClr val="14213D"/>
                </a:solidFill>
                <a:latin typeface="Cambria" pitchFamily="34" charset="0"/>
                <a:ea typeface="Cambria" pitchFamily="34" charset="-122"/>
                <a:cs typeface="Cambria" pitchFamily="34" charset="-120"/>
              </a:rPr>
              <a:t>Actor-Critic agent on every device</a:t>
            </a:r>
            <a:endParaRPr lang="en-US" sz="2800" dirty="0"/>
          </a:p>
        </p:txBody>
      </p:sp>
      <p:sp>
        <p:nvSpPr>
          <p:cNvPr id="3" name="Text 1"/>
          <p:cNvSpPr txBox="1"/>
          <p:nvPr/>
        </p:nvSpPr>
        <p:spPr>
          <a:xfrm>
            <a:off x="457200" y="4754880"/>
            <a:ext cx="5486400" cy="22860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Nieto et al., J. Cloud Computing 13, 94 (2024)</a:t>
            </a:r>
            <a:endParaRPr lang="en-US" sz="900" dirty="0"/>
          </a:p>
        </p:txBody>
      </p:sp>
      <p:sp>
        <p:nvSpPr>
          <p:cNvPr id="4" name="Text 2"/>
          <p:cNvSpPr txBox="1"/>
          <p:nvPr/>
        </p:nvSpPr>
        <p:spPr>
          <a:xfrm>
            <a:off x="8229600" y="4754880"/>
            <a:ext cx="457200" cy="22860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11</a:t>
            </a:r>
            <a:endParaRPr lang="en-US" sz="900" dirty="0"/>
          </a:p>
        </p:txBody>
      </p:sp>
      <p:sp>
        <p:nvSpPr>
          <p:cNvPr id="6" name="Shape 3"/>
          <p:cNvSpPr/>
          <p:nvPr/>
        </p:nvSpPr>
        <p:spPr>
          <a:xfrm>
            <a:off x="457200" y="1097280"/>
            <a:ext cx="2606040" cy="1371600"/>
          </a:xfrm>
          <a:prstGeom prst="roundRect">
            <a:avLst>
              <a:gd name="adj" fmla="val 5333"/>
            </a:avLst>
          </a:prstGeom>
          <a:solidFill>
            <a:srgbClr val="EEF4F7"/>
          </a:solidFill>
          <a:ln w="12700">
            <a:solidFill>
              <a:srgbClr val="EEF4F7"/>
            </a:solidFill>
            <a:prstDash val="solid"/>
          </a:ln>
          <a:effectLst>
            <a:outerShdw sx="100000" sy="100000" kx="0" ky="0" algn="bl" rotWithShape="0" blurRad="101600" dist="25400" dir="5400000">
              <a:srgbClr val="000000">
                <a:alpha val="12000"/>
              </a:srgbClr>
            </a:outerShdw>
          </a:effectLst>
        </p:spPr>
      </p:sp>
      <p:sp>
        <p:nvSpPr>
          <p:cNvPr id="7" name="Text 4"/>
          <p:cNvSpPr txBox="1"/>
          <p:nvPr/>
        </p:nvSpPr>
        <p:spPr>
          <a:xfrm>
            <a:off x="457200" y="1188720"/>
            <a:ext cx="2606040" cy="685800"/>
          </a:xfrm>
          <a:prstGeom prst="rect">
            <a:avLst/>
          </a:prstGeom>
          <a:noFill/>
          <a:ln/>
        </p:spPr>
        <p:txBody>
          <a:bodyPr wrap="square" lIns="0" tIns="0" rIns="0" bIns="0" rtlCol="0" anchor="ctr"/>
          <a:lstStyle/>
          <a:p>
            <a:pPr algn="ctr" indent="0" marL="0">
              <a:buNone/>
            </a:pPr>
            <a:r>
              <a:rPr lang="en-US" sz="2600" b="1" dirty="0">
                <a:solidFill>
                  <a:srgbClr val="0E7C86"/>
                </a:solidFill>
                <a:latin typeface="Cambria" pitchFamily="34" charset="0"/>
                <a:ea typeface="Cambria" pitchFamily="34" charset="-122"/>
                <a:cs typeface="Cambria" pitchFamily="34" charset="-120"/>
              </a:rPr>
              <a:t>2 × 256</a:t>
            </a:r>
            <a:endParaRPr lang="en-US" sz="2600" dirty="0"/>
          </a:p>
        </p:txBody>
      </p:sp>
      <p:sp>
        <p:nvSpPr>
          <p:cNvPr id="8" name="Text 5"/>
          <p:cNvSpPr txBox="1"/>
          <p:nvPr/>
        </p:nvSpPr>
        <p:spPr>
          <a:xfrm>
            <a:off x="594360" y="1874520"/>
            <a:ext cx="2331720" cy="502920"/>
          </a:xfrm>
          <a:prstGeom prst="rect">
            <a:avLst/>
          </a:prstGeom>
          <a:noFill/>
          <a:ln/>
        </p:spPr>
        <p:txBody>
          <a:bodyPr wrap="square" lIns="0" tIns="0" rIns="0" bIns="0" rtlCol="0" anchor="ctr"/>
          <a:lstStyle/>
          <a:p>
            <a:pPr algn="ctr" indent="0" marL="0">
              <a:buNone/>
            </a:pPr>
            <a:r>
              <a:rPr lang="en-US" sz="1200" dirty="0">
                <a:solidFill>
                  <a:srgbClr val="1F2937"/>
                </a:solidFill>
                <a:latin typeface="Calibri" pitchFamily="34" charset="0"/>
                <a:ea typeface="Calibri" pitchFamily="34" charset="-122"/>
                <a:cs typeface="Calibri" pitchFamily="34" charset="-120"/>
              </a:rPr>
              <a:t>hidden neurons in each network</a:t>
            </a:r>
            <a:endParaRPr lang="en-US" sz="1200" dirty="0"/>
          </a:p>
        </p:txBody>
      </p:sp>
      <p:sp>
        <p:nvSpPr>
          <p:cNvPr id="9" name="Shape 6"/>
          <p:cNvSpPr/>
          <p:nvPr/>
        </p:nvSpPr>
        <p:spPr>
          <a:xfrm>
            <a:off x="3246120" y="1097280"/>
            <a:ext cx="2606040" cy="1371600"/>
          </a:xfrm>
          <a:prstGeom prst="roundRect">
            <a:avLst>
              <a:gd name="adj" fmla="val 5333"/>
            </a:avLst>
          </a:prstGeom>
          <a:solidFill>
            <a:srgbClr val="EEF4F7"/>
          </a:solidFill>
          <a:ln w="12700">
            <a:solidFill>
              <a:srgbClr val="EEF4F7"/>
            </a:solidFill>
            <a:prstDash val="solid"/>
          </a:ln>
          <a:effectLst>
            <a:outerShdw sx="100000" sy="100000" kx="0" ky="0" algn="bl" rotWithShape="0" blurRad="101600" dist="25400" dir="5400000">
              <a:srgbClr val="000000">
                <a:alpha val="12000"/>
              </a:srgbClr>
            </a:outerShdw>
          </a:effectLst>
        </p:spPr>
      </p:sp>
      <p:sp>
        <p:nvSpPr>
          <p:cNvPr id="10" name="Text 7"/>
          <p:cNvSpPr txBox="1"/>
          <p:nvPr/>
        </p:nvSpPr>
        <p:spPr>
          <a:xfrm>
            <a:off x="3246120" y="1188720"/>
            <a:ext cx="2606040" cy="685800"/>
          </a:xfrm>
          <a:prstGeom prst="rect">
            <a:avLst/>
          </a:prstGeom>
          <a:noFill/>
          <a:ln/>
        </p:spPr>
        <p:txBody>
          <a:bodyPr wrap="square" lIns="0" tIns="0" rIns="0" bIns="0" rtlCol="0" anchor="ctr"/>
          <a:lstStyle/>
          <a:p>
            <a:pPr algn="ctr" indent="0" marL="0">
              <a:buNone/>
            </a:pPr>
            <a:r>
              <a:rPr lang="en-US" sz="2600" b="1" dirty="0">
                <a:solidFill>
                  <a:srgbClr val="0E7C86"/>
                </a:solidFill>
                <a:latin typeface="Cambria" pitchFamily="34" charset="0"/>
                <a:ea typeface="Cambria" pitchFamily="34" charset="-122"/>
                <a:cs typeface="Cambria" pitchFamily="34" charset="-120"/>
              </a:rPr>
              <a:t>10⁻⁵ / 10⁻⁴</a:t>
            </a:r>
            <a:endParaRPr lang="en-US" sz="2600" dirty="0"/>
          </a:p>
        </p:txBody>
      </p:sp>
      <p:sp>
        <p:nvSpPr>
          <p:cNvPr id="11" name="Text 8"/>
          <p:cNvSpPr txBox="1"/>
          <p:nvPr/>
        </p:nvSpPr>
        <p:spPr>
          <a:xfrm>
            <a:off x="3383280" y="1874520"/>
            <a:ext cx="2331720" cy="502920"/>
          </a:xfrm>
          <a:prstGeom prst="rect">
            <a:avLst/>
          </a:prstGeom>
          <a:noFill/>
          <a:ln/>
        </p:spPr>
        <p:txBody>
          <a:bodyPr wrap="square" lIns="0" tIns="0" rIns="0" bIns="0" rtlCol="0" anchor="ctr"/>
          <a:lstStyle/>
          <a:p>
            <a:pPr algn="ctr" indent="0" marL="0">
              <a:buNone/>
            </a:pPr>
            <a:r>
              <a:rPr lang="en-US" sz="1200" dirty="0">
                <a:solidFill>
                  <a:srgbClr val="1F2937"/>
                </a:solidFill>
                <a:latin typeface="Calibri" pitchFamily="34" charset="0"/>
                <a:ea typeface="Calibri" pitchFamily="34" charset="-122"/>
                <a:cs typeface="Calibri" pitchFamily="34" charset="-120"/>
              </a:rPr>
              <a:t>learning rate: actor / critic</a:t>
            </a:r>
            <a:endParaRPr lang="en-US" sz="1200" dirty="0"/>
          </a:p>
        </p:txBody>
      </p:sp>
      <p:sp>
        <p:nvSpPr>
          <p:cNvPr id="12" name="Shape 9"/>
          <p:cNvSpPr/>
          <p:nvPr/>
        </p:nvSpPr>
        <p:spPr>
          <a:xfrm>
            <a:off x="6035040" y="1097280"/>
            <a:ext cx="2606040" cy="1371600"/>
          </a:xfrm>
          <a:prstGeom prst="roundRect">
            <a:avLst>
              <a:gd name="adj" fmla="val 5333"/>
            </a:avLst>
          </a:prstGeom>
          <a:solidFill>
            <a:srgbClr val="EEF4F7"/>
          </a:solidFill>
          <a:ln w="12700">
            <a:solidFill>
              <a:srgbClr val="EEF4F7"/>
            </a:solidFill>
            <a:prstDash val="solid"/>
          </a:ln>
          <a:effectLst>
            <a:outerShdw sx="100000" sy="100000" kx="0" ky="0" algn="bl" rotWithShape="0" blurRad="101600" dist="25400" dir="5400000">
              <a:srgbClr val="000000">
                <a:alpha val="12000"/>
              </a:srgbClr>
            </a:outerShdw>
          </a:effectLst>
        </p:spPr>
      </p:sp>
      <p:sp>
        <p:nvSpPr>
          <p:cNvPr id="13" name="Text 10"/>
          <p:cNvSpPr txBox="1"/>
          <p:nvPr/>
        </p:nvSpPr>
        <p:spPr>
          <a:xfrm>
            <a:off x="6035040" y="1188720"/>
            <a:ext cx="2606040" cy="685800"/>
          </a:xfrm>
          <a:prstGeom prst="rect">
            <a:avLst/>
          </a:prstGeom>
          <a:noFill/>
          <a:ln/>
        </p:spPr>
        <p:txBody>
          <a:bodyPr wrap="square" lIns="0" tIns="0" rIns="0" bIns="0" rtlCol="0" anchor="ctr"/>
          <a:lstStyle/>
          <a:p>
            <a:pPr algn="ctr" indent="0" marL="0">
              <a:buNone/>
            </a:pPr>
            <a:r>
              <a:rPr lang="en-US" sz="2600" b="1" dirty="0">
                <a:solidFill>
                  <a:srgbClr val="0E7C86"/>
                </a:solidFill>
                <a:latin typeface="Cambria" pitchFamily="34" charset="0"/>
                <a:ea typeface="Cambria" pitchFamily="34" charset="-122"/>
                <a:cs typeface="Cambria" pitchFamily="34" charset="-120"/>
              </a:rPr>
              <a:t>γ = 0.99</a:t>
            </a:r>
            <a:endParaRPr lang="en-US" sz="2600" dirty="0"/>
          </a:p>
        </p:txBody>
      </p:sp>
      <p:sp>
        <p:nvSpPr>
          <p:cNvPr id="14" name="Text 11"/>
          <p:cNvSpPr txBox="1"/>
          <p:nvPr/>
        </p:nvSpPr>
        <p:spPr>
          <a:xfrm>
            <a:off x="6172200" y="1874520"/>
            <a:ext cx="2331720" cy="502920"/>
          </a:xfrm>
          <a:prstGeom prst="rect">
            <a:avLst/>
          </a:prstGeom>
          <a:noFill/>
          <a:ln/>
        </p:spPr>
        <p:txBody>
          <a:bodyPr wrap="square" lIns="0" tIns="0" rIns="0" bIns="0" rtlCol="0" anchor="ctr"/>
          <a:lstStyle/>
          <a:p>
            <a:pPr algn="ctr" indent="0" marL="0">
              <a:buNone/>
            </a:pPr>
            <a:r>
              <a:rPr lang="en-US" sz="1200" dirty="0">
                <a:solidFill>
                  <a:srgbClr val="1F2937"/>
                </a:solidFill>
                <a:latin typeface="Calibri" pitchFamily="34" charset="0"/>
                <a:ea typeface="Calibri" pitchFamily="34" charset="-122"/>
                <a:cs typeface="Calibri" pitchFamily="34" charset="-120"/>
              </a:rPr>
              <a:t>discount factor, Adam optimizer</a:t>
            </a:r>
            <a:endParaRPr lang="en-US" sz="1200" dirty="0"/>
          </a:p>
        </p:txBody>
      </p:sp>
      <p:sp>
        <p:nvSpPr>
          <p:cNvPr id="15" name="Shape 12"/>
          <p:cNvSpPr/>
          <p:nvPr/>
        </p:nvSpPr>
        <p:spPr>
          <a:xfrm>
            <a:off x="457200" y="2743200"/>
            <a:ext cx="4023360" cy="1371600"/>
          </a:xfrm>
          <a:prstGeom prst="roundRect">
            <a:avLst>
              <a:gd name="adj" fmla="val 5333"/>
            </a:avLst>
          </a:prstGeom>
          <a:solidFill>
            <a:srgbClr val="EEF4F7"/>
          </a:solidFill>
          <a:ln w="12700">
            <a:solidFill>
              <a:srgbClr val="EEF4F7"/>
            </a:solidFill>
            <a:prstDash val="solid"/>
          </a:ln>
          <a:effectLst>
            <a:outerShdw sx="100000" sy="100000" kx="0" ky="0" algn="bl" rotWithShape="0" blurRad="101600" dist="25400" dir="5400000">
              <a:srgbClr val="000000">
                <a:alpha val="12000"/>
              </a:srgbClr>
            </a:outerShdw>
          </a:effectLst>
        </p:spPr>
      </p:sp>
      <p:sp>
        <p:nvSpPr>
          <p:cNvPr id="16" name="Text 13"/>
          <p:cNvSpPr txBox="1"/>
          <p:nvPr/>
        </p:nvSpPr>
        <p:spPr>
          <a:xfrm>
            <a:off x="640080" y="2834640"/>
            <a:ext cx="3657600" cy="365760"/>
          </a:xfrm>
          <a:prstGeom prst="rect">
            <a:avLst/>
          </a:prstGeom>
          <a:noFill/>
          <a:ln/>
        </p:spPr>
        <p:txBody>
          <a:bodyPr wrap="square" lIns="0" tIns="0" rIns="0" bIns="0" rtlCol="0" anchor="ctr"/>
          <a:lstStyle/>
          <a:p>
            <a:pPr indent="0" marL="0">
              <a:buNone/>
            </a:pPr>
            <a:r>
              <a:rPr lang="en-US" sz="1500" b="1" dirty="0">
                <a:solidFill>
                  <a:srgbClr val="14213D"/>
                </a:solidFill>
                <a:latin typeface="Cambria" pitchFamily="34" charset="0"/>
                <a:ea typeface="Cambria" pitchFamily="34" charset="-122"/>
                <a:cs typeface="Cambria" pitchFamily="34" charset="-120"/>
              </a:rPr>
              <a:t>Actor</a:t>
            </a:r>
            <a:endParaRPr lang="en-US" sz="1500" dirty="0"/>
          </a:p>
        </p:txBody>
      </p:sp>
      <p:sp>
        <p:nvSpPr>
          <p:cNvPr id="17" name="Text 14"/>
          <p:cNvSpPr txBox="1"/>
          <p:nvPr/>
        </p:nvSpPr>
        <p:spPr>
          <a:xfrm>
            <a:off x="640080" y="3246120"/>
            <a:ext cx="3657600" cy="777240"/>
          </a:xfrm>
          <a:prstGeom prst="rect">
            <a:avLst/>
          </a:prstGeom>
          <a:noFill/>
          <a:ln/>
        </p:spPr>
        <p:txBody>
          <a:bodyPr wrap="square" lIns="0" tIns="0" rIns="0" bIns="0" rtlCol="0" anchor="t"/>
          <a:lstStyle/>
          <a:p>
            <a:pPr indent="0" marL="0">
              <a:buNone/>
            </a:pPr>
            <a:r>
              <a:rPr lang="en-US" sz="1300" dirty="0">
                <a:solidFill>
                  <a:srgbClr val="1F2937"/>
                </a:solidFill>
                <a:latin typeface="Calibri" pitchFamily="34" charset="0"/>
                <a:ea typeface="Calibri" pitchFamily="34" charset="-122"/>
                <a:cs typeface="Calibri" pitchFamily="34" charset="-120"/>
              </a:rPr>
              <a:t>State → TanH layers → softmax over {local, MEC, cloud}. Picks the offloading action.</a:t>
            </a:r>
            <a:endParaRPr lang="en-US" sz="1300" dirty="0"/>
          </a:p>
        </p:txBody>
      </p:sp>
      <p:sp>
        <p:nvSpPr>
          <p:cNvPr id="18" name="Shape 15"/>
          <p:cNvSpPr/>
          <p:nvPr/>
        </p:nvSpPr>
        <p:spPr>
          <a:xfrm>
            <a:off x="4663440" y="2743200"/>
            <a:ext cx="4023360" cy="1371600"/>
          </a:xfrm>
          <a:prstGeom prst="roundRect">
            <a:avLst>
              <a:gd name="adj" fmla="val 5333"/>
            </a:avLst>
          </a:prstGeom>
          <a:solidFill>
            <a:srgbClr val="EEF4F7"/>
          </a:solidFill>
          <a:ln w="12700">
            <a:solidFill>
              <a:srgbClr val="EEF4F7"/>
            </a:solidFill>
            <a:prstDash val="solid"/>
          </a:ln>
          <a:effectLst>
            <a:outerShdw sx="100000" sy="100000" kx="0" ky="0" algn="bl" rotWithShape="0" blurRad="101600" dist="25400" dir="5400000">
              <a:srgbClr val="000000">
                <a:alpha val="12000"/>
              </a:srgbClr>
            </a:outerShdw>
          </a:effectLst>
        </p:spPr>
      </p:sp>
      <p:sp>
        <p:nvSpPr>
          <p:cNvPr id="19" name="Text 16"/>
          <p:cNvSpPr txBox="1"/>
          <p:nvPr/>
        </p:nvSpPr>
        <p:spPr>
          <a:xfrm>
            <a:off x="4846320" y="2834640"/>
            <a:ext cx="3657600" cy="365760"/>
          </a:xfrm>
          <a:prstGeom prst="rect">
            <a:avLst/>
          </a:prstGeom>
          <a:noFill/>
          <a:ln/>
        </p:spPr>
        <p:txBody>
          <a:bodyPr wrap="square" lIns="0" tIns="0" rIns="0" bIns="0" rtlCol="0" anchor="ctr"/>
          <a:lstStyle/>
          <a:p>
            <a:pPr indent="0" marL="0">
              <a:buNone/>
            </a:pPr>
            <a:r>
              <a:rPr lang="en-US" sz="1500" b="1" dirty="0">
                <a:solidFill>
                  <a:srgbClr val="14213D"/>
                </a:solidFill>
                <a:latin typeface="Cambria" pitchFamily="34" charset="0"/>
                <a:ea typeface="Cambria" pitchFamily="34" charset="-122"/>
                <a:cs typeface="Cambria" pitchFamily="34" charset="-120"/>
              </a:rPr>
              <a:t>Critic</a:t>
            </a:r>
            <a:endParaRPr lang="en-US" sz="1500" dirty="0"/>
          </a:p>
        </p:txBody>
      </p:sp>
      <p:sp>
        <p:nvSpPr>
          <p:cNvPr id="20" name="Text 17"/>
          <p:cNvSpPr txBox="1"/>
          <p:nvPr/>
        </p:nvSpPr>
        <p:spPr>
          <a:xfrm>
            <a:off x="4846320" y="3246120"/>
            <a:ext cx="3657600" cy="1097280"/>
          </a:xfrm>
          <a:prstGeom prst="rect">
            <a:avLst/>
          </a:prstGeom>
          <a:noFill/>
          <a:ln/>
        </p:spPr>
        <p:txBody>
          <a:bodyPr wrap="square" lIns="0" tIns="0" rIns="0" bIns="0" rtlCol="0" anchor="t"/>
          <a:lstStyle/>
          <a:p>
            <a:pPr indent="0" marL="0">
              <a:buNone/>
            </a:pPr>
            <a:r>
              <a:rPr lang="en-US" sz="1300" dirty="0">
                <a:solidFill>
                  <a:srgbClr val="1F2937"/>
                </a:solidFill>
                <a:latin typeface="Calibri" pitchFamily="34" charset="0"/>
                <a:ea typeface="Calibri" pitchFamily="34" charset="-122"/>
                <a:cs typeface="Calibri" pitchFamily="34" charset="-120"/>
              </a:rPr>
              <a:t>State → TanH layers → linear value. Its temporal-difference (TD) error updates the actor and the critic.</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640080"/>
          </a:xfrm>
          <a:prstGeom prst="rect">
            <a:avLst/>
          </a:prstGeom>
          <a:noFill/>
          <a:ln/>
        </p:spPr>
        <p:txBody>
          <a:bodyPr wrap="square" lIns="0" tIns="0" rIns="0" bIns="0" rtlCol="0" anchor="ctr"/>
          <a:lstStyle/>
          <a:p>
            <a:pPr indent="0" marL="0">
              <a:buNone/>
            </a:pPr>
            <a:r>
              <a:rPr lang="en-US" sz="2800" b="1" dirty="0">
                <a:solidFill>
                  <a:srgbClr val="14213D"/>
                </a:solidFill>
                <a:latin typeface="Cambria" pitchFamily="34" charset="0"/>
                <a:ea typeface="Cambria" pitchFamily="34" charset="-122"/>
                <a:cs typeface="Cambria" pitchFamily="34" charset="-120"/>
              </a:rPr>
              <a:t>Experimental setup</a:t>
            </a:r>
            <a:endParaRPr lang="en-US" sz="2800" dirty="0"/>
          </a:p>
        </p:txBody>
      </p:sp>
      <p:sp>
        <p:nvSpPr>
          <p:cNvPr id="3" name="Text 1"/>
          <p:cNvSpPr txBox="1"/>
          <p:nvPr/>
        </p:nvSpPr>
        <p:spPr>
          <a:xfrm>
            <a:off x="457200" y="4754880"/>
            <a:ext cx="5486400" cy="22860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Nieto et al., J. Cloud Computing 13, 94 (2024)</a:t>
            </a:r>
            <a:endParaRPr lang="en-US" sz="900" dirty="0"/>
          </a:p>
        </p:txBody>
      </p:sp>
      <p:sp>
        <p:nvSpPr>
          <p:cNvPr id="4" name="Text 2"/>
          <p:cNvSpPr txBox="1"/>
          <p:nvPr/>
        </p:nvSpPr>
        <p:spPr>
          <a:xfrm>
            <a:off x="8229600" y="4754880"/>
            <a:ext cx="457200" cy="22860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12</a:t>
            </a:r>
            <a:endParaRPr lang="en-US" sz="900" dirty="0"/>
          </a:p>
        </p:txBody>
      </p:sp>
      <p:sp>
        <p:nvSpPr>
          <p:cNvPr id="6" name="Text 3"/>
          <p:cNvSpPr txBox="1"/>
          <p:nvPr/>
        </p:nvSpPr>
        <p:spPr>
          <a:xfrm>
            <a:off x="457200" y="1097280"/>
            <a:ext cx="1554480" cy="457200"/>
          </a:xfrm>
          <a:prstGeom prst="rect">
            <a:avLst/>
          </a:prstGeom>
          <a:noFill/>
          <a:ln/>
        </p:spPr>
        <p:txBody>
          <a:bodyPr wrap="square" lIns="0" tIns="0" rIns="0" bIns="0" rtlCol="0" anchor="ctr"/>
          <a:lstStyle/>
          <a:p>
            <a:pPr indent="0" marL="0">
              <a:buNone/>
            </a:pPr>
            <a:r>
              <a:rPr lang="en-US" sz="1200" b="1" dirty="0">
                <a:solidFill>
                  <a:srgbClr val="0E7C86"/>
                </a:solidFill>
                <a:latin typeface="Calibri" pitchFamily="34" charset="0"/>
                <a:ea typeface="Calibri" pitchFamily="34" charset="-122"/>
                <a:cs typeface="Calibri" pitchFamily="34" charset="-120"/>
              </a:rPr>
              <a:t>Simulator</a:t>
            </a:r>
            <a:endParaRPr lang="en-US" sz="1200" dirty="0"/>
          </a:p>
        </p:txBody>
      </p:sp>
      <p:sp>
        <p:nvSpPr>
          <p:cNvPr id="7" name="Text 4"/>
          <p:cNvSpPr txBox="1"/>
          <p:nvPr/>
        </p:nvSpPr>
        <p:spPr>
          <a:xfrm>
            <a:off x="2011680" y="1097280"/>
            <a:ext cx="3108960" cy="457200"/>
          </a:xfrm>
          <a:prstGeom prst="rect">
            <a:avLst/>
          </a:prstGeom>
          <a:noFill/>
          <a:ln/>
        </p:spPr>
        <p:txBody>
          <a:bodyPr wrap="square" lIns="0" tIns="0" rIns="0" bIns="0" rtlCol="0" anchor="ctr"/>
          <a:lstStyle/>
          <a:p>
            <a:pPr indent="0" marL="0">
              <a:buNone/>
            </a:pPr>
            <a:r>
              <a:rPr lang="en-US" sz="1200" dirty="0">
                <a:solidFill>
                  <a:srgbClr val="1F2937"/>
                </a:solidFill>
                <a:latin typeface="Calibri" pitchFamily="34" charset="0"/>
                <a:ea typeface="Calibri" pitchFamily="34" charset="-122"/>
                <a:cs typeface="Calibri" pitchFamily="34" charset="-120"/>
              </a:rPr>
              <a:t>Python 3.10, TensorFlow 2.14, Gymnasium 0.29</a:t>
            </a:r>
            <a:endParaRPr lang="en-US" sz="1200" dirty="0"/>
          </a:p>
        </p:txBody>
      </p:sp>
      <p:sp>
        <p:nvSpPr>
          <p:cNvPr id="8" name="Text 5"/>
          <p:cNvSpPr txBox="1"/>
          <p:nvPr/>
        </p:nvSpPr>
        <p:spPr>
          <a:xfrm>
            <a:off x="457200" y="1645920"/>
            <a:ext cx="1554480" cy="457200"/>
          </a:xfrm>
          <a:prstGeom prst="rect">
            <a:avLst/>
          </a:prstGeom>
          <a:noFill/>
          <a:ln/>
        </p:spPr>
        <p:txBody>
          <a:bodyPr wrap="square" lIns="0" tIns="0" rIns="0" bIns="0" rtlCol="0" anchor="ctr"/>
          <a:lstStyle/>
          <a:p>
            <a:pPr indent="0" marL="0">
              <a:buNone/>
            </a:pPr>
            <a:r>
              <a:rPr lang="en-US" sz="1200" b="1" dirty="0">
                <a:solidFill>
                  <a:srgbClr val="0E7C86"/>
                </a:solidFill>
                <a:latin typeface="Calibri" pitchFamily="34" charset="0"/>
                <a:ea typeface="Calibri" pitchFamily="34" charset="-122"/>
                <a:cs typeface="Calibri" pitchFamily="34" charset="-120"/>
              </a:rPr>
              <a:t>Topology</a:t>
            </a:r>
            <a:endParaRPr lang="en-US" sz="1200" dirty="0"/>
          </a:p>
        </p:txBody>
      </p:sp>
      <p:sp>
        <p:nvSpPr>
          <p:cNvPr id="9" name="Text 6"/>
          <p:cNvSpPr txBox="1"/>
          <p:nvPr/>
        </p:nvSpPr>
        <p:spPr>
          <a:xfrm>
            <a:off x="2011680" y="1645920"/>
            <a:ext cx="3108960" cy="457200"/>
          </a:xfrm>
          <a:prstGeom prst="rect">
            <a:avLst/>
          </a:prstGeom>
          <a:noFill/>
          <a:ln/>
        </p:spPr>
        <p:txBody>
          <a:bodyPr wrap="square" lIns="0" tIns="0" rIns="0" bIns="0" rtlCol="0" anchor="ctr"/>
          <a:lstStyle/>
          <a:p>
            <a:pPr indent="0" marL="0">
              <a:buNone/>
            </a:pPr>
            <a:r>
              <a:rPr lang="en-US" sz="1200" dirty="0">
                <a:solidFill>
                  <a:srgbClr val="1F2937"/>
                </a:solidFill>
                <a:latin typeface="Calibri" pitchFamily="34" charset="0"/>
                <a:ea typeface="Calibri" pitchFamily="34" charset="-122"/>
                <a:cs typeface="Calibri" pitchFamily="34" charset="-120"/>
              </a:rPr>
              <a:t>1 cloud server, 1 MEC server at the BS, multiple UEs</a:t>
            </a:r>
            <a:endParaRPr lang="en-US" sz="1200" dirty="0"/>
          </a:p>
        </p:txBody>
      </p:sp>
      <p:sp>
        <p:nvSpPr>
          <p:cNvPr id="10" name="Text 7"/>
          <p:cNvSpPr txBox="1"/>
          <p:nvPr/>
        </p:nvSpPr>
        <p:spPr>
          <a:xfrm>
            <a:off x="457200" y="2194560"/>
            <a:ext cx="1554480" cy="457200"/>
          </a:xfrm>
          <a:prstGeom prst="rect">
            <a:avLst/>
          </a:prstGeom>
          <a:noFill/>
          <a:ln/>
        </p:spPr>
        <p:txBody>
          <a:bodyPr wrap="square" lIns="0" tIns="0" rIns="0" bIns="0" rtlCol="0" anchor="ctr"/>
          <a:lstStyle/>
          <a:p>
            <a:pPr indent="0" marL="0">
              <a:buNone/>
            </a:pPr>
            <a:r>
              <a:rPr lang="en-US" sz="1200" b="1" dirty="0">
                <a:solidFill>
                  <a:srgbClr val="0E7C86"/>
                </a:solidFill>
                <a:latin typeface="Calibri" pitchFamily="34" charset="0"/>
                <a:ea typeface="Calibri" pitchFamily="34" charset="-122"/>
                <a:cs typeface="Calibri" pitchFamily="34" charset="-120"/>
              </a:rPr>
              <a:t>UE battery</a:t>
            </a:r>
            <a:endParaRPr lang="en-US" sz="1200" dirty="0"/>
          </a:p>
        </p:txBody>
      </p:sp>
      <p:sp>
        <p:nvSpPr>
          <p:cNvPr id="11" name="Text 8"/>
          <p:cNvSpPr txBox="1"/>
          <p:nvPr/>
        </p:nvSpPr>
        <p:spPr>
          <a:xfrm>
            <a:off x="2011680" y="2194560"/>
            <a:ext cx="3108960" cy="457200"/>
          </a:xfrm>
          <a:prstGeom prst="rect">
            <a:avLst/>
          </a:prstGeom>
          <a:noFill/>
          <a:ln/>
        </p:spPr>
        <p:txBody>
          <a:bodyPr wrap="square" lIns="0" tIns="0" rIns="0" bIns="0" rtlCol="0" anchor="ctr"/>
          <a:lstStyle/>
          <a:p>
            <a:pPr indent="0" marL="0">
              <a:buNone/>
            </a:pPr>
            <a:r>
              <a:rPr lang="en-US" sz="1200" dirty="0">
                <a:solidFill>
                  <a:srgbClr val="1F2937"/>
                </a:solidFill>
                <a:latin typeface="Calibri" pitchFamily="34" charset="0"/>
                <a:ea typeface="Calibri" pitchFamily="34" charset="-122"/>
                <a:cs typeface="Calibri" pitchFamily="34" charset="-120"/>
              </a:rPr>
              <a:t>10,000 mJ</a:t>
            </a:r>
            <a:endParaRPr lang="en-US" sz="1200" dirty="0"/>
          </a:p>
        </p:txBody>
      </p:sp>
      <p:sp>
        <p:nvSpPr>
          <p:cNvPr id="12" name="Text 9"/>
          <p:cNvSpPr txBox="1"/>
          <p:nvPr/>
        </p:nvSpPr>
        <p:spPr>
          <a:xfrm>
            <a:off x="457200" y="2743200"/>
            <a:ext cx="1554480" cy="457200"/>
          </a:xfrm>
          <a:prstGeom prst="rect">
            <a:avLst/>
          </a:prstGeom>
          <a:noFill/>
          <a:ln/>
        </p:spPr>
        <p:txBody>
          <a:bodyPr wrap="square" lIns="0" tIns="0" rIns="0" bIns="0" rtlCol="0" anchor="ctr"/>
          <a:lstStyle/>
          <a:p>
            <a:pPr indent="0" marL="0">
              <a:buNone/>
            </a:pPr>
            <a:r>
              <a:rPr lang="en-US" sz="1200" b="1" dirty="0">
                <a:solidFill>
                  <a:srgbClr val="0E7C86"/>
                </a:solidFill>
                <a:latin typeface="Calibri" pitchFamily="34" charset="0"/>
                <a:ea typeface="Calibri" pitchFamily="34" charset="-122"/>
                <a:cs typeface="Calibri" pitchFamily="34" charset="-120"/>
              </a:rPr>
              <a:t>UE transmit power</a:t>
            </a:r>
            <a:endParaRPr lang="en-US" sz="1200" dirty="0"/>
          </a:p>
        </p:txBody>
      </p:sp>
      <p:sp>
        <p:nvSpPr>
          <p:cNvPr id="13" name="Text 10"/>
          <p:cNvSpPr txBox="1"/>
          <p:nvPr/>
        </p:nvSpPr>
        <p:spPr>
          <a:xfrm>
            <a:off x="2011680" y="2743200"/>
            <a:ext cx="3108960" cy="457200"/>
          </a:xfrm>
          <a:prstGeom prst="rect">
            <a:avLst/>
          </a:prstGeom>
          <a:noFill/>
          <a:ln/>
        </p:spPr>
        <p:txBody>
          <a:bodyPr wrap="square" lIns="0" tIns="0" rIns="0" bIns="0" rtlCol="0" anchor="ctr"/>
          <a:lstStyle/>
          <a:p>
            <a:pPr indent="0" marL="0">
              <a:buNone/>
            </a:pPr>
            <a:r>
              <a:rPr lang="en-US" sz="1200" dirty="0">
                <a:solidFill>
                  <a:srgbClr val="1F2937"/>
                </a:solidFill>
                <a:latin typeface="Calibri" pitchFamily="34" charset="0"/>
                <a:ea typeface="Calibri" pitchFamily="34" charset="-122"/>
                <a:cs typeface="Calibri" pitchFamily="34" charset="-120"/>
              </a:rPr>
              <a:t>200 mW; noise −80 dBm</a:t>
            </a:r>
            <a:endParaRPr lang="en-US" sz="1200" dirty="0"/>
          </a:p>
        </p:txBody>
      </p:sp>
      <p:sp>
        <p:nvSpPr>
          <p:cNvPr id="14" name="Text 11"/>
          <p:cNvSpPr txBox="1"/>
          <p:nvPr/>
        </p:nvSpPr>
        <p:spPr>
          <a:xfrm>
            <a:off x="457200" y="3291840"/>
            <a:ext cx="1554480" cy="457200"/>
          </a:xfrm>
          <a:prstGeom prst="rect">
            <a:avLst/>
          </a:prstGeom>
          <a:noFill/>
          <a:ln/>
        </p:spPr>
        <p:txBody>
          <a:bodyPr wrap="square" lIns="0" tIns="0" rIns="0" bIns="0" rtlCol="0" anchor="ctr"/>
          <a:lstStyle/>
          <a:p>
            <a:pPr indent="0" marL="0">
              <a:buNone/>
            </a:pPr>
            <a:r>
              <a:rPr lang="en-US" sz="1200" b="1" dirty="0">
                <a:solidFill>
                  <a:srgbClr val="0E7C86"/>
                </a:solidFill>
                <a:latin typeface="Calibri" pitchFamily="34" charset="0"/>
                <a:ea typeface="Calibri" pitchFamily="34" charset="-122"/>
                <a:cs typeface="Calibri" pitchFamily="34" charset="-120"/>
              </a:rPr>
              <a:t>Distances</a:t>
            </a:r>
            <a:endParaRPr lang="en-US" sz="1200" dirty="0"/>
          </a:p>
        </p:txBody>
      </p:sp>
      <p:sp>
        <p:nvSpPr>
          <p:cNvPr id="15" name="Text 12"/>
          <p:cNvSpPr txBox="1"/>
          <p:nvPr/>
        </p:nvSpPr>
        <p:spPr>
          <a:xfrm>
            <a:off x="2011680" y="3291840"/>
            <a:ext cx="3108960" cy="457200"/>
          </a:xfrm>
          <a:prstGeom prst="rect">
            <a:avLst/>
          </a:prstGeom>
          <a:noFill/>
          <a:ln/>
        </p:spPr>
        <p:txBody>
          <a:bodyPr wrap="square" lIns="0" tIns="0" rIns="0" bIns="0" rtlCol="0" anchor="ctr"/>
          <a:lstStyle/>
          <a:p>
            <a:pPr indent="0" marL="0">
              <a:buNone/>
            </a:pPr>
            <a:r>
              <a:rPr lang="en-US" sz="1200" dirty="0">
                <a:solidFill>
                  <a:srgbClr val="1F2937"/>
                </a:solidFill>
                <a:latin typeface="Calibri" pitchFamily="34" charset="0"/>
                <a:ea typeface="Calibri" pitchFamily="34" charset="-122"/>
                <a:cs typeface="Calibri" pitchFamily="34" charset="-120"/>
              </a:rPr>
              <a:t>UE-BS 30-150 m; BS-cloud 50 km</a:t>
            </a:r>
            <a:endParaRPr lang="en-US" sz="1200" dirty="0"/>
          </a:p>
        </p:txBody>
      </p:sp>
      <p:sp>
        <p:nvSpPr>
          <p:cNvPr id="16" name="Text 13"/>
          <p:cNvSpPr txBox="1"/>
          <p:nvPr/>
        </p:nvSpPr>
        <p:spPr>
          <a:xfrm>
            <a:off x="457200" y="3840480"/>
            <a:ext cx="1554480" cy="457200"/>
          </a:xfrm>
          <a:prstGeom prst="rect">
            <a:avLst/>
          </a:prstGeom>
          <a:noFill/>
          <a:ln/>
        </p:spPr>
        <p:txBody>
          <a:bodyPr wrap="square" lIns="0" tIns="0" rIns="0" bIns="0" rtlCol="0" anchor="ctr"/>
          <a:lstStyle/>
          <a:p>
            <a:pPr indent="0" marL="0">
              <a:buNone/>
            </a:pPr>
            <a:r>
              <a:rPr lang="en-US" sz="1200" b="1" dirty="0">
                <a:solidFill>
                  <a:srgbClr val="0E7C86"/>
                </a:solidFill>
                <a:latin typeface="Calibri" pitchFamily="34" charset="0"/>
                <a:ea typeface="Calibri" pitchFamily="34" charset="-122"/>
                <a:cs typeface="Calibri" pitchFamily="34" charset="-120"/>
              </a:rPr>
              <a:t>QoE penalty</a:t>
            </a:r>
            <a:endParaRPr lang="en-US" sz="1200" dirty="0"/>
          </a:p>
        </p:txBody>
      </p:sp>
      <p:sp>
        <p:nvSpPr>
          <p:cNvPr id="17" name="Text 14"/>
          <p:cNvSpPr txBox="1"/>
          <p:nvPr/>
        </p:nvSpPr>
        <p:spPr>
          <a:xfrm>
            <a:off x="2011680" y="3840480"/>
            <a:ext cx="3108960" cy="457200"/>
          </a:xfrm>
          <a:prstGeom prst="rect">
            <a:avLst/>
          </a:prstGeom>
          <a:noFill/>
          <a:ln/>
        </p:spPr>
        <p:txBody>
          <a:bodyPr wrap="square" lIns="0" tIns="0" rIns="0" bIns="0" rtlCol="0" anchor="ctr"/>
          <a:lstStyle/>
          <a:p>
            <a:pPr indent="0" marL="0">
              <a:buNone/>
            </a:pPr>
            <a:r>
              <a:rPr lang="en-US" sz="1200" dirty="0">
                <a:solidFill>
                  <a:srgbClr val="1F2937"/>
                </a:solidFill>
                <a:latin typeface="Calibri" pitchFamily="34" charset="0"/>
                <a:ea typeface="Calibri" pitchFamily="34" charset="-122"/>
                <a:cs typeface="Calibri" pitchFamily="34" charset="-120"/>
              </a:rPr>
              <a:t>η = −100 for a missed deadline</a:t>
            </a:r>
            <a:endParaRPr lang="en-US" sz="1200" dirty="0"/>
          </a:p>
        </p:txBody>
      </p:sp>
      <p:graphicFrame>
        <p:nvGraphicFramePr>
          <p:cNvPr id="18" name="Chart 0" descr=""/>
          <p:cNvGraphicFramePr/>
          <p:nvPr/>
        </p:nvGraphicFramePr>
        <p:xfrm>
          <a:off x="5303520" y="1051560"/>
          <a:ext cx="3474720" cy="3429000"/>
        </p:xfrm>
        <a:graphic xmlns:a="http://schemas.openxmlformats.org/drawingml/2006/main">
          <a:graphicData uri="http://schemas.openxmlformats.org/drawingml/2006/chart">
            <c:chart xmlns:c="http://schemas.openxmlformats.org/drawingml/2006/chart" r:id="rId1"/>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640080"/>
          </a:xfrm>
          <a:prstGeom prst="rect">
            <a:avLst/>
          </a:prstGeom>
          <a:noFill/>
          <a:ln/>
        </p:spPr>
        <p:txBody>
          <a:bodyPr wrap="square" lIns="0" tIns="0" rIns="0" bIns="0" rtlCol="0" anchor="ctr"/>
          <a:lstStyle/>
          <a:p>
            <a:pPr indent="0" marL="0">
              <a:buNone/>
            </a:pPr>
            <a:r>
              <a:rPr lang="en-US" sz="2800" b="1" dirty="0">
                <a:solidFill>
                  <a:srgbClr val="14213D"/>
                </a:solidFill>
                <a:latin typeface="Cambria" pitchFamily="34" charset="0"/>
                <a:ea typeface="Cambria" pitchFamily="34" charset="-122"/>
                <a:cs typeface="Cambria" pitchFamily="34" charset="-120"/>
              </a:rPr>
              <a:t>Evaluation scenarios and baselines</a:t>
            </a:r>
            <a:endParaRPr lang="en-US" sz="2800" dirty="0"/>
          </a:p>
        </p:txBody>
      </p:sp>
      <p:sp>
        <p:nvSpPr>
          <p:cNvPr id="3" name="Text 1"/>
          <p:cNvSpPr txBox="1"/>
          <p:nvPr/>
        </p:nvSpPr>
        <p:spPr>
          <a:xfrm>
            <a:off x="457200" y="4754880"/>
            <a:ext cx="5486400" cy="22860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Nieto et al., J. Cloud Computing 13, 94 (2024)</a:t>
            </a:r>
            <a:endParaRPr lang="en-US" sz="900" dirty="0"/>
          </a:p>
        </p:txBody>
      </p:sp>
      <p:sp>
        <p:nvSpPr>
          <p:cNvPr id="4" name="Text 2"/>
          <p:cNvSpPr txBox="1"/>
          <p:nvPr/>
        </p:nvSpPr>
        <p:spPr>
          <a:xfrm>
            <a:off x="8229600" y="4754880"/>
            <a:ext cx="457200" cy="22860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13</a:t>
            </a:r>
            <a:endParaRPr lang="en-US" sz="900" dirty="0"/>
          </a:p>
        </p:txBody>
      </p:sp>
      <p:sp>
        <p:nvSpPr>
          <p:cNvPr id="6" name="Shape 3"/>
          <p:cNvSpPr/>
          <p:nvPr/>
        </p:nvSpPr>
        <p:spPr>
          <a:xfrm>
            <a:off x="457200" y="1097280"/>
            <a:ext cx="4023360" cy="1554480"/>
          </a:xfrm>
          <a:prstGeom prst="roundRect">
            <a:avLst>
              <a:gd name="adj" fmla="val 4706"/>
            </a:avLst>
          </a:prstGeom>
          <a:solidFill>
            <a:srgbClr val="EEF4F7"/>
          </a:solidFill>
          <a:ln w="12700">
            <a:solidFill>
              <a:srgbClr val="EEF4F7"/>
            </a:solidFill>
            <a:prstDash val="solid"/>
          </a:ln>
          <a:effectLst>
            <a:outerShdw sx="100000" sy="100000" kx="0" ky="0" algn="bl" rotWithShape="0" blurRad="101600" dist="25400" dir="5400000">
              <a:srgbClr val="000000">
                <a:alpha val="12000"/>
              </a:srgbClr>
            </a:outerShdw>
          </a:effectLst>
        </p:spPr>
      </p:sp>
      <p:sp>
        <p:nvSpPr>
          <p:cNvPr id="7" name="Text 4"/>
          <p:cNvSpPr txBox="1"/>
          <p:nvPr/>
        </p:nvSpPr>
        <p:spPr>
          <a:xfrm>
            <a:off x="640080" y="1188720"/>
            <a:ext cx="3657600" cy="365760"/>
          </a:xfrm>
          <a:prstGeom prst="rect">
            <a:avLst/>
          </a:prstGeom>
          <a:noFill/>
          <a:ln/>
        </p:spPr>
        <p:txBody>
          <a:bodyPr wrap="square" lIns="0" tIns="0" rIns="0" bIns="0" rtlCol="0" anchor="ctr"/>
          <a:lstStyle/>
          <a:p>
            <a:pPr indent="0" marL="0">
              <a:buNone/>
            </a:pPr>
            <a:r>
              <a:rPr lang="en-US" sz="1500" b="1" dirty="0">
                <a:solidFill>
                  <a:srgbClr val="14213D"/>
                </a:solidFill>
                <a:latin typeface="Cambria" pitchFamily="34" charset="0"/>
                <a:ea typeface="Cambria" pitchFamily="34" charset="-122"/>
                <a:cs typeface="Cambria" pitchFamily="34" charset="-120"/>
              </a:rPr>
              <a:t>Scenario 1: MEC outages</a:t>
            </a:r>
            <a:endParaRPr lang="en-US" sz="1500" dirty="0"/>
          </a:p>
        </p:txBody>
      </p:sp>
      <p:sp>
        <p:nvSpPr>
          <p:cNvPr id="8" name="Text 5"/>
          <p:cNvSpPr txBox="1"/>
          <p:nvPr/>
        </p:nvSpPr>
        <p:spPr>
          <a:xfrm>
            <a:off x="640080" y="1600200"/>
            <a:ext cx="3657600" cy="1005840"/>
          </a:xfrm>
          <a:prstGeom prst="rect">
            <a:avLst/>
          </a:prstGeom>
          <a:noFill/>
          <a:ln/>
        </p:spPr>
        <p:txBody>
          <a:bodyPr wrap="square" lIns="0" tIns="0" rIns="0" bIns="0" rtlCol="0" anchor="t"/>
          <a:lstStyle/>
          <a:p>
            <a:pPr indent="0" marL="0">
              <a:buNone/>
            </a:pPr>
            <a:r>
              <a:rPr lang="en-US" sz="1250" dirty="0">
                <a:solidFill>
                  <a:srgbClr val="1F2937"/>
                </a:solidFill>
                <a:latin typeface="Calibri" pitchFamily="34" charset="0"/>
                <a:ea typeface="Calibri" pitchFamily="34" charset="-122"/>
                <a:cs typeface="Calibri" pitchFamily="34" charset="-120"/>
              </a:rPr>
              <a:t>MEC unavailable at steps 500-750 and 1250-1500. Tested with 90% Class 1, 90% Class 2, 90% Class 3, and a mixed workload.</a:t>
            </a:r>
            <a:endParaRPr lang="en-US" sz="1250" dirty="0"/>
          </a:p>
        </p:txBody>
      </p:sp>
      <p:sp>
        <p:nvSpPr>
          <p:cNvPr id="9" name="Shape 6"/>
          <p:cNvSpPr/>
          <p:nvPr/>
        </p:nvSpPr>
        <p:spPr>
          <a:xfrm>
            <a:off x="4663440" y="1097280"/>
            <a:ext cx="4023360" cy="1554480"/>
          </a:xfrm>
          <a:prstGeom prst="roundRect">
            <a:avLst>
              <a:gd name="adj" fmla="val 4706"/>
            </a:avLst>
          </a:prstGeom>
          <a:solidFill>
            <a:srgbClr val="EEF4F7"/>
          </a:solidFill>
          <a:ln w="12700">
            <a:solidFill>
              <a:srgbClr val="EEF4F7"/>
            </a:solidFill>
            <a:prstDash val="solid"/>
          </a:ln>
          <a:effectLst>
            <a:outerShdw sx="100000" sy="100000" kx="0" ky="0" algn="bl" rotWithShape="0" blurRad="101600" dist="25400" dir="5400000">
              <a:srgbClr val="000000">
                <a:alpha val="12000"/>
              </a:srgbClr>
            </a:outerShdw>
          </a:effectLst>
        </p:spPr>
      </p:sp>
      <p:sp>
        <p:nvSpPr>
          <p:cNvPr id="10" name="Text 7"/>
          <p:cNvSpPr txBox="1"/>
          <p:nvPr/>
        </p:nvSpPr>
        <p:spPr>
          <a:xfrm>
            <a:off x="4846320" y="1188720"/>
            <a:ext cx="3657600" cy="365760"/>
          </a:xfrm>
          <a:prstGeom prst="rect">
            <a:avLst/>
          </a:prstGeom>
          <a:noFill/>
          <a:ln/>
        </p:spPr>
        <p:txBody>
          <a:bodyPr wrap="square" lIns="0" tIns="0" rIns="0" bIns="0" rtlCol="0" anchor="ctr"/>
          <a:lstStyle/>
          <a:p>
            <a:pPr indent="0" marL="0">
              <a:buNone/>
            </a:pPr>
            <a:r>
              <a:rPr lang="en-US" sz="1500" b="1" dirty="0">
                <a:solidFill>
                  <a:srgbClr val="14213D"/>
                </a:solidFill>
                <a:latin typeface="Cambria" pitchFamily="34" charset="0"/>
                <a:ea typeface="Cambria" pitchFamily="34" charset="-122"/>
                <a:cs typeface="Cambria" pitchFamily="34" charset="-120"/>
              </a:rPr>
              <a:t>Scenario 2: communication failure</a:t>
            </a:r>
            <a:endParaRPr lang="en-US" sz="1500" dirty="0"/>
          </a:p>
        </p:txBody>
      </p:sp>
      <p:sp>
        <p:nvSpPr>
          <p:cNvPr id="11" name="Text 8"/>
          <p:cNvSpPr txBox="1"/>
          <p:nvPr/>
        </p:nvSpPr>
        <p:spPr>
          <a:xfrm>
            <a:off x="4846320" y="1600200"/>
            <a:ext cx="3657600" cy="1005840"/>
          </a:xfrm>
          <a:prstGeom prst="rect">
            <a:avLst/>
          </a:prstGeom>
          <a:noFill/>
          <a:ln/>
        </p:spPr>
        <p:txBody>
          <a:bodyPr wrap="square" lIns="0" tIns="0" rIns="0" bIns="0" rtlCol="0" anchor="t"/>
          <a:lstStyle/>
          <a:p>
            <a:pPr indent="0" marL="0">
              <a:buNone/>
            </a:pPr>
            <a:r>
              <a:rPr lang="en-US" sz="1250" dirty="0">
                <a:solidFill>
                  <a:srgbClr val="1F2937"/>
                </a:solidFill>
                <a:latin typeface="Calibri" pitchFamily="34" charset="0"/>
                <a:ea typeface="Calibri" pitchFamily="34" charset="-122"/>
                <a:cs typeface="Calibri" pitchFamily="34" charset="-120"/>
              </a:rPr>
              <a:t>MEC stays available (80-100% capacity) but the wireless link fails during steps 500-1000, so nothing can be offloaded.</a:t>
            </a:r>
            <a:endParaRPr lang="en-US" sz="1250" dirty="0"/>
          </a:p>
        </p:txBody>
      </p:sp>
      <p:sp>
        <p:nvSpPr>
          <p:cNvPr id="12" name="Shape 9"/>
          <p:cNvSpPr/>
          <p:nvPr/>
        </p:nvSpPr>
        <p:spPr>
          <a:xfrm>
            <a:off x="457200" y="2880360"/>
            <a:ext cx="4023360" cy="1600200"/>
          </a:xfrm>
          <a:prstGeom prst="roundRect">
            <a:avLst>
              <a:gd name="adj" fmla="val 4571"/>
            </a:avLst>
          </a:prstGeom>
          <a:solidFill>
            <a:srgbClr val="D8EFF0"/>
          </a:solidFill>
          <a:ln w="12700">
            <a:solidFill>
              <a:srgbClr val="D8EFF0"/>
            </a:solidFill>
            <a:prstDash val="solid"/>
          </a:ln>
          <a:effectLst>
            <a:outerShdw sx="100000" sy="100000" kx="0" ky="0" algn="bl" rotWithShape="0" blurRad="101600" dist="25400" dir="5400000">
              <a:srgbClr val="000000">
                <a:alpha val="12000"/>
              </a:srgbClr>
            </a:outerShdw>
          </a:effectLst>
        </p:spPr>
      </p:sp>
      <p:sp>
        <p:nvSpPr>
          <p:cNvPr id="13" name="Text 10"/>
          <p:cNvSpPr txBox="1"/>
          <p:nvPr/>
        </p:nvSpPr>
        <p:spPr>
          <a:xfrm>
            <a:off x="640080" y="2971800"/>
            <a:ext cx="3657600" cy="365760"/>
          </a:xfrm>
          <a:prstGeom prst="rect">
            <a:avLst/>
          </a:prstGeom>
          <a:noFill/>
          <a:ln/>
        </p:spPr>
        <p:txBody>
          <a:bodyPr wrap="square" lIns="0" tIns="0" rIns="0" bIns="0" rtlCol="0" anchor="ctr"/>
          <a:lstStyle/>
          <a:p>
            <a:pPr indent="0" marL="0">
              <a:buNone/>
            </a:pPr>
            <a:r>
              <a:rPr lang="en-US" sz="1500" b="1" dirty="0">
                <a:solidFill>
                  <a:srgbClr val="14213D"/>
                </a:solidFill>
                <a:latin typeface="Cambria" pitchFamily="34" charset="0"/>
                <a:ea typeface="Cambria" pitchFamily="34" charset="-122"/>
                <a:cs typeface="Cambria" pitchFamily="34" charset="-120"/>
              </a:rPr>
              <a:t>Static baselines</a:t>
            </a:r>
            <a:endParaRPr lang="en-US" sz="1500" dirty="0"/>
          </a:p>
        </p:txBody>
      </p:sp>
      <p:sp>
        <p:nvSpPr>
          <p:cNvPr id="14" name="Text 11"/>
          <p:cNvSpPr txBox="1"/>
          <p:nvPr/>
        </p:nvSpPr>
        <p:spPr>
          <a:xfrm>
            <a:off x="640080" y="3429000"/>
            <a:ext cx="3657600" cy="914400"/>
          </a:xfrm>
          <a:prstGeom prst="rect">
            <a:avLst/>
          </a:prstGeom>
          <a:noFill/>
          <a:ln/>
        </p:spPr>
        <p:txBody>
          <a:bodyPr wrap="square" lIns="0" tIns="0" rIns="0" bIns="0" rtlCol="0" anchor="t"/>
          <a:lstStyle/>
          <a:p>
            <a:pPr indent="0" marL="0">
              <a:buNone/>
            </a:pPr>
            <a:r>
              <a:rPr lang="en-US" sz="1300" dirty="0">
                <a:solidFill>
                  <a:srgbClr val="1F2937"/>
                </a:solidFill>
                <a:latin typeface="Calibri" pitchFamily="34" charset="0"/>
                <a:ea typeface="Calibri" pitchFamily="34" charset="-122"/>
                <a:cs typeface="Calibri" pitchFamily="34" charset="-120"/>
              </a:rPr>
              <a:t>Always Local, always MEC, always Cloud</a:t>
            </a:r>
            <a:endParaRPr lang="en-US" sz="1300" dirty="0"/>
          </a:p>
        </p:txBody>
      </p:sp>
      <p:sp>
        <p:nvSpPr>
          <p:cNvPr id="15" name="Shape 12"/>
          <p:cNvSpPr/>
          <p:nvPr/>
        </p:nvSpPr>
        <p:spPr>
          <a:xfrm>
            <a:off x="4663440" y="2880360"/>
            <a:ext cx="4023360" cy="1600200"/>
          </a:xfrm>
          <a:prstGeom prst="roundRect">
            <a:avLst>
              <a:gd name="adj" fmla="val 4571"/>
            </a:avLst>
          </a:prstGeom>
          <a:solidFill>
            <a:srgbClr val="14213D"/>
          </a:solidFill>
          <a:ln w="12700">
            <a:solidFill>
              <a:srgbClr val="14213D"/>
            </a:solidFill>
            <a:prstDash val="solid"/>
          </a:ln>
          <a:effectLst>
            <a:outerShdw sx="100000" sy="100000" kx="0" ky="0" algn="bl" rotWithShape="0" blurRad="101600" dist="25400" dir="5400000">
              <a:srgbClr val="000000">
                <a:alpha val="12000"/>
              </a:srgbClr>
            </a:outerShdw>
          </a:effectLst>
        </p:spPr>
      </p:sp>
      <p:sp>
        <p:nvSpPr>
          <p:cNvPr id="16" name="Text 13"/>
          <p:cNvSpPr txBox="1"/>
          <p:nvPr/>
        </p:nvSpPr>
        <p:spPr>
          <a:xfrm>
            <a:off x="4846320" y="2971800"/>
            <a:ext cx="3657600" cy="365760"/>
          </a:xfrm>
          <a:prstGeom prst="rect">
            <a:avLst/>
          </a:prstGeom>
          <a:noFill/>
          <a:ln/>
        </p:spPr>
        <p:txBody>
          <a:bodyPr wrap="square" lIns="0" tIns="0" rIns="0" bIns="0" rtlCol="0" anchor="ctr"/>
          <a:lstStyle/>
          <a:p>
            <a:pPr indent="0" marL="0">
              <a:buNone/>
            </a:pPr>
            <a:r>
              <a:rPr lang="en-US" sz="1500" b="1" dirty="0">
                <a:solidFill>
                  <a:srgbClr val="F2A541"/>
                </a:solidFill>
                <a:latin typeface="Cambria" pitchFamily="34" charset="0"/>
                <a:ea typeface="Cambria" pitchFamily="34" charset="-122"/>
                <a:cs typeface="Cambria" pitchFamily="34" charset="-120"/>
              </a:rPr>
              <a:t>Dynamic methods</a:t>
            </a:r>
            <a:endParaRPr lang="en-US" sz="1500" dirty="0"/>
          </a:p>
        </p:txBody>
      </p:sp>
      <p:sp>
        <p:nvSpPr>
          <p:cNvPr id="17" name="Text 14"/>
          <p:cNvSpPr txBox="1"/>
          <p:nvPr/>
        </p:nvSpPr>
        <p:spPr>
          <a:xfrm>
            <a:off x="4846320" y="3429000"/>
            <a:ext cx="3657600" cy="91440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Random, Joint-Networks AC, Double Dueling DQN, and the proposed Separated-Networks AC</a:t>
            </a:r>
            <a:endParaRPr lang="en-US" sz="13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640080"/>
          </a:xfrm>
          <a:prstGeom prst="rect">
            <a:avLst/>
          </a:prstGeom>
          <a:noFill/>
          <a:ln/>
        </p:spPr>
        <p:txBody>
          <a:bodyPr wrap="square" lIns="0" tIns="0" rIns="0" bIns="0" rtlCol="0" anchor="ctr"/>
          <a:lstStyle/>
          <a:p>
            <a:pPr indent="0" marL="0">
              <a:buNone/>
            </a:pPr>
            <a:r>
              <a:rPr lang="en-US" sz="2800" b="1" dirty="0">
                <a:solidFill>
                  <a:srgbClr val="14213D"/>
                </a:solidFill>
                <a:latin typeface="Cambria" pitchFamily="34" charset="0"/>
                <a:ea typeface="Cambria" pitchFamily="34" charset="-122"/>
                <a:cs typeface="Cambria" pitchFamily="34" charset="-120"/>
              </a:rPr>
              <a:t>Results: scenario 1 (MEC outages)</a:t>
            </a:r>
            <a:endParaRPr lang="en-US" sz="2800" dirty="0"/>
          </a:p>
        </p:txBody>
      </p:sp>
      <p:sp>
        <p:nvSpPr>
          <p:cNvPr id="3" name="Text 1"/>
          <p:cNvSpPr txBox="1"/>
          <p:nvPr/>
        </p:nvSpPr>
        <p:spPr>
          <a:xfrm>
            <a:off x="457200" y="4754880"/>
            <a:ext cx="5486400" cy="22860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Nieto et al., J. Cloud Computing 13, 94 (2024)</a:t>
            </a:r>
            <a:endParaRPr lang="en-US" sz="900" dirty="0"/>
          </a:p>
        </p:txBody>
      </p:sp>
      <p:sp>
        <p:nvSpPr>
          <p:cNvPr id="4" name="Text 2"/>
          <p:cNvSpPr txBox="1"/>
          <p:nvPr/>
        </p:nvSpPr>
        <p:spPr>
          <a:xfrm>
            <a:off x="8229600" y="4754880"/>
            <a:ext cx="457200" cy="22860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14</a:t>
            </a:r>
            <a:endParaRPr lang="en-US" sz="9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457200" y="1097280"/>
          <a:ext cx="8229600" cy="914400"/>
        </p:xfrm>
        <a:graphic>
          <a:graphicData uri="http://schemas.openxmlformats.org/drawingml/2006/table">
            <a:tbl>
              <a:tblPr/>
              <a:tblGrid>
                <a:gridCol w="1828800"/>
                <a:gridCol w="3474720"/>
                <a:gridCol w="2926080"/>
              </a:tblGrid>
              <a:tr h="365760">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Workload</a:t>
                      </a:r>
                      <a:endParaRPr lang="en-US" sz="1200" dirty="0">
                        <a:latin typeface="Calibri" charset="0"/>
                        <a:ea typeface="Calibri" charset="0"/>
                        <a:cs typeface="Calibri" charset="0"/>
                      </a:endParaRPr>
                    </a:p>
                  </a:txBody>
                  <a:tcPr marL="91440" marR="91440" marT="45720" marB="45720"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14213D"/>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Static baselines</a:t>
                      </a:r>
                      <a:endParaRPr lang="en-US" sz="1200" dirty="0">
                        <a:latin typeface="Calibri" charset="0"/>
                        <a:ea typeface="Calibri" charset="0"/>
                        <a:cs typeface="Calibri" charset="0"/>
                      </a:endParaRPr>
                    </a:p>
                  </a:txBody>
                  <a:tcPr marL="91440" marR="91440" marT="45720" marB="45720"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14213D"/>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Separated-Networks AC (proposed)</a:t>
                      </a:r>
                      <a:endParaRPr lang="en-US" sz="1200" dirty="0">
                        <a:latin typeface="Calibri" charset="0"/>
                        <a:ea typeface="Calibri" charset="0"/>
                        <a:cs typeface="Calibri" charset="0"/>
                      </a:endParaRPr>
                    </a:p>
                  </a:txBody>
                  <a:tcPr marL="91440" marR="91440" marT="45720" marB="45720"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14213D"/>
                    </a:solidFill>
                  </a:tcPr>
                </a:tc>
              </a:tr>
              <a:tr h="731520">
                <a:tc>
                  <a:txBody>
                    <a:bodyPr/>
                    <a:lstStyle/>
                    <a:p>
                      <a:pPr indent="0" marL="0">
                        <a:buNone/>
                      </a:pPr>
                      <a:r>
                        <a:rPr lang="en-US" sz="1100" b="1" dirty="0">
                          <a:solidFill>
                            <a:srgbClr val="1F2937"/>
                          </a:solidFill>
                          <a:latin typeface="Calibri" pitchFamily="34" charset="0"/>
                          <a:ea typeface="Calibri" pitchFamily="34" charset="-122"/>
                          <a:cs typeface="Calibri" pitchFamily="34" charset="-120"/>
                        </a:rPr>
                        <a:t>90% Class 1 (delay)</a:t>
                      </a:r>
                      <a:endParaRPr lang="en-US" sz="1100" dirty="0">
                        <a:latin typeface="Calibri" charset="0"/>
                        <a:ea typeface="Calibri" charset="0"/>
                        <a:cs typeface="Calibri" charset="0"/>
                      </a:endParaRPr>
                    </a:p>
                  </a:txBody>
                  <a:tcPr marL="91440" marR="91440" marT="45720" marB="45720"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9FAFB"/>
                    </a:solidFill>
                  </a:tcPr>
                </a:tc>
                <a:tc>
                  <a:txBody>
                    <a:bodyPr/>
                    <a:lstStyle/>
                    <a:p>
                      <a:pPr indent="0" marL="0">
                        <a:buNone/>
                      </a:pPr>
                      <a:r>
                        <a:rPr lang="en-US" sz="1100" dirty="0">
                          <a:solidFill>
                            <a:srgbClr val="1F2937"/>
                          </a:solidFill>
                          <a:latin typeface="Calibri" pitchFamily="34" charset="0"/>
                          <a:ea typeface="Calibri" pitchFamily="34" charset="-122"/>
                          <a:cs typeface="Calibri" pitchFamily="34" charset="-120"/>
                        </a:rPr>
                        <a:t>Cloud worst (misses deadlines); Local drains battery; MEC best while available</a:t>
                      </a:r>
                      <a:endParaRPr lang="en-US" sz="1100" dirty="0">
                        <a:latin typeface="Calibri" charset="0"/>
                        <a:ea typeface="Calibri" charset="0"/>
                        <a:cs typeface="Calibri" charset="0"/>
                      </a:endParaRPr>
                    </a:p>
                  </a:txBody>
                  <a:tcPr marL="91440" marR="91440" marT="45720" marB="45720"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9FAFB"/>
                    </a:solidFill>
                  </a:tcPr>
                </a:tc>
                <a:tc>
                  <a:txBody>
                    <a:bodyPr/>
                    <a:lstStyle/>
                    <a:p>
                      <a:pPr indent="0" marL="0">
                        <a:buNone/>
                      </a:pPr>
                      <a:r>
                        <a:rPr lang="en-US" sz="1100" dirty="0">
                          <a:solidFill>
                            <a:srgbClr val="1F2937"/>
                          </a:solidFill>
                          <a:latin typeface="Calibri" pitchFamily="34" charset="0"/>
                          <a:ea typeface="Calibri" pitchFamily="34" charset="-122"/>
                          <a:cs typeface="Calibri" pitchFamily="34" charset="-120"/>
                        </a:rPr>
                        <a:t>Best dynamic method; switches after MEC fails</a:t>
                      </a:r>
                      <a:endParaRPr lang="en-US" sz="1100" dirty="0">
                        <a:latin typeface="Calibri" charset="0"/>
                        <a:ea typeface="Calibri" charset="0"/>
                        <a:cs typeface="Calibri" charset="0"/>
                      </a:endParaRPr>
                    </a:p>
                  </a:txBody>
                  <a:tcPr marL="91440" marR="91440" marT="45720" marB="45720"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9FAFB"/>
                    </a:solidFill>
                  </a:tcPr>
                </a:tc>
              </a:tr>
              <a:tr h="594360">
                <a:tc>
                  <a:txBody>
                    <a:bodyPr/>
                    <a:lstStyle/>
                    <a:p>
                      <a:pPr indent="0" marL="0">
                        <a:buNone/>
                      </a:pPr>
                      <a:r>
                        <a:rPr lang="en-US" sz="1100" b="1" dirty="0">
                          <a:solidFill>
                            <a:srgbClr val="1F2937"/>
                          </a:solidFill>
                          <a:latin typeface="Calibri" pitchFamily="34" charset="0"/>
                          <a:ea typeface="Calibri" pitchFamily="34" charset="-122"/>
                          <a:cs typeface="Calibri" pitchFamily="34" charset="-120"/>
                        </a:rPr>
                        <a:t>90% Class 2 (energy)</a:t>
                      </a:r>
                      <a:endParaRPr lang="en-US" sz="1100" dirty="0">
                        <a:latin typeface="Calibri" charset="0"/>
                        <a:ea typeface="Calibri" charset="0"/>
                        <a:cs typeface="Calibri" charset="0"/>
                      </a:endParaRPr>
                    </a:p>
                  </a:txBody>
                  <a:tcPr marL="91440" marR="91440" marT="45720" marB="45720"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9FAFB"/>
                    </a:solidFill>
                  </a:tcPr>
                </a:tc>
                <a:tc>
                  <a:txBody>
                    <a:bodyPr/>
                    <a:lstStyle/>
                    <a:p>
                      <a:pPr indent="0" marL="0">
                        <a:buNone/>
                      </a:pPr>
                      <a:r>
                        <a:rPr lang="en-US" sz="1100" dirty="0">
                          <a:solidFill>
                            <a:srgbClr val="1F2937"/>
                          </a:solidFill>
                          <a:latin typeface="Calibri" pitchFamily="34" charset="0"/>
                          <a:ea typeface="Calibri" pitchFamily="34" charset="-122"/>
                          <a:cs typeface="Calibri" pitchFamily="34" charset="-120"/>
                        </a:rPr>
                        <a:t>Local worst; MEC and Cloud use similar battery</a:t>
                      </a:r>
                      <a:endParaRPr lang="en-US" sz="1100" dirty="0">
                        <a:latin typeface="Calibri" charset="0"/>
                        <a:ea typeface="Calibri" charset="0"/>
                        <a:cs typeface="Calibri" charset="0"/>
                      </a:endParaRPr>
                    </a:p>
                  </a:txBody>
                  <a:tcPr marL="91440" marR="91440" marT="45720" marB="45720"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9FAFB"/>
                    </a:solidFill>
                  </a:tcPr>
                </a:tc>
                <a:tc>
                  <a:txBody>
                    <a:bodyPr/>
                    <a:lstStyle/>
                    <a:p>
                      <a:pPr indent="0" marL="0">
                        <a:buNone/>
                      </a:pPr>
                      <a:r>
                        <a:rPr lang="en-US" sz="1100" dirty="0">
                          <a:solidFill>
                            <a:srgbClr val="1F2937"/>
                          </a:solidFill>
                          <a:latin typeface="Calibri" pitchFamily="34" charset="0"/>
                          <a:ea typeface="Calibri" pitchFamily="34" charset="-122"/>
                          <a:cs typeface="Calibri" pitchFamily="34" charset="-120"/>
                        </a:rPr>
                        <a:t>Slightly better than Joint-Networks AC</a:t>
                      </a:r>
                      <a:endParaRPr lang="en-US" sz="1100" dirty="0">
                        <a:latin typeface="Calibri" charset="0"/>
                        <a:ea typeface="Calibri" charset="0"/>
                        <a:cs typeface="Calibri" charset="0"/>
                      </a:endParaRPr>
                    </a:p>
                  </a:txBody>
                  <a:tcPr marL="91440" marR="91440" marT="45720" marB="45720"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9FAFB"/>
                    </a:solidFill>
                  </a:tcPr>
                </a:tc>
              </a:tr>
              <a:tr h="685800">
                <a:tc>
                  <a:txBody>
                    <a:bodyPr/>
                    <a:lstStyle/>
                    <a:p>
                      <a:pPr indent="0" marL="0">
                        <a:buNone/>
                      </a:pPr>
                      <a:r>
                        <a:rPr lang="en-US" sz="1100" b="1" dirty="0">
                          <a:solidFill>
                            <a:srgbClr val="1F2937"/>
                          </a:solidFill>
                          <a:latin typeface="Calibri" pitchFamily="34" charset="0"/>
                          <a:ea typeface="Calibri" pitchFamily="34" charset="-122"/>
                          <a:cs typeface="Calibri" pitchFamily="34" charset="-120"/>
                        </a:rPr>
                        <a:t>90% Class 3 (insensitive)</a:t>
                      </a:r>
                      <a:endParaRPr lang="en-US" sz="1100" dirty="0">
                        <a:latin typeface="Calibri" charset="0"/>
                        <a:ea typeface="Calibri" charset="0"/>
                        <a:cs typeface="Calibri" charset="0"/>
                      </a:endParaRPr>
                    </a:p>
                  </a:txBody>
                  <a:tcPr marL="91440" marR="91440" marT="45720" marB="45720"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9FAFB"/>
                    </a:solidFill>
                  </a:tcPr>
                </a:tc>
                <a:tc>
                  <a:txBody>
                    <a:bodyPr/>
                    <a:lstStyle/>
                    <a:p>
                      <a:pPr indent="0" marL="0">
                        <a:buNone/>
                      </a:pPr>
                      <a:r>
                        <a:rPr lang="en-US" sz="1100" dirty="0">
                          <a:solidFill>
                            <a:srgbClr val="1F2937"/>
                          </a:solidFill>
                          <a:latin typeface="Calibri" pitchFamily="34" charset="0"/>
                          <a:ea typeface="Calibri" pitchFamily="34" charset="-122"/>
                          <a:cs typeface="Calibri" pitchFamily="34" charset="-120"/>
                        </a:rPr>
                        <a:t>Local worst; MEC and Cloud QoE near 0</a:t>
                      </a:r>
                      <a:endParaRPr lang="en-US" sz="1100" dirty="0">
                        <a:latin typeface="Calibri" charset="0"/>
                        <a:ea typeface="Calibri" charset="0"/>
                        <a:cs typeface="Calibri" charset="0"/>
                      </a:endParaRPr>
                    </a:p>
                  </a:txBody>
                  <a:tcPr marL="91440" marR="91440" marT="45720" marB="45720"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9FAFB"/>
                    </a:solidFill>
                  </a:tcPr>
                </a:tc>
                <a:tc>
                  <a:txBody>
                    <a:bodyPr/>
                    <a:lstStyle/>
                    <a:p>
                      <a:pPr indent="0" marL="0">
                        <a:buNone/>
                      </a:pPr>
                      <a:r>
                        <a:rPr lang="en-US" sz="1100" dirty="0">
                          <a:solidFill>
                            <a:srgbClr val="1F2937"/>
                          </a:solidFill>
                          <a:latin typeface="Calibri" pitchFamily="34" charset="0"/>
                          <a:ea typeface="Calibri" pitchFamily="34" charset="-122"/>
                          <a:cs typeface="Calibri" pitchFamily="34" charset="-120"/>
                        </a:rPr>
                        <a:t>Keeps more battery; uses MEC, then cloud during outages</a:t>
                      </a:r>
                      <a:endParaRPr lang="en-US" sz="1100" dirty="0">
                        <a:latin typeface="Calibri" charset="0"/>
                        <a:ea typeface="Calibri" charset="0"/>
                        <a:cs typeface="Calibri" charset="0"/>
                      </a:endParaRPr>
                    </a:p>
                  </a:txBody>
                  <a:tcPr marL="91440" marR="91440" marT="45720" marB="45720"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9FAFB"/>
                    </a:solidFill>
                  </a:tcPr>
                </a:tc>
              </a:tr>
              <a:tr h="685800">
                <a:tc>
                  <a:txBody>
                    <a:bodyPr/>
                    <a:lstStyle/>
                    <a:p>
                      <a:pPr indent="0" marL="0">
                        <a:buNone/>
                      </a:pPr>
                      <a:r>
                        <a:rPr lang="en-US" sz="1100" b="1" dirty="0">
                          <a:solidFill>
                            <a:srgbClr val="1F2937"/>
                          </a:solidFill>
                          <a:latin typeface="Calibri" pitchFamily="34" charset="0"/>
                          <a:ea typeface="Calibri" pitchFamily="34" charset="-122"/>
                          <a:cs typeface="Calibri" pitchFamily="34" charset="-120"/>
                        </a:rPr>
                        <a:t>Mixed</a:t>
                      </a:r>
                      <a:endParaRPr lang="en-US" sz="1100" dirty="0">
                        <a:latin typeface="Calibri" charset="0"/>
                        <a:ea typeface="Calibri" charset="0"/>
                        <a:cs typeface="Calibri" charset="0"/>
                      </a:endParaRPr>
                    </a:p>
                  </a:txBody>
                  <a:tcPr marL="91440" marR="91440" marT="45720" marB="45720"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9FAFB"/>
                    </a:solidFill>
                  </a:tcPr>
                </a:tc>
                <a:tc>
                  <a:txBody>
                    <a:bodyPr/>
                    <a:lstStyle/>
                    <a:p>
                      <a:pPr indent="0" marL="0">
                        <a:buNone/>
                      </a:pPr>
                      <a:r>
                        <a:rPr lang="en-US" sz="1100" dirty="0">
                          <a:solidFill>
                            <a:srgbClr val="1F2937"/>
                          </a:solidFill>
                          <a:latin typeface="Calibri" pitchFamily="34" charset="0"/>
                          <a:ea typeface="Calibri" pitchFamily="34" charset="-122"/>
                          <a:cs typeface="Calibri" pitchFamily="34" charset="-120"/>
                        </a:rPr>
                        <a:t>MEC is the best static choice</a:t>
                      </a:r>
                      <a:endParaRPr lang="en-US" sz="1100" dirty="0">
                        <a:latin typeface="Calibri" charset="0"/>
                        <a:ea typeface="Calibri" charset="0"/>
                        <a:cs typeface="Calibri" charset="0"/>
                      </a:endParaRPr>
                    </a:p>
                  </a:txBody>
                  <a:tcPr marL="91440" marR="91440" marT="45720" marB="45720"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9FAFB"/>
                    </a:solidFill>
                  </a:tcPr>
                </a:tc>
                <a:tc>
                  <a:txBody>
                    <a:bodyPr/>
                    <a:lstStyle/>
                    <a:p>
                      <a:pPr indent="0" marL="0">
                        <a:buNone/>
                      </a:pPr>
                      <a:r>
                        <a:rPr lang="en-US" sz="1100" dirty="0">
                          <a:solidFill>
                            <a:srgbClr val="1F2937"/>
                          </a:solidFill>
                          <a:latin typeface="Calibri" pitchFamily="34" charset="0"/>
                          <a:ea typeface="Calibri" pitchFamily="34" charset="-122"/>
                          <a:cs typeface="Calibri" pitchFamily="34" charset="-120"/>
                        </a:rPr>
                        <a:t>Best QoE overall; DDDQN worst on battery and QoE</a:t>
                      </a:r>
                      <a:endParaRPr lang="en-US" sz="1100" dirty="0">
                        <a:latin typeface="Calibri" charset="0"/>
                        <a:ea typeface="Calibri" charset="0"/>
                        <a:cs typeface="Calibri" charset="0"/>
                      </a:endParaRPr>
                    </a:p>
                  </a:txBody>
                  <a:tcPr marL="91440" marR="91440" marT="45720" marB="45720"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9FAFB"/>
                    </a:solidFill>
                  </a:tcPr>
                </a:tc>
              </a:tr>
            </a:tbl>
          </a:graphicData>
        </a:graphic>
      </p:graphicFrame>
      <p:sp>
        <p:nvSpPr>
          <p:cNvPr id="7" name="Text 3"/>
          <p:cNvSpPr txBox="1"/>
          <p:nvPr/>
        </p:nvSpPr>
        <p:spPr>
          <a:xfrm>
            <a:off x="457200" y="4251960"/>
            <a:ext cx="8229600" cy="365760"/>
          </a:xfrm>
          <a:prstGeom prst="rect">
            <a:avLst/>
          </a:prstGeom>
          <a:noFill/>
          <a:ln/>
        </p:spPr>
        <p:txBody>
          <a:bodyPr wrap="square" lIns="0" tIns="0" rIns="0" bIns="0" rtlCol="0" anchor="ctr"/>
          <a:lstStyle/>
          <a:p>
            <a:pPr indent="0" marL="0">
              <a:buNone/>
            </a:pPr>
            <a:r>
              <a:rPr lang="en-US" sz="1100" i="1" dirty="0">
                <a:solidFill>
                  <a:srgbClr val="6B7280"/>
                </a:solidFill>
                <a:latin typeface="Calibri" pitchFamily="34" charset="0"/>
                <a:ea typeface="Calibri" pitchFamily="34" charset="-122"/>
                <a:cs typeface="Calibri" pitchFamily="34" charset="-120"/>
              </a:rPr>
              <a:t>DDDQN = Double Dueling Deep Q-Network. It learned more slowly than the Actor-Critic variants in the reported runs.</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640080"/>
          </a:xfrm>
          <a:prstGeom prst="rect">
            <a:avLst/>
          </a:prstGeom>
          <a:noFill/>
          <a:ln/>
        </p:spPr>
        <p:txBody>
          <a:bodyPr wrap="square" lIns="0" tIns="0" rIns="0" bIns="0" rtlCol="0" anchor="ctr"/>
          <a:lstStyle/>
          <a:p>
            <a:pPr indent="0" marL="0">
              <a:buNone/>
            </a:pPr>
            <a:r>
              <a:rPr lang="en-US" sz="2800" b="1" dirty="0">
                <a:solidFill>
                  <a:srgbClr val="14213D"/>
                </a:solidFill>
                <a:latin typeface="Cambria" pitchFamily="34" charset="0"/>
                <a:ea typeface="Cambria" pitchFamily="34" charset="-122"/>
                <a:cs typeface="Cambria" pitchFamily="34" charset="-120"/>
              </a:rPr>
              <a:t>Results: scenario 2 and key findings</a:t>
            </a:r>
            <a:endParaRPr lang="en-US" sz="2800" dirty="0"/>
          </a:p>
        </p:txBody>
      </p:sp>
      <p:sp>
        <p:nvSpPr>
          <p:cNvPr id="3" name="Text 1"/>
          <p:cNvSpPr txBox="1"/>
          <p:nvPr/>
        </p:nvSpPr>
        <p:spPr>
          <a:xfrm>
            <a:off x="457200" y="4754880"/>
            <a:ext cx="5486400" cy="22860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Nieto et al., J. Cloud Computing 13, 94 (2024)</a:t>
            </a:r>
            <a:endParaRPr lang="en-US" sz="900" dirty="0"/>
          </a:p>
        </p:txBody>
      </p:sp>
      <p:sp>
        <p:nvSpPr>
          <p:cNvPr id="4" name="Text 2"/>
          <p:cNvSpPr txBox="1"/>
          <p:nvPr/>
        </p:nvSpPr>
        <p:spPr>
          <a:xfrm>
            <a:off x="8229600" y="4754880"/>
            <a:ext cx="457200" cy="22860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15</a:t>
            </a:r>
            <a:endParaRPr lang="en-US" sz="900" dirty="0"/>
          </a:p>
        </p:txBody>
      </p:sp>
      <p:sp>
        <p:nvSpPr>
          <p:cNvPr id="6" name="Shape 3"/>
          <p:cNvSpPr/>
          <p:nvPr/>
        </p:nvSpPr>
        <p:spPr>
          <a:xfrm>
            <a:off x="457200" y="1097280"/>
            <a:ext cx="3931920" cy="1508760"/>
          </a:xfrm>
          <a:prstGeom prst="roundRect">
            <a:avLst>
              <a:gd name="adj" fmla="val 4848"/>
            </a:avLst>
          </a:prstGeom>
          <a:solidFill>
            <a:srgbClr val="14213D"/>
          </a:solidFill>
          <a:ln w="12700">
            <a:solidFill>
              <a:srgbClr val="14213D"/>
            </a:solidFill>
            <a:prstDash val="solid"/>
          </a:ln>
          <a:effectLst>
            <a:outerShdw sx="100000" sy="100000" kx="0" ky="0" algn="bl" rotWithShape="0" blurRad="101600" dist="25400" dir="5400000">
              <a:srgbClr val="000000">
                <a:alpha val="12000"/>
              </a:srgbClr>
            </a:outerShdw>
          </a:effectLst>
        </p:spPr>
      </p:sp>
      <p:sp>
        <p:nvSpPr>
          <p:cNvPr id="7" name="Text 4"/>
          <p:cNvSpPr txBox="1"/>
          <p:nvPr/>
        </p:nvSpPr>
        <p:spPr>
          <a:xfrm>
            <a:off x="685800" y="1234440"/>
            <a:ext cx="3474720" cy="411480"/>
          </a:xfrm>
          <a:prstGeom prst="rect">
            <a:avLst/>
          </a:prstGeom>
          <a:noFill/>
          <a:ln/>
        </p:spPr>
        <p:txBody>
          <a:bodyPr wrap="square" lIns="0" tIns="0" rIns="0" bIns="0" rtlCol="0" anchor="ctr"/>
          <a:lstStyle/>
          <a:p>
            <a:pPr indent="0" marL="0">
              <a:buNone/>
            </a:pPr>
            <a:r>
              <a:rPr lang="en-US" sz="1600" b="1" dirty="0">
                <a:solidFill>
                  <a:srgbClr val="F2A541"/>
                </a:solidFill>
                <a:latin typeface="Cambria" pitchFamily="34" charset="0"/>
                <a:ea typeface="Cambria" pitchFamily="34" charset="-122"/>
                <a:cs typeface="Cambria" pitchFamily="34" charset="-120"/>
              </a:rPr>
              <a:t>No fixed policy wins</a:t>
            </a:r>
            <a:endParaRPr lang="en-US" sz="1600" dirty="0"/>
          </a:p>
        </p:txBody>
      </p:sp>
      <p:sp>
        <p:nvSpPr>
          <p:cNvPr id="8" name="Text 5"/>
          <p:cNvSpPr txBox="1"/>
          <p:nvPr/>
        </p:nvSpPr>
        <p:spPr>
          <a:xfrm>
            <a:off x="685800" y="1691640"/>
            <a:ext cx="3474720" cy="82296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Cloud fails delay-critical tasks, Local drains the battery on heavy tasks, MEC fails when the edge is down.</a:t>
            </a:r>
            <a:endParaRPr lang="en-US" sz="1300" dirty="0"/>
          </a:p>
        </p:txBody>
      </p:sp>
      <p:sp>
        <p:nvSpPr>
          <p:cNvPr id="9" name="Shape 6"/>
          <p:cNvSpPr/>
          <p:nvPr/>
        </p:nvSpPr>
        <p:spPr>
          <a:xfrm>
            <a:off x="4663440" y="1097280"/>
            <a:ext cx="3931920" cy="1508760"/>
          </a:xfrm>
          <a:prstGeom prst="roundRect">
            <a:avLst>
              <a:gd name="adj" fmla="val 4848"/>
            </a:avLst>
          </a:prstGeom>
          <a:solidFill>
            <a:srgbClr val="EEF4F7"/>
          </a:solidFill>
          <a:ln w="12700">
            <a:solidFill>
              <a:srgbClr val="EEF4F7"/>
            </a:solidFill>
            <a:prstDash val="solid"/>
          </a:ln>
          <a:effectLst>
            <a:outerShdw sx="100000" sy="100000" kx="0" ky="0" algn="bl" rotWithShape="0" blurRad="101600" dist="25400" dir="5400000">
              <a:srgbClr val="000000">
                <a:alpha val="12000"/>
              </a:srgbClr>
            </a:outerShdw>
          </a:effectLst>
        </p:spPr>
      </p:sp>
      <p:sp>
        <p:nvSpPr>
          <p:cNvPr id="10" name="Text 7"/>
          <p:cNvSpPr txBox="1"/>
          <p:nvPr/>
        </p:nvSpPr>
        <p:spPr>
          <a:xfrm>
            <a:off x="4892040" y="1234440"/>
            <a:ext cx="3474720" cy="411480"/>
          </a:xfrm>
          <a:prstGeom prst="rect">
            <a:avLst/>
          </a:prstGeom>
          <a:noFill/>
          <a:ln/>
        </p:spPr>
        <p:txBody>
          <a:bodyPr wrap="square" lIns="0" tIns="0" rIns="0" bIns="0" rtlCol="0" anchor="ctr"/>
          <a:lstStyle/>
          <a:p>
            <a:pPr indent="0" marL="0">
              <a:buNone/>
            </a:pPr>
            <a:r>
              <a:rPr lang="en-US" sz="1600" b="1" dirty="0">
                <a:solidFill>
                  <a:srgbClr val="14213D"/>
                </a:solidFill>
                <a:latin typeface="Cambria" pitchFamily="34" charset="0"/>
                <a:ea typeface="Cambria" pitchFamily="34" charset="-122"/>
                <a:cs typeface="Cambria" pitchFamily="34" charset="-120"/>
              </a:rPr>
              <a:t>Agents adapt online</a:t>
            </a:r>
            <a:endParaRPr lang="en-US" sz="1600" dirty="0"/>
          </a:p>
        </p:txBody>
      </p:sp>
      <p:sp>
        <p:nvSpPr>
          <p:cNvPr id="11" name="Text 8"/>
          <p:cNvSpPr txBox="1"/>
          <p:nvPr/>
        </p:nvSpPr>
        <p:spPr>
          <a:xfrm>
            <a:off x="4892040" y="1691640"/>
            <a:ext cx="3474720" cy="822960"/>
          </a:xfrm>
          <a:prstGeom prst="rect">
            <a:avLst/>
          </a:prstGeom>
          <a:noFill/>
          <a:ln/>
        </p:spPr>
        <p:txBody>
          <a:bodyPr wrap="square" lIns="0" tIns="0" rIns="0" bIns="0" rtlCol="0" anchor="t"/>
          <a:lstStyle/>
          <a:p>
            <a:pPr indent="0" marL="0">
              <a:buNone/>
            </a:pPr>
            <a:r>
              <a:rPr lang="en-US" sz="1300" dirty="0">
                <a:solidFill>
                  <a:srgbClr val="1F2937"/>
                </a:solidFill>
                <a:latin typeface="Calibri" pitchFamily="34" charset="0"/>
                <a:ea typeface="Calibri" pitchFamily="34" charset="-122"/>
                <a:cs typeface="Calibri" pitchFamily="34" charset="-120"/>
              </a:rPr>
              <a:t>The proposed agents use MEC as long as it is up, then move to cloud or local when it is not.</a:t>
            </a:r>
            <a:endParaRPr lang="en-US" sz="1300" dirty="0"/>
          </a:p>
        </p:txBody>
      </p:sp>
      <p:sp>
        <p:nvSpPr>
          <p:cNvPr id="12" name="Shape 9"/>
          <p:cNvSpPr/>
          <p:nvPr/>
        </p:nvSpPr>
        <p:spPr>
          <a:xfrm>
            <a:off x="457200" y="2788920"/>
            <a:ext cx="3931920" cy="1508760"/>
          </a:xfrm>
          <a:prstGeom prst="roundRect">
            <a:avLst>
              <a:gd name="adj" fmla="val 4848"/>
            </a:avLst>
          </a:prstGeom>
          <a:solidFill>
            <a:srgbClr val="EEF4F7"/>
          </a:solidFill>
          <a:ln w="12700">
            <a:solidFill>
              <a:srgbClr val="EEF4F7"/>
            </a:solidFill>
            <a:prstDash val="solid"/>
          </a:ln>
          <a:effectLst>
            <a:outerShdw sx="100000" sy="100000" kx="0" ky="0" algn="bl" rotWithShape="0" blurRad="101600" dist="25400" dir="5400000">
              <a:srgbClr val="000000">
                <a:alpha val="12000"/>
              </a:srgbClr>
            </a:outerShdw>
          </a:effectLst>
        </p:spPr>
      </p:sp>
      <p:sp>
        <p:nvSpPr>
          <p:cNvPr id="13" name="Text 10"/>
          <p:cNvSpPr txBox="1"/>
          <p:nvPr/>
        </p:nvSpPr>
        <p:spPr>
          <a:xfrm>
            <a:off x="685800" y="2926080"/>
            <a:ext cx="3474720" cy="411480"/>
          </a:xfrm>
          <a:prstGeom prst="rect">
            <a:avLst/>
          </a:prstGeom>
          <a:noFill/>
          <a:ln/>
        </p:spPr>
        <p:txBody>
          <a:bodyPr wrap="square" lIns="0" tIns="0" rIns="0" bIns="0" rtlCol="0" anchor="ctr"/>
          <a:lstStyle/>
          <a:p>
            <a:pPr indent="0" marL="0">
              <a:buNone/>
            </a:pPr>
            <a:r>
              <a:rPr lang="en-US" sz="1600" b="1" dirty="0">
                <a:solidFill>
                  <a:srgbClr val="14213D"/>
                </a:solidFill>
                <a:latin typeface="Cambria" pitchFamily="34" charset="0"/>
                <a:ea typeface="Cambria" pitchFamily="34" charset="-122"/>
                <a:cs typeface="Cambria" pitchFamily="34" charset="-120"/>
              </a:rPr>
              <a:t>Separated networks help</a:t>
            </a:r>
            <a:endParaRPr lang="en-US" sz="1600" dirty="0"/>
          </a:p>
        </p:txBody>
      </p:sp>
      <p:sp>
        <p:nvSpPr>
          <p:cNvPr id="14" name="Text 11"/>
          <p:cNvSpPr txBox="1"/>
          <p:nvPr/>
        </p:nvSpPr>
        <p:spPr>
          <a:xfrm>
            <a:off x="685800" y="3383280"/>
            <a:ext cx="3474720" cy="822960"/>
          </a:xfrm>
          <a:prstGeom prst="rect">
            <a:avLst/>
          </a:prstGeom>
          <a:noFill/>
          <a:ln/>
        </p:spPr>
        <p:txBody>
          <a:bodyPr wrap="square" lIns="0" tIns="0" rIns="0" bIns="0" rtlCol="0" anchor="t"/>
          <a:lstStyle/>
          <a:p>
            <a:pPr indent="0" marL="0">
              <a:buNone/>
            </a:pPr>
            <a:r>
              <a:rPr lang="en-US" sz="1300" dirty="0">
                <a:solidFill>
                  <a:srgbClr val="1F2937"/>
                </a:solidFill>
                <a:latin typeface="Calibri" pitchFamily="34" charset="0"/>
                <a:ea typeface="Calibri" pitchFamily="34" charset="-122"/>
                <a:cs typeface="Calibri" pitchFamily="34" charset="-120"/>
              </a:rPr>
              <a:t>Separate actor and critic gave slightly better results than shared hidden layers.</a:t>
            </a:r>
            <a:endParaRPr lang="en-US" sz="1300" dirty="0"/>
          </a:p>
        </p:txBody>
      </p:sp>
      <p:sp>
        <p:nvSpPr>
          <p:cNvPr id="15" name="Shape 12"/>
          <p:cNvSpPr/>
          <p:nvPr/>
        </p:nvSpPr>
        <p:spPr>
          <a:xfrm>
            <a:off x="4663440" y="2788920"/>
            <a:ext cx="3931920" cy="1508760"/>
          </a:xfrm>
          <a:prstGeom prst="roundRect">
            <a:avLst>
              <a:gd name="adj" fmla="val 4848"/>
            </a:avLst>
          </a:prstGeom>
          <a:solidFill>
            <a:srgbClr val="EEF4F7"/>
          </a:solidFill>
          <a:ln w="12700">
            <a:solidFill>
              <a:srgbClr val="EEF4F7"/>
            </a:solidFill>
            <a:prstDash val="solid"/>
          </a:ln>
          <a:effectLst>
            <a:outerShdw sx="100000" sy="100000" kx="0" ky="0" algn="bl" rotWithShape="0" blurRad="101600" dist="25400" dir="5400000">
              <a:srgbClr val="000000">
                <a:alpha val="12000"/>
              </a:srgbClr>
            </a:outerShdw>
          </a:effectLst>
        </p:spPr>
      </p:sp>
      <p:sp>
        <p:nvSpPr>
          <p:cNvPr id="16" name="Text 13"/>
          <p:cNvSpPr txBox="1"/>
          <p:nvPr/>
        </p:nvSpPr>
        <p:spPr>
          <a:xfrm>
            <a:off x="4892040" y="2926080"/>
            <a:ext cx="3474720" cy="411480"/>
          </a:xfrm>
          <a:prstGeom prst="rect">
            <a:avLst/>
          </a:prstGeom>
          <a:noFill/>
          <a:ln/>
        </p:spPr>
        <p:txBody>
          <a:bodyPr wrap="square" lIns="0" tIns="0" rIns="0" bIns="0" rtlCol="0" anchor="ctr"/>
          <a:lstStyle/>
          <a:p>
            <a:pPr indent="0" marL="0">
              <a:buNone/>
            </a:pPr>
            <a:r>
              <a:rPr lang="en-US" sz="1600" b="1" dirty="0">
                <a:solidFill>
                  <a:srgbClr val="14213D"/>
                </a:solidFill>
                <a:latin typeface="Cambria" pitchFamily="34" charset="0"/>
                <a:ea typeface="Cambria" pitchFamily="34" charset="-122"/>
                <a:cs typeface="Cambria" pitchFamily="34" charset="-120"/>
              </a:rPr>
              <a:t>Link failure handled</a:t>
            </a:r>
            <a:endParaRPr lang="en-US" sz="1600" dirty="0"/>
          </a:p>
        </p:txBody>
      </p:sp>
      <p:sp>
        <p:nvSpPr>
          <p:cNvPr id="17" name="Text 14"/>
          <p:cNvSpPr txBox="1"/>
          <p:nvPr/>
        </p:nvSpPr>
        <p:spPr>
          <a:xfrm>
            <a:off x="4892040" y="3383280"/>
            <a:ext cx="3474720" cy="822960"/>
          </a:xfrm>
          <a:prstGeom prst="rect">
            <a:avLst/>
          </a:prstGeom>
          <a:noFill/>
          <a:ln/>
        </p:spPr>
        <p:txBody>
          <a:bodyPr wrap="square" lIns="0" tIns="0" rIns="0" bIns="0" rtlCol="0" anchor="t"/>
          <a:lstStyle/>
          <a:p>
            <a:pPr indent="0" marL="0">
              <a:buNone/>
            </a:pPr>
            <a:r>
              <a:rPr lang="en-US" sz="1300" dirty="0">
                <a:solidFill>
                  <a:srgbClr val="1F2937"/>
                </a:solidFill>
                <a:latin typeface="Calibri" pitchFamily="34" charset="0"/>
                <a:ea typeface="Calibri" pitchFamily="34" charset="-122"/>
                <a:cs typeface="Calibri" pitchFamily="34" charset="-120"/>
              </a:rPr>
              <a:t>When the wireless link fails, dynamic agents adjust and outperform static baselines.</a:t>
            </a:r>
            <a:endParaRPr lang="en-US" sz="13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640080"/>
          </a:xfrm>
          <a:prstGeom prst="rect">
            <a:avLst/>
          </a:prstGeom>
          <a:noFill/>
          <a:ln/>
        </p:spPr>
        <p:txBody>
          <a:bodyPr wrap="square" lIns="0" tIns="0" rIns="0" bIns="0" rtlCol="0" anchor="ctr"/>
          <a:lstStyle/>
          <a:p>
            <a:pPr indent="0" marL="0">
              <a:buNone/>
            </a:pPr>
            <a:r>
              <a:rPr lang="en-US" sz="2800" b="1" dirty="0">
                <a:solidFill>
                  <a:srgbClr val="14213D"/>
                </a:solidFill>
                <a:latin typeface="Cambria" pitchFamily="34" charset="0"/>
                <a:ea typeface="Cambria" pitchFamily="34" charset="-122"/>
                <a:cs typeface="Cambria" pitchFamily="34" charset="-120"/>
              </a:rPr>
              <a:t>Critical analysis</a:t>
            </a:r>
            <a:endParaRPr lang="en-US" sz="2800" dirty="0"/>
          </a:p>
        </p:txBody>
      </p:sp>
      <p:sp>
        <p:nvSpPr>
          <p:cNvPr id="3" name="Text 1"/>
          <p:cNvSpPr txBox="1"/>
          <p:nvPr/>
        </p:nvSpPr>
        <p:spPr>
          <a:xfrm>
            <a:off x="457200" y="4754880"/>
            <a:ext cx="5486400" cy="22860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Nieto et al., J. Cloud Computing 13, 94 (2024)</a:t>
            </a:r>
            <a:endParaRPr lang="en-US" sz="900" dirty="0"/>
          </a:p>
        </p:txBody>
      </p:sp>
      <p:sp>
        <p:nvSpPr>
          <p:cNvPr id="4" name="Text 2"/>
          <p:cNvSpPr txBox="1"/>
          <p:nvPr/>
        </p:nvSpPr>
        <p:spPr>
          <a:xfrm>
            <a:off x="8229600" y="4754880"/>
            <a:ext cx="457200" cy="22860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16</a:t>
            </a:r>
            <a:endParaRPr lang="en-US" sz="900" dirty="0"/>
          </a:p>
        </p:txBody>
      </p:sp>
      <p:sp>
        <p:nvSpPr>
          <p:cNvPr id="6" name="Shape 3"/>
          <p:cNvSpPr/>
          <p:nvPr/>
        </p:nvSpPr>
        <p:spPr>
          <a:xfrm>
            <a:off x="457200" y="1097280"/>
            <a:ext cx="4023360" cy="2651760"/>
          </a:xfrm>
          <a:prstGeom prst="roundRect">
            <a:avLst>
              <a:gd name="adj" fmla="val 2759"/>
            </a:avLst>
          </a:prstGeom>
          <a:solidFill>
            <a:srgbClr val="D8EFF0"/>
          </a:solidFill>
          <a:ln w="12700">
            <a:solidFill>
              <a:srgbClr val="D8EFF0"/>
            </a:solidFill>
            <a:prstDash val="solid"/>
          </a:ln>
          <a:effectLst>
            <a:outerShdw sx="100000" sy="100000" kx="0" ky="0" algn="bl" rotWithShape="0" blurRad="101600" dist="25400" dir="5400000">
              <a:srgbClr val="000000">
                <a:alpha val="12000"/>
              </a:srgbClr>
            </a:outerShdw>
          </a:effectLst>
        </p:spPr>
      </p:sp>
      <p:sp>
        <p:nvSpPr>
          <p:cNvPr id="7" name="Text 4"/>
          <p:cNvSpPr txBox="1"/>
          <p:nvPr/>
        </p:nvSpPr>
        <p:spPr>
          <a:xfrm>
            <a:off x="685800" y="1188720"/>
            <a:ext cx="3566160" cy="411480"/>
          </a:xfrm>
          <a:prstGeom prst="rect">
            <a:avLst/>
          </a:prstGeom>
          <a:noFill/>
          <a:ln/>
        </p:spPr>
        <p:txBody>
          <a:bodyPr wrap="square" lIns="0" tIns="0" rIns="0" bIns="0" rtlCol="0" anchor="ctr"/>
          <a:lstStyle/>
          <a:p>
            <a:pPr indent="0" marL="0">
              <a:buNone/>
            </a:pPr>
            <a:r>
              <a:rPr lang="en-US" sz="1700" b="1" dirty="0">
                <a:solidFill>
                  <a:srgbClr val="0E7C86"/>
                </a:solidFill>
                <a:latin typeface="Cambria" pitchFamily="34" charset="0"/>
                <a:ea typeface="Cambria" pitchFamily="34" charset="-122"/>
                <a:cs typeface="Cambria" pitchFamily="34" charset="-120"/>
              </a:rPr>
              <a:t>Strengths</a:t>
            </a:r>
            <a:endParaRPr lang="en-US" sz="1700" dirty="0"/>
          </a:p>
        </p:txBody>
      </p:sp>
      <p:sp>
        <p:nvSpPr>
          <p:cNvPr id="8" name="Text 5"/>
          <p:cNvSpPr txBox="1"/>
          <p:nvPr/>
        </p:nvSpPr>
        <p:spPr>
          <a:xfrm>
            <a:off x="685800" y="1691640"/>
            <a:ext cx="3566160" cy="192024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rgbClr val="1F2937"/>
                </a:solidFill>
                <a:latin typeface="Calibri" pitchFamily="34" charset="0"/>
                <a:ea typeface="Calibri" pitchFamily="34" charset="-122"/>
                <a:cs typeface="Calibri" pitchFamily="34" charset="-120"/>
              </a:rPr>
              <a:t>Distributed: no central controller, lower overhead and better privacy</a:t>
            </a:r>
            <a:endParaRPr lang="en-US" sz="1300" dirty="0"/>
          </a:p>
          <a:p>
            <a:pPr marL="342900" indent="-342900">
              <a:spcAft>
                <a:spcPts val="600"/>
              </a:spcAft>
              <a:buSzPct val="100000"/>
              <a:buChar char="•"/>
            </a:pPr>
            <a:r>
              <a:rPr lang="en-US" sz="1300" dirty="0">
                <a:solidFill>
                  <a:srgbClr val="1F2937"/>
                </a:solidFill>
                <a:latin typeface="Calibri" pitchFamily="34" charset="0"/>
                <a:ea typeface="Calibri" pitchFamily="34" charset="-122"/>
                <a:cs typeface="Calibri" pitchFamily="34" charset="-120"/>
              </a:rPr>
              <a:t>Three execution options and three task classes</a:t>
            </a:r>
            <a:endParaRPr lang="en-US" sz="1300" dirty="0"/>
          </a:p>
          <a:p>
            <a:pPr marL="342900" indent="-342900">
              <a:spcAft>
                <a:spcPts val="600"/>
              </a:spcAft>
              <a:buSzPct val="100000"/>
              <a:buChar char="•"/>
            </a:pPr>
            <a:r>
              <a:rPr lang="en-US" sz="1300" dirty="0">
                <a:solidFill>
                  <a:srgbClr val="1F2937"/>
                </a:solidFill>
                <a:latin typeface="Calibri" pitchFamily="34" charset="0"/>
                <a:ea typeface="Calibri" pitchFamily="34" charset="-122"/>
                <a:cs typeface="Calibri" pitchFamily="34" charset="-120"/>
              </a:rPr>
              <a:t>Tests failure cases, not only the normal case</a:t>
            </a:r>
            <a:endParaRPr lang="en-US" sz="1300" dirty="0"/>
          </a:p>
          <a:p>
            <a:pPr marL="342900" indent="-342900">
              <a:spcAft>
                <a:spcPts val="600"/>
              </a:spcAft>
              <a:buSzPct val="100000"/>
              <a:buChar char="•"/>
            </a:pPr>
            <a:r>
              <a:rPr lang="en-US" sz="1300" dirty="0">
                <a:solidFill>
                  <a:srgbClr val="1F2937"/>
                </a:solidFill>
                <a:latin typeface="Calibri" pitchFamily="34" charset="0"/>
                <a:ea typeface="Calibri" pitchFamily="34" charset="-122"/>
                <a:cs typeface="Calibri" pitchFamily="34" charset="-120"/>
              </a:rPr>
              <a:t>Physically grounded model (3GPP channel, fiber link)</a:t>
            </a:r>
            <a:endParaRPr lang="en-US" sz="1300" dirty="0"/>
          </a:p>
        </p:txBody>
      </p:sp>
      <p:sp>
        <p:nvSpPr>
          <p:cNvPr id="9" name="Shape 6"/>
          <p:cNvSpPr/>
          <p:nvPr/>
        </p:nvSpPr>
        <p:spPr>
          <a:xfrm>
            <a:off x="4663440" y="1097280"/>
            <a:ext cx="4023360" cy="2651760"/>
          </a:xfrm>
          <a:prstGeom prst="roundRect">
            <a:avLst>
              <a:gd name="adj" fmla="val 2759"/>
            </a:avLst>
          </a:prstGeom>
          <a:solidFill>
            <a:srgbClr val="EEF4F7"/>
          </a:solidFill>
          <a:ln w="12700">
            <a:solidFill>
              <a:srgbClr val="EEF4F7"/>
            </a:solidFill>
            <a:prstDash val="solid"/>
          </a:ln>
          <a:effectLst>
            <a:outerShdw sx="100000" sy="100000" kx="0" ky="0" algn="bl" rotWithShape="0" blurRad="101600" dist="25400" dir="5400000">
              <a:srgbClr val="000000">
                <a:alpha val="12000"/>
              </a:srgbClr>
            </a:outerShdw>
          </a:effectLst>
        </p:spPr>
      </p:sp>
      <p:sp>
        <p:nvSpPr>
          <p:cNvPr id="10" name="Text 7"/>
          <p:cNvSpPr txBox="1"/>
          <p:nvPr/>
        </p:nvSpPr>
        <p:spPr>
          <a:xfrm>
            <a:off x="4892040" y="1188720"/>
            <a:ext cx="3566160" cy="411480"/>
          </a:xfrm>
          <a:prstGeom prst="rect">
            <a:avLst/>
          </a:prstGeom>
          <a:noFill/>
          <a:ln/>
        </p:spPr>
        <p:txBody>
          <a:bodyPr wrap="square" lIns="0" tIns="0" rIns="0" bIns="0" rtlCol="0" anchor="ctr"/>
          <a:lstStyle/>
          <a:p>
            <a:pPr indent="0" marL="0">
              <a:buNone/>
            </a:pPr>
            <a:r>
              <a:rPr lang="en-US" sz="1700" b="1" dirty="0">
                <a:solidFill>
                  <a:srgbClr val="B45309"/>
                </a:solidFill>
                <a:latin typeface="Cambria" pitchFamily="34" charset="0"/>
                <a:ea typeface="Cambria" pitchFamily="34" charset="-122"/>
                <a:cs typeface="Cambria" pitchFamily="34" charset="-120"/>
              </a:rPr>
              <a:t>Limitations</a:t>
            </a:r>
            <a:endParaRPr lang="en-US" sz="1700" dirty="0"/>
          </a:p>
        </p:txBody>
      </p:sp>
      <p:sp>
        <p:nvSpPr>
          <p:cNvPr id="11" name="Text 8"/>
          <p:cNvSpPr txBox="1"/>
          <p:nvPr/>
        </p:nvSpPr>
        <p:spPr>
          <a:xfrm>
            <a:off x="4892040" y="1691640"/>
            <a:ext cx="3566160" cy="192024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rgbClr val="1F2937"/>
                </a:solidFill>
                <a:latin typeface="Calibri" pitchFamily="34" charset="0"/>
                <a:ea typeface="Calibri" pitchFamily="34" charset="-122"/>
                <a:cs typeface="Calibri" pitchFamily="34" charset="-120"/>
              </a:rPr>
              <a:t>Tasks cannot be split; no partial offloading or dependencies</a:t>
            </a:r>
            <a:endParaRPr lang="en-US" sz="1300" dirty="0"/>
          </a:p>
          <a:p>
            <a:pPr marL="342900" indent="-342900">
              <a:spcAft>
                <a:spcPts val="600"/>
              </a:spcAft>
              <a:buSzPct val="100000"/>
              <a:buChar char="•"/>
            </a:pPr>
            <a:r>
              <a:rPr lang="en-US" sz="1300" dirty="0">
                <a:solidFill>
                  <a:srgbClr val="1F2937"/>
                </a:solidFill>
                <a:latin typeface="Calibri" pitchFamily="34" charset="0"/>
                <a:ea typeface="Calibri" pitchFamily="34" charset="-122"/>
                <a:cs typeface="Calibri" pitchFamily="34" charset="-120"/>
              </a:rPr>
              <a:t>Simple FIFO queues; fast fading averaged out</a:t>
            </a:r>
            <a:endParaRPr lang="en-US" sz="1300" dirty="0"/>
          </a:p>
          <a:p>
            <a:pPr marL="342900" indent="-342900">
              <a:spcAft>
                <a:spcPts val="600"/>
              </a:spcAft>
              <a:buSzPct val="100000"/>
              <a:buChar char="•"/>
            </a:pPr>
            <a:r>
              <a:rPr lang="en-US" sz="1300" dirty="0">
                <a:solidFill>
                  <a:srgbClr val="1F2937"/>
                </a:solidFill>
                <a:latin typeface="Calibri" pitchFamily="34" charset="0"/>
                <a:ea typeface="Calibri" pitchFamily="34" charset="-122"/>
                <a:cs typeface="Calibri" pitchFamily="34" charset="-120"/>
              </a:rPr>
              <a:t>Scalability with many agents not tested</a:t>
            </a:r>
            <a:endParaRPr lang="en-US" sz="1300" dirty="0"/>
          </a:p>
          <a:p>
            <a:pPr marL="342900" indent="-342900">
              <a:spcAft>
                <a:spcPts val="600"/>
              </a:spcAft>
              <a:buSzPct val="100000"/>
              <a:buChar char="•"/>
            </a:pPr>
            <a:r>
              <a:rPr lang="en-US" sz="1300" dirty="0">
                <a:solidFill>
                  <a:srgbClr val="1F2937"/>
                </a:solidFill>
                <a:latin typeface="Calibri" pitchFamily="34" charset="0"/>
                <a:ea typeface="Calibri" pitchFamily="34" charset="-122"/>
                <a:cs typeface="Calibri" pitchFamily="34" charset="-120"/>
              </a:rPr>
              <a:t>Simulation only, two scenarios, no real testbed</a:t>
            </a:r>
            <a:endParaRPr lang="en-US" sz="13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640080"/>
          </a:xfrm>
          <a:prstGeom prst="rect">
            <a:avLst/>
          </a:prstGeom>
          <a:noFill/>
          <a:ln/>
        </p:spPr>
        <p:txBody>
          <a:bodyPr wrap="square" lIns="0" tIns="0" rIns="0" bIns="0" rtlCol="0" anchor="ctr"/>
          <a:lstStyle/>
          <a:p>
            <a:pPr indent="0" marL="0">
              <a:buNone/>
            </a:pPr>
            <a:r>
              <a:rPr lang="en-US" sz="2800" b="1" dirty="0">
                <a:solidFill>
                  <a:srgbClr val="14213D"/>
                </a:solidFill>
                <a:latin typeface="Cambria" pitchFamily="34" charset="0"/>
                <a:ea typeface="Cambria" pitchFamily="34" charset="-122"/>
                <a:cs typeface="Cambria" pitchFamily="34" charset="-120"/>
              </a:rPr>
              <a:t>Relevance to our course and future work</a:t>
            </a:r>
            <a:endParaRPr lang="en-US" sz="2800" dirty="0"/>
          </a:p>
        </p:txBody>
      </p:sp>
      <p:sp>
        <p:nvSpPr>
          <p:cNvPr id="3" name="Text 1"/>
          <p:cNvSpPr txBox="1"/>
          <p:nvPr/>
        </p:nvSpPr>
        <p:spPr>
          <a:xfrm>
            <a:off x="457200" y="4754880"/>
            <a:ext cx="5486400" cy="22860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Nieto et al., J. Cloud Computing 13, 94 (2024)</a:t>
            </a:r>
            <a:endParaRPr lang="en-US" sz="900" dirty="0"/>
          </a:p>
        </p:txBody>
      </p:sp>
      <p:sp>
        <p:nvSpPr>
          <p:cNvPr id="4" name="Text 2"/>
          <p:cNvSpPr txBox="1"/>
          <p:nvPr/>
        </p:nvSpPr>
        <p:spPr>
          <a:xfrm>
            <a:off x="8229600" y="4754880"/>
            <a:ext cx="457200" cy="22860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17</a:t>
            </a:r>
            <a:endParaRPr lang="en-US" sz="900" dirty="0"/>
          </a:p>
        </p:txBody>
      </p:sp>
      <p:sp>
        <p:nvSpPr>
          <p:cNvPr id="6" name="Shape 3"/>
          <p:cNvSpPr/>
          <p:nvPr/>
        </p:nvSpPr>
        <p:spPr>
          <a:xfrm>
            <a:off x="457200" y="1097280"/>
            <a:ext cx="4023360" cy="2651760"/>
          </a:xfrm>
          <a:prstGeom prst="roundRect">
            <a:avLst>
              <a:gd name="adj" fmla="val 2759"/>
            </a:avLst>
          </a:prstGeom>
          <a:solidFill>
            <a:srgbClr val="EEF4F7"/>
          </a:solidFill>
          <a:ln w="12700">
            <a:solidFill>
              <a:srgbClr val="EEF4F7"/>
            </a:solidFill>
            <a:prstDash val="solid"/>
          </a:ln>
          <a:effectLst>
            <a:outerShdw sx="100000" sy="100000" kx="0" ky="0" algn="bl" rotWithShape="0" blurRad="101600" dist="25400" dir="5400000">
              <a:srgbClr val="000000">
                <a:alpha val="12000"/>
              </a:srgbClr>
            </a:outerShdw>
          </a:effectLst>
        </p:spPr>
      </p:sp>
      <p:sp>
        <p:nvSpPr>
          <p:cNvPr id="7" name="Text 4"/>
          <p:cNvSpPr txBox="1"/>
          <p:nvPr/>
        </p:nvSpPr>
        <p:spPr>
          <a:xfrm>
            <a:off x="685800" y="1188720"/>
            <a:ext cx="3566160" cy="411480"/>
          </a:xfrm>
          <a:prstGeom prst="rect">
            <a:avLst/>
          </a:prstGeom>
          <a:noFill/>
          <a:ln/>
        </p:spPr>
        <p:txBody>
          <a:bodyPr wrap="square" lIns="0" tIns="0" rIns="0" bIns="0" rtlCol="0" anchor="ctr"/>
          <a:lstStyle/>
          <a:p>
            <a:pPr indent="0" marL="0">
              <a:buNone/>
            </a:pPr>
            <a:r>
              <a:rPr lang="en-US" sz="1700" b="1" dirty="0">
                <a:solidFill>
                  <a:srgbClr val="14213D"/>
                </a:solidFill>
                <a:latin typeface="Cambria" pitchFamily="34" charset="0"/>
                <a:ea typeface="Cambria" pitchFamily="34" charset="-122"/>
                <a:cs typeface="Cambria" pitchFamily="34" charset="-120"/>
              </a:rPr>
              <a:t>Link to the course</a:t>
            </a:r>
            <a:endParaRPr lang="en-US" sz="1700" dirty="0"/>
          </a:p>
        </p:txBody>
      </p:sp>
      <p:sp>
        <p:nvSpPr>
          <p:cNvPr id="8" name="Text 5"/>
          <p:cNvSpPr txBox="1"/>
          <p:nvPr/>
        </p:nvSpPr>
        <p:spPr>
          <a:xfrm>
            <a:off x="685800" y="1691640"/>
            <a:ext cx="3566160" cy="192024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rgbClr val="1F2937"/>
                </a:solidFill>
                <a:latin typeface="Calibri" pitchFamily="34" charset="0"/>
                <a:ea typeface="Calibri" pitchFamily="34" charset="-122"/>
                <a:cs typeface="Calibri" pitchFamily="34" charset="-120"/>
              </a:rPr>
              <a:t>Mobile communications: 5G wireless link, Shannon rate, path loss, shadow fading</a:t>
            </a:r>
            <a:endParaRPr lang="en-US" sz="1300" dirty="0"/>
          </a:p>
          <a:p>
            <a:pPr marL="342900" indent="-342900">
              <a:spcAft>
                <a:spcPts val="600"/>
              </a:spcAft>
              <a:buSzPct val="100000"/>
              <a:buChar char="•"/>
            </a:pPr>
            <a:r>
              <a:rPr lang="en-US" sz="1300" dirty="0">
                <a:solidFill>
                  <a:srgbClr val="1F2937"/>
                </a:solidFill>
                <a:latin typeface="Calibri" pitchFamily="34" charset="0"/>
                <a:ea typeface="Calibri" pitchFamily="34" charset="-122"/>
                <a:cs typeface="Calibri" pitchFamily="34" charset="-120"/>
              </a:rPr>
              <a:t>Cloud computing: MEC and cloud tiers, resource occupancy, latency</a:t>
            </a:r>
            <a:endParaRPr lang="en-US" sz="1300" dirty="0"/>
          </a:p>
          <a:p>
            <a:pPr marL="342900" indent="-342900">
              <a:spcAft>
                <a:spcPts val="600"/>
              </a:spcAft>
              <a:buSzPct val="100000"/>
              <a:buChar char="•"/>
            </a:pPr>
            <a:r>
              <a:rPr lang="en-US" sz="1300" dirty="0">
                <a:solidFill>
                  <a:srgbClr val="1F2937"/>
                </a:solidFill>
                <a:latin typeface="Calibri" pitchFamily="34" charset="0"/>
                <a:ea typeface="Calibri" pitchFamily="34" charset="-122"/>
                <a:cs typeface="Calibri" pitchFamily="34" charset="-120"/>
              </a:rPr>
              <a:t>Shows why the edge-cloud continuum exists</a:t>
            </a:r>
            <a:endParaRPr lang="en-US" sz="1300" dirty="0"/>
          </a:p>
        </p:txBody>
      </p:sp>
      <p:sp>
        <p:nvSpPr>
          <p:cNvPr id="9" name="Shape 6"/>
          <p:cNvSpPr/>
          <p:nvPr/>
        </p:nvSpPr>
        <p:spPr>
          <a:xfrm>
            <a:off x="4663440" y="1097280"/>
            <a:ext cx="4023360" cy="2651760"/>
          </a:xfrm>
          <a:prstGeom prst="roundRect">
            <a:avLst>
              <a:gd name="adj" fmla="val 2759"/>
            </a:avLst>
          </a:prstGeom>
          <a:solidFill>
            <a:srgbClr val="14213D"/>
          </a:solidFill>
          <a:ln w="12700">
            <a:solidFill>
              <a:srgbClr val="14213D"/>
            </a:solidFill>
            <a:prstDash val="solid"/>
          </a:ln>
          <a:effectLst>
            <a:outerShdw sx="100000" sy="100000" kx="0" ky="0" algn="bl" rotWithShape="0" blurRad="101600" dist="25400" dir="5400000">
              <a:srgbClr val="000000">
                <a:alpha val="12000"/>
              </a:srgbClr>
            </a:outerShdw>
          </a:effectLst>
        </p:spPr>
      </p:sp>
      <p:sp>
        <p:nvSpPr>
          <p:cNvPr id="10" name="Text 7"/>
          <p:cNvSpPr txBox="1"/>
          <p:nvPr/>
        </p:nvSpPr>
        <p:spPr>
          <a:xfrm>
            <a:off x="4892040" y="1188720"/>
            <a:ext cx="3566160" cy="411480"/>
          </a:xfrm>
          <a:prstGeom prst="rect">
            <a:avLst/>
          </a:prstGeom>
          <a:noFill/>
          <a:ln/>
        </p:spPr>
        <p:txBody>
          <a:bodyPr wrap="square" lIns="0" tIns="0" rIns="0" bIns="0" rtlCol="0" anchor="ctr"/>
          <a:lstStyle/>
          <a:p>
            <a:pPr indent="0" marL="0">
              <a:buNone/>
            </a:pPr>
            <a:r>
              <a:rPr lang="en-US" sz="1700" b="1" dirty="0">
                <a:solidFill>
                  <a:srgbClr val="F2A541"/>
                </a:solidFill>
                <a:latin typeface="Cambria" pitchFamily="34" charset="0"/>
                <a:ea typeface="Cambria" pitchFamily="34" charset="-122"/>
                <a:cs typeface="Cambria" pitchFamily="34" charset="-120"/>
              </a:rPr>
              <a:t>Future directions</a:t>
            </a:r>
            <a:endParaRPr lang="en-US" sz="1700" dirty="0"/>
          </a:p>
        </p:txBody>
      </p:sp>
      <p:sp>
        <p:nvSpPr>
          <p:cNvPr id="11" name="Text 8"/>
          <p:cNvSpPr txBox="1"/>
          <p:nvPr/>
        </p:nvSpPr>
        <p:spPr>
          <a:xfrm>
            <a:off x="4892040" y="1691640"/>
            <a:ext cx="3566160" cy="192024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rgbClr val="FFFFFF"/>
                </a:solidFill>
                <a:latin typeface="Calibri" pitchFamily="34" charset="0"/>
                <a:ea typeface="Calibri" pitchFamily="34" charset="-122"/>
                <a:cs typeface="Calibri" pitchFamily="34" charset="-120"/>
              </a:rPr>
              <a:t>More complex environments and task types</a:t>
            </a:r>
            <a:endParaRPr lang="en-US" sz="1300" dirty="0"/>
          </a:p>
          <a:p>
            <a:pPr marL="342900" indent="-342900">
              <a:spcAft>
                <a:spcPts val="600"/>
              </a:spcAft>
              <a:buSzPct val="100000"/>
              <a:buChar char="•"/>
            </a:pPr>
            <a:r>
              <a:rPr lang="en-US" sz="1300" dirty="0">
                <a:solidFill>
                  <a:srgbClr val="FFFFFF"/>
                </a:solidFill>
                <a:latin typeface="Calibri" pitchFamily="34" charset="0"/>
                <a:ea typeface="Calibri" pitchFamily="34" charset="-122"/>
                <a:cs typeface="Calibri" pitchFamily="34" charset="-120"/>
              </a:rPr>
              <a:t>Many more UEs to test scalability</a:t>
            </a:r>
            <a:endParaRPr lang="en-US" sz="1300" dirty="0"/>
          </a:p>
          <a:p>
            <a:pPr marL="342900" indent="-342900">
              <a:spcAft>
                <a:spcPts val="600"/>
              </a:spcAft>
              <a:buSzPct val="100000"/>
              <a:buChar char="•"/>
            </a:pPr>
            <a:r>
              <a:rPr lang="en-US" sz="1300" dirty="0">
                <a:solidFill>
                  <a:srgbClr val="FFFFFF"/>
                </a:solidFill>
                <a:latin typeface="Calibri" pitchFamily="34" charset="0"/>
                <a:ea typeface="Calibri" pitchFamily="34" charset="-122"/>
                <a:cs typeface="Calibri" pitchFamily="34" charset="-120"/>
              </a:rPr>
              <a:t>Cloud-edge-device collaboration</a:t>
            </a:r>
            <a:endParaRPr lang="en-US" sz="1300" dirty="0"/>
          </a:p>
          <a:p>
            <a:pPr marL="342900" indent="-342900">
              <a:spcAft>
                <a:spcPts val="600"/>
              </a:spcAft>
              <a:buSzPct val="100000"/>
              <a:buChar char="•"/>
            </a:pPr>
            <a:r>
              <a:rPr lang="en-US" sz="1300" dirty="0">
                <a:solidFill>
                  <a:srgbClr val="FFFFFF"/>
                </a:solidFill>
                <a:latin typeface="Calibri" pitchFamily="34" charset="0"/>
                <a:ea typeface="Calibri" pitchFamily="34" charset="-122"/>
                <a:cs typeface="Calibri" pitchFamily="34" charset="-120"/>
              </a:rPr>
              <a:t>Task dependencies and partial offloading</a:t>
            </a:r>
            <a:endParaRPr lang="en-US" sz="13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14213D"/>
        </a:solidFill>
      </p:bgPr>
    </p:bg>
    <p:spTree>
      <p:nvGrpSpPr>
        <p:cNvPr id="1" name=""/>
        <p:cNvGrpSpPr/>
        <p:nvPr/>
      </p:nvGrpSpPr>
      <p:grpSpPr>
        <a:xfrm>
          <a:off x="0" y="0"/>
          <a:ext cx="0" cy="0"/>
          <a:chOff x="0" y="0"/>
          <a:chExt cx="0" cy="0"/>
        </a:xfrm>
      </p:grpSpPr>
      <p:sp>
        <p:nvSpPr>
          <p:cNvPr id="2" name="Text 0"/>
          <p:cNvSpPr txBox="1"/>
          <p:nvPr/>
        </p:nvSpPr>
        <p:spPr>
          <a:xfrm>
            <a:off x="640080" y="548640"/>
            <a:ext cx="7863840" cy="64008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Conclusion</a:t>
            </a:r>
            <a:endParaRPr lang="en-US" sz="3200" dirty="0"/>
          </a:p>
        </p:txBody>
      </p:sp>
      <p:sp>
        <p:nvSpPr>
          <p:cNvPr id="3" name="Text 1"/>
          <p:cNvSpPr txBox="1"/>
          <p:nvPr/>
        </p:nvSpPr>
        <p:spPr>
          <a:xfrm>
            <a:off x="640080" y="1463040"/>
            <a:ext cx="7863840" cy="2103120"/>
          </a:xfrm>
          <a:prstGeom prst="rect">
            <a:avLst/>
          </a:prstGeom>
          <a:noFill/>
          <a:ln/>
        </p:spPr>
        <p:txBody>
          <a:bodyPr wrap="square" lIns="0" tIns="0" rIns="0" bIns="0" rtlCol="0" anchor="t"/>
          <a:lstStyle/>
          <a:p>
            <a:pPr marL="342900" indent="-342900">
              <a:spcAft>
                <a:spcPts val="1000"/>
              </a:spcAft>
              <a:buSzPct val="100000"/>
              <a:buChar char="•"/>
            </a:pPr>
            <a:r>
              <a:rPr lang="en-US" sz="1800" dirty="0">
                <a:solidFill>
                  <a:srgbClr val="FFFFFF"/>
                </a:solidFill>
                <a:latin typeface="Calibri" pitchFamily="34" charset="0"/>
                <a:ea typeface="Calibri" pitchFamily="34" charset="-122"/>
                <a:cs typeface="Calibri" pitchFamily="34" charset="-120"/>
              </a:rPr>
              <a:t>Fixed offloading rules break when the network and server load change.</a:t>
            </a:r>
            <a:endParaRPr lang="en-US" sz="1800" dirty="0"/>
          </a:p>
          <a:p>
            <a:pPr marL="342900" indent="-342900">
              <a:spcAft>
                <a:spcPts val="1000"/>
              </a:spcAft>
              <a:buSzPct val="100000"/>
              <a:buChar char="•"/>
            </a:pPr>
            <a:r>
              <a:rPr lang="en-US" sz="1800" dirty="0">
                <a:solidFill>
                  <a:srgbClr val="FFFFFF"/>
                </a:solidFill>
                <a:latin typeface="Calibri" pitchFamily="34" charset="0"/>
                <a:ea typeface="Calibri" pitchFamily="34" charset="-122"/>
                <a:cs typeface="Calibri" pitchFamily="34" charset="-120"/>
              </a:rPr>
              <a:t>A distributed Actor-Critic agent per device learns to choose local, MEC or cloud from six observed values.</a:t>
            </a:r>
            <a:endParaRPr lang="en-US" sz="1800" dirty="0"/>
          </a:p>
          <a:p>
            <a:pPr marL="342900" indent="-342900">
              <a:spcAft>
                <a:spcPts val="1000"/>
              </a:spcAft>
              <a:buSzPct val="100000"/>
              <a:buChar char="•"/>
            </a:pPr>
            <a:r>
              <a:rPr lang="en-US" sz="1800" dirty="0">
                <a:solidFill>
                  <a:srgbClr val="FFFFFF"/>
                </a:solidFill>
                <a:latin typeface="Calibri" pitchFamily="34" charset="0"/>
                <a:ea typeface="Calibri" pitchFamily="34" charset="-122"/>
                <a:cs typeface="Calibri" pitchFamily="34" charset="-120"/>
              </a:rPr>
              <a:t>It achieves the best QoE and battery use among the compared methods in the simulated failure scenarios.</a:t>
            </a:r>
            <a:endParaRPr lang="en-US" sz="1800" dirty="0"/>
          </a:p>
        </p:txBody>
      </p:sp>
      <p:sp>
        <p:nvSpPr>
          <p:cNvPr id="4" name="Text 2"/>
          <p:cNvSpPr txBox="1"/>
          <p:nvPr/>
        </p:nvSpPr>
        <p:spPr>
          <a:xfrm>
            <a:off x="640080" y="3840480"/>
            <a:ext cx="7863840" cy="640080"/>
          </a:xfrm>
          <a:prstGeom prst="rect">
            <a:avLst/>
          </a:prstGeom>
          <a:noFill/>
          <a:ln/>
        </p:spPr>
        <p:txBody>
          <a:bodyPr wrap="square" lIns="0" tIns="0" rIns="0" bIns="0" rtlCol="0" anchor="ctr"/>
          <a:lstStyle/>
          <a:p>
            <a:pPr indent="0" marL="0">
              <a:buNone/>
            </a:pPr>
            <a:r>
              <a:rPr lang="en-US" sz="2800" b="1" dirty="0">
                <a:solidFill>
                  <a:srgbClr val="F2A541"/>
                </a:solidFill>
                <a:latin typeface="Cambria" pitchFamily="34" charset="0"/>
                <a:ea typeface="Cambria" pitchFamily="34" charset="-122"/>
                <a:cs typeface="Cambria" pitchFamily="34" charset="-120"/>
              </a:rPr>
              <a:t>Thank you. Questions?</a:t>
            </a:r>
            <a:endParaRPr lang="en-US" sz="2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DRL Task Offloading in the 5G Edge-Cloud Continuum</dc:title>
  <dc:subject>PptxGenJS Presentation</dc:subject>
  <dc:creator>Syahril Fahmi</dc:creator>
  <cp:lastModifiedBy>Syahril Fahmi</cp:lastModifiedBy>
  <cp:revision>1</cp:revision>
  <dcterms:created xsi:type="dcterms:W3CDTF">2026-09-20T08:36:08Z</dcterms:created>
  <dcterms:modified xsi:type="dcterms:W3CDTF">2026-09-20T08:36:08Z</dcterms:modified>
</cp:coreProperties>
</file>