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6282E"/>
                </a:solidFill>
                <a:latin typeface="Arial"/>
              </a:defRPr>
            </a:pPr>
            <a:r>
              <a:rPr sz="1300" b="0" i="0" u="none" strike="noStrike">
                <a:solidFill>
                  <a:srgbClr val="26282E"/>
                </a:solidFill>
                <a:latin typeface="Arial"/>
              </a:rPr>
              <a:t>Papers retrieved per database</a:t>
            </a:r>
          </a:p>
        </c:rich>
      </c:tx>
      <c:layout/>
      <c:overlay val="0"/>
    </c:title>
    <c:autoTitleDeleted val="0"/>
    <c:plotArea>
      <c:layout/>
      <c:barChart>
        <c:barDir val="bar"/>
        <c:grouping val="clustered"/>
        <c:varyColors val="0"/>
        <c:ser>
          <c:idx val="0"/>
          <c:order val="0"/>
          <c:tx>
            <c:strRef>
              <c:f>Sheet1!$B$1</c:f>
              <c:strCache>
                <c:ptCount val="1"/>
                <c:pt idx="0">
                  <c:v>Papers retrieved</c:v>
                </c:pt>
              </c:strCache>
            </c:strRef>
          </c:tx>
          <c:spPr>
            <a:solidFill>
              <a:srgbClr val="D9482B"/>
            </a:solidFill>
            <a:effectLst/>
          </c:spPr>
          <c:invertIfNegative val="0"/>
          <c:dLbls>
            <c:numFmt formatCode="#,##0" sourceLinked="0"/>
            <c:txPr>
              <a:bodyPr/>
              <a:lstStyle/>
              <a:p>
                <a:pPr>
                  <a:defRPr b="0" i="0" strike="noStrike" sz="1100" u="none">
                    <a:solidFill>
                      <a:srgbClr val="23262B"/>
                    </a:solidFill>
                    <a:latin typeface="Arial"/>
                  </a:defRPr>
                </a:pPr>
              </a:p>
            </c:txPr>
            <c:showLegendKey val="0"/>
            <c:showVal val="1"/>
            <c:showCatName val="0"/>
            <c:showSerName val="0"/>
            <c:showPercent val="0"/>
            <c:showBubbleSize val="0"/>
            <c:showLeaderLines val="0"/>
          </c:dLbls>
          <c:cat>
            <c:multiLvlStrRef>
              <c:f>Sheet1!$A$2:$A$8</c:f>
              <c:multiLvlStrCache>
                <c:ptCount val="7"/>
                <c:lvl>
                  <c:pt idx="0">
                    <c:v>IEEE Xplore</c:v>
                  </c:pt>
                  <c:pt idx="1">
                    <c:v>ScienceDirect</c:v>
                  </c:pt>
                  <c:pt idx="2">
                    <c:v>Springer</c:v>
                  </c:pt>
                  <c:pt idx="3">
                    <c:v>MDPI</c:v>
                  </c:pt>
                  <c:pt idx="4">
                    <c:v>Hindawi</c:v>
                  </c:pt>
                  <c:pt idx="5">
                    <c:v>ACM</c:v>
                  </c:pt>
                  <c:pt idx="6">
                    <c:v>Wiley</c:v>
                  </c:pt>
                </c:lvl>
              </c:multiLvlStrCache>
            </c:multiLvlStrRef>
          </c:cat>
          <c:val>
            <c:numRef>
              <c:f>Sheet1!$B$2:$B$8</c:f>
              <c:numCache>
                <c:formatCode>General</c:formatCode>
                <c:ptCount val="7"/>
                <c:pt idx="0">
                  <c:v>353</c:v>
                </c:pt>
                <c:pt idx="1">
                  <c:v>64</c:v>
                </c:pt>
                <c:pt idx="2">
                  <c:v>57</c:v>
                </c:pt>
                <c:pt idx="3">
                  <c:v>46</c:v>
                </c:pt>
                <c:pt idx="4">
                  <c:v>46</c:v>
                </c:pt>
                <c:pt idx="5">
                  <c:v>23</c:v>
                </c:pt>
                <c:pt idx="6">
                  <c:v>17</c:v>
                </c:pt>
              </c:numCache>
            </c:numRef>
          </c:val>
        </c:ser>
        <c:dLbls>
          <c:numFmt formatCode="#,##0" sourceLinked="0"/>
          <c:txPr>
            <a:bodyPr/>
            <a:lstStyle/>
            <a:p>
              <a:pPr>
                <a:defRPr b="0" i="0" strike="noStrike" sz="1100" u="none">
                  <a:solidFill>
                    <a:srgbClr val="2326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3262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This is a survey paper, so the talk covers what the authors reviewed, how they organized it, what they found, and what is still open. Roughly 15-20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talk: why this survey, how it was done, the taxonomy, findings, and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citation. Published 19 September 2025 in Cluster Computing (Springer), open access, so well within the last three years. This is a systematic literature review following PRISMA.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surveys are organized around one paradigm (MEC, mobile cloud computing) or one technique (optimization, machine learning). This survey instead looks at how decisions are coordinated, meaning centralized versus decentralised and federated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define the scope. Note the focus on architectures, metrics, tools and future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followed PRISMA guidelines. They searched with a combination of continuum, computation, and offloading terms, retrieved 607 papers, screened them to 314 after removing duplicates and reading titles and abstracts, and analysed 88 in depth. The search covered 2018 to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Xplore dominates the initial retrieval. Also worth mentioning: 34.8 percent of retrieved papers were from 2023-2024 and 24.8 percent from 2018-2019, so interest is growing. Note: the per-database numbers listed in the paper add up to 606, one less than the 607 reported total. I present them exactly as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taxonomy is the core contribution. Every reviewed solution is described along four dimensions: architecture, strategy, objectives,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is how nodes communicate. Protocol is how they coordinate or agree. Approach is whether a whole task or a part of it is moved. Peer-to-peer is the most common pattern in decentralised work because it scales without a single point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Reactive systems respond after an event such as congestion. Proactive systems predict and act ahead of time. Rule-based methods are fast and transparent, optimised methods aim for the best result but cost more computation, and intelligent methods learn and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solution is placed by scope, horizontal or vertical, and by how decisions are made: rule-based, optimised, or intelligent. Horizontal means offloading between nodes of the same layer such as edge to edge. Vertical means across layers such as edge to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representative works the survey summarises in its comparison table for horizontal, rule-based offloading. They show how different techniques trade off delay, energy, cost,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and energy dominate the objectives, with reliability, cost and trust emerging in federated systems. Most evaluation is done in simulators such as iFogSim and EdgeCloudSim rather than on real testbeds.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findings. Peer-to-peer dominance, game theory in rule-based work, growing deep RL use, and mostly reactive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lists many gaps. I group them into six. The biggest practical issue is that almost everything is validated only in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directions the authors point to. Connect federated learning and edge-native AI back to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and limitations are my own assessment, based on the paper's stated method and scope. The connection to our final paper is my own classification, not a claim made by the authors.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three sentences. Possible questions: what is the difference between horizontal and vertical offloading? (same layer versus across layers); why decentralised? (no single point of failure and better scalability); why is simulation a problem? (results may not hold on real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82E"/>
        </a:solidFill>
      </p:bgPr>
    </p:bg>
    <p:spTree>
      <p:nvGrpSpPr>
        <p:cNvPr id="1" name=""/>
        <p:cNvGrpSpPr/>
        <p:nvPr/>
      </p:nvGrpSpPr>
      <p:grpSpPr>
        <a:xfrm>
          <a:off x="0" y="0"/>
          <a:ext cx="0" cy="0"/>
          <a:chOff x="0" y="0"/>
          <a:chExt cx="0" cy="0"/>
        </a:xfrm>
      </p:grpSpPr>
      <p:sp>
        <p:nvSpPr>
          <p:cNvPr id="2" name="Shape 0"/>
          <p:cNvSpPr/>
          <p:nvPr/>
        </p:nvSpPr>
        <p:spPr>
          <a:xfrm>
            <a:off x="6309360" y="0"/>
            <a:ext cx="2834640" cy="5143500"/>
          </a:xfrm>
          <a:prstGeom prst="rect">
            <a:avLst/>
          </a:prstGeom>
          <a:solidFill>
            <a:srgbClr val="D9482B"/>
          </a:solidFill>
          <a:ln w="12700">
            <a:solidFill>
              <a:srgbClr val="D9482B"/>
            </a:solidFill>
            <a:prstDash val="solid"/>
          </a:ln>
        </p:spPr>
      </p:sp>
      <p:sp>
        <p:nvSpPr>
          <p:cNvPr id="3" name="Text 1"/>
          <p:cNvSpPr txBox="1"/>
          <p:nvPr/>
        </p:nvSpPr>
        <p:spPr>
          <a:xfrm>
            <a:off x="6309360" y="1371600"/>
            <a:ext cx="2834640" cy="2377440"/>
          </a:xfrm>
          <a:prstGeom prst="rect">
            <a:avLst/>
          </a:prstGeom>
          <a:noFill/>
          <a:ln/>
        </p:spPr>
        <p:txBody>
          <a:bodyPr wrap="square" lIns="0" tIns="0" rIns="0" bIns="0" rtlCol="0" anchor="ctr"/>
          <a:lstStyle/>
          <a:p>
            <a:pPr algn="ctr" indent="0" marL="0">
              <a:buNone/>
            </a:pPr>
            <a:r>
              <a:rPr lang="en-US" sz="3000" b="1" dirty="0">
                <a:solidFill>
                  <a:srgbClr val="FFFFFF"/>
                </a:solidFill>
                <a:latin typeface="Bookman Old Style" pitchFamily="34" charset="0"/>
                <a:ea typeface="Bookman Old Style" pitchFamily="34" charset="-122"/>
                <a:cs typeface="Bookman Old Style" pitchFamily="34" charset="-120"/>
              </a:rPr>
              <a:t>Edge</a:t>
            </a:r>
            <a:endParaRPr lang="en-US" sz="3000" dirty="0"/>
          </a:p>
          <a:p>
            <a:pPr algn="ctr" indent="0" marL="0">
              <a:buNone/>
            </a:pPr>
            <a:r>
              <a:rPr lang="en-US" sz="3000" b="1" dirty="0">
                <a:solidFill>
                  <a:srgbClr val="FFFFFF"/>
                </a:solidFill>
                <a:latin typeface="Bookman Old Style" pitchFamily="34" charset="0"/>
                <a:ea typeface="Bookman Old Style" pitchFamily="34" charset="-122"/>
                <a:cs typeface="Bookman Old Style" pitchFamily="34" charset="-120"/>
              </a:rPr>
              <a:t>Fog</a:t>
            </a:r>
            <a:endParaRPr lang="en-US" sz="3000" dirty="0"/>
          </a:p>
          <a:p>
            <a:pPr algn="ctr" indent="0" marL="0">
              <a:buNone/>
            </a:pPr>
            <a:r>
              <a:rPr lang="en-US" sz="3000" b="1" dirty="0">
                <a:solidFill>
                  <a:srgbClr val="FFFFFF"/>
                </a:solidFill>
                <a:latin typeface="Bookman Old Style" pitchFamily="34" charset="0"/>
                <a:ea typeface="Bookman Old Style" pitchFamily="34" charset="-122"/>
                <a:cs typeface="Bookman Old Style" pitchFamily="34" charset="-120"/>
              </a:rPr>
              <a:t>Cloud</a:t>
            </a:r>
            <a:endParaRPr lang="en-US" sz="3000" dirty="0"/>
          </a:p>
        </p:txBody>
      </p:sp>
      <p:sp>
        <p:nvSpPr>
          <p:cNvPr id="4" name="Text 2"/>
          <p:cNvSpPr txBox="1"/>
          <p:nvPr/>
        </p:nvSpPr>
        <p:spPr>
          <a:xfrm>
            <a:off x="548640" y="548640"/>
            <a:ext cx="5303520" cy="320040"/>
          </a:xfrm>
          <a:prstGeom prst="rect">
            <a:avLst/>
          </a:prstGeom>
          <a:noFill/>
          <a:ln/>
        </p:spPr>
        <p:txBody>
          <a:bodyPr wrap="square" lIns="0" tIns="0" rIns="0" bIns="0" rtlCol="0" anchor="ctr"/>
          <a:lstStyle/>
          <a:p>
            <a:pPr indent="0" marL="0">
              <a:buNone/>
            </a:pPr>
            <a:r>
              <a:rPr lang="en-US" sz="1200" b="1" spc="400" kern="0" dirty="0">
                <a:solidFill>
                  <a:srgbClr val="FFC857"/>
                </a:solidFill>
                <a:latin typeface="Arial" pitchFamily="34" charset="0"/>
                <a:ea typeface="Arial" pitchFamily="34" charset="-122"/>
                <a:cs typeface="Arial" pitchFamily="34" charset="-120"/>
              </a:rPr>
              <a:t>MIDTERM</a:t>
            </a:r>
            <a:endParaRPr lang="en-US" sz="1200" dirty="0"/>
          </a:p>
        </p:txBody>
      </p:sp>
      <p:sp>
        <p:nvSpPr>
          <p:cNvPr id="5" name="Text 3"/>
          <p:cNvSpPr txBox="1"/>
          <p:nvPr/>
        </p:nvSpPr>
        <p:spPr>
          <a:xfrm>
            <a:off x="548640" y="1005840"/>
            <a:ext cx="5394960" cy="1737360"/>
          </a:xfrm>
          <a:prstGeom prst="rect">
            <a:avLst/>
          </a:prstGeom>
          <a:noFill/>
          <a:ln/>
        </p:spPr>
        <p:txBody>
          <a:bodyPr wrap="square" lIns="0" tIns="0" rIns="0" bIns="0" rtlCol="0" anchor="t"/>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Computation Offloading in the Edge-to-Cloud Compute Continuum</a:t>
            </a:r>
            <a:endParaRPr lang="en-US" sz="2600" dirty="0"/>
          </a:p>
        </p:txBody>
      </p:sp>
      <p:sp>
        <p:nvSpPr>
          <p:cNvPr id="6" name="Text 4"/>
          <p:cNvSpPr txBox="1"/>
          <p:nvPr/>
        </p:nvSpPr>
        <p:spPr>
          <a:xfrm>
            <a:off x="548640" y="2788920"/>
            <a:ext cx="5394960" cy="457200"/>
          </a:xfrm>
          <a:prstGeom prst="rect">
            <a:avLst/>
          </a:prstGeom>
          <a:noFill/>
          <a:ln/>
        </p:spPr>
        <p:txBody>
          <a:bodyPr wrap="square" lIns="0" tIns="0" rIns="0" bIns="0" rtlCol="0" anchor="ctr"/>
          <a:lstStyle/>
          <a:p>
            <a:pPr indent="0" marL="0">
              <a:buNone/>
            </a:pPr>
            <a:r>
              <a:rPr lang="en-US" sz="1500" i="1" dirty="0">
                <a:solidFill>
                  <a:srgbClr val="FFC857"/>
                </a:solidFill>
                <a:latin typeface="Bookman Old Style" pitchFamily="34" charset="0"/>
                <a:ea typeface="Bookman Old Style" pitchFamily="34" charset="-122"/>
                <a:cs typeface="Bookman Old Style" pitchFamily="34" charset="-120"/>
              </a:rPr>
              <a:t>A survey of federated architectural solutions</a:t>
            </a:r>
            <a:endParaRPr lang="en-US" sz="1500" dirty="0"/>
          </a:p>
        </p:txBody>
      </p:sp>
      <p:sp>
        <p:nvSpPr>
          <p:cNvPr id="7" name="Text 5"/>
          <p:cNvSpPr txBox="1"/>
          <p:nvPr/>
        </p:nvSpPr>
        <p:spPr>
          <a:xfrm>
            <a:off x="548640" y="3566160"/>
            <a:ext cx="5486400" cy="1188720"/>
          </a:xfrm>
          <a:prstGeom prst="rect">
            <a:avLst/>
          </a:prstGeom>
          <a:noFill/>
          <a:ln/>
        </p:spPr>
        <p:txBody>
          <a:bodyPr wrap="square" lIns="0" tIns="0" rIns="0" bIns="0" rtlCol="0" anchor="ctr"/>
          <a:lstStyle/>
          <a:p>
            <a:pPr indent="0" marL="0">
              <a:spcAft>
                <a:spcPts val="300"/>
              </a:spcAft>
              <a:buNone/>
            </a:pPr>
            <a:r>
              <a:rPr lang="en-US" sz="1200" b="1" dirty="0">
                <a:solidFill>
                  <a:srgbClr val="D1D5DB"/>
                </a:solidFill>
                <a:latin typeface="Arial" pitchFamily="34" charset="0"/>
                <a:ea typeface="Arial" pitchFamily="34" charset="-122"/>
                <a:cs typeface="Arial" pitchFamily="34" charset="-120"/>
              </a:rPr>
              <a:t>Syahril Fahmi</a:t>
            </a:r>
            <a:endParaRPr lang="en-US" sz="1200" dirty="0"/>
          </a:p>
          <a:p>
            <a:pPr indent="0" marL="0">
              <a:spcAft>
                <a:spcPts val="300"/>
              </a:spcAft>
              <a:buNone/>
            </a:pPr>
            <a:r>
              <a:rPr lang="en-US" sz="1200" dirty="0">
                <a:solidFill>
                  <a:srgbClr val="D1D5DB"/>
                </a:solidFill>
                <a:latin typeface="Arial" pitchFamily="34" charset="0"/>
                <a:ea typeface="Arial" pitchFamily="34" charset="-122"/>
                <a:cs typeface="Arial" pitchFamily="34" charset="-120"/>
              </a:rPr>
              <a:t>Mobile Communications and Cloud Computing</a:t>
            </a:r>
            <a:endParaRPr lang="en-US" sz="1200" dirty="0"/>
          </a:p>
          <a:p>
            <a:pPr indent="0" marL="0">
              <a:spcAft>
                <a:spcPts val="300"/>
              </a:spcAft>
              <a:buNone/>
            </a:pPr>
            <a:r>
              <a:rPr lang="en-US" sz="1200" dirty="0">
                <a:solidFill>
                  <a:srgbClr val="D1D5DB"/>
                </a:solidFill>
                <a:latin typeface="Arial" pitchFamily="34" charset="0"/>
                <a:ea typeface="Arial" pitchFamily="34" charset="-122"/>
                <a:cs typeface="Arial" pitchFamily="34" charset="-120"/>
              </a:rPr>
              <a:t>Southern Taiwan University of Science and Technology</a:t>
            </a:r>
            <a:endParaRPr lang="en-US" sz="1200" dirty="0"/>
          </a:p>
          <a:p>
            <a:pPr indent="0" marL="0">
              <a:spcAft>
                <a:spcPts val="300"/>
              </a:spcAft>
              <a:buNone/>
            </a:pPr>
            <a:r>
              <a:rPr lang="en-US" sz="1200" dirty="0">
                <a:solidFill>
                  <a:srgbClr val="D1D5DB"/>
                </a:solidFill>
                <a:latin typeface="Arial" pitchFamily="34" charset="0"/>
                <a:ea typeface="Arial" pitchFamily="34" charset="-122"/>
                <a:cs typeface="Arial" pitchFamily="34" charset="-120"/>
              </a:rPr>
              <a:t>Instructor: Dr. Showkat Ahmad Bhat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Roadmap</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
        <p:nvSpPr>
          <p:cNvPr id="6" name="Shape 3"/>
          <p:cNvSpPr/>
          <p:nvPr/>
        </p:nvSpPr>
        <p:spPr>
          <a:xfrm>
            <a:off x="457200" y="1188720"/>
            <a:ext cx="3931920" cy="868680"/>
          </a:xfrm>
          <a:prstGeom prst="rect">
            <a:avLst/>
          </a:prstGeom>
          <a:solidFill>
            <a:srgbClr val="F1F2F4"/>
          </a:solidFill>
          <a:ln w="12700">
            <a:solidFill>
              <a:srgbClr val="F1F2F4"/>
            </a:solidFill>
            <a:prstDash val="solid"/>
          </a:ln>
        </p:spPr>
      </p:sp>
      <p:sp>
        <p:nvSpPr>
          <p:cNvPr id="7" name="Shape 4"/>
          <p:cNvSpPr/>
          <p:nvPr/>
        </p:nvSpPr>
        <p:spPr>
          <a:xfrm>
            <a:off x="640080" y="1426464"/>
            <a:ext cx="384048" cy="384048"/>
          </a:xfrm>
          <a:prstGeom prst="rect">
            <a:avLst/>
          </a:prstGeom>
          <a:solidFill>
            <a:srgbClr val="D9482B"/>
          </a:solidFill>
          <a:ln w="12700">
            <a:solidFill>
              <a:srgbClr val="D9482B"/>
            </a:solidFill>
            <a:prstDash val="solid"/>
          </a:ln>
        </p:spPr>
      </p:sp>
      <p:sp>
        <p:nvSpPr>
          <p:cNvPr id="8" name="Text 5"/>
          <p:cNvSpPr txBox="1"/>
          <p:nvPr/>
        </p:nvSpPr>
        <p:spPr>
          <a:xfrm>
            <a:off x="640080"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1</a:t>
            </a:r>
            <a:endParaRPr lang="en-US" sz="1300" dirty="0"/>
          </a:p>
        </p:txBody>
      </p:sp>
      <p:sp>
        <p:nvSpPr>
          <p:cNvPr id="9" name="Text 6"/>
          <p:cNvSpPr txBox="1"/>
          <p:nvPr/>
        </p:nvSpPr>
        <p:spPr>
          <a:xfrm>
            <a:off x="1188720" y="1280160"/>
            <a:ext cx="3108960" cy="68580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Survey overview and motivation</a:t>
            </a:r>
            <a:endParaRPr lang="en-US" sz="1500" dirty="0"/>
          </a:p>
        </p:txBody>
      </p:sp>
      <p:sp>
        <p:nvSpPr>
          <p:cNvPr id="10" name="Shape 7"/>
          <p:cNvSpPr/>
          <p:nvPr/>
        </p:nvSpPr>
        <p:spPr>
          <a:xfrm>
            <a:off x="4663440" y="1188720"/>
            <a:ext cx="3931920" cy="868680"/>
          </a:xfrm>
          <a:prstGeom prst="rect">
            <a:avLst/>
          </a:prstGeom>
          <a:solidFill>
            <a:srgbClr val="F1F2F4"/>
          </a:solidFill>
          <a:ln w="12700">
            <a:solidFill>
              <a:srgbClr val="F1F2F4"/>
            </a:solidFill>
            <a:prstDash val="solid"/>
          </a:ln>
        </p:spPr>
      </p:sp>
      <p:sp>
        <p:nvSpPr>
          <p:cNvPr id="11" name="Shape 8"/>
          <p:cNvSpPr/>
          <p:nvPr/>
        </p:nvSpPr>
        <p:spPr>
          <a:xfrm>
            <a:off x="4846320" y="1426464"/>
            <a:ext cx="384048" cy="384048"/>
          </a:xfrm>
          <a:prstGeom prst="rect">
            <a:avLst/>
          </a:prstGeom>
          <a:solidFill>
            <a:srgbClr val="D9482B"/>
          </a:solidFill>
          <a:ln w="12700">
            <a:solidFill>
              <a:srgbClr val="D9482B"/>
            </a:solidFill>
            <a:prstDash val="solid"/>
          </a:ln>
        </p:spPr>
      </p:sp>
      <p:sp>
        <p:nvSpPr>
          <p:cNvPr id="12" name="Text 9"/>
          <p:cNvSpPr txBox="1"/>
          <p:nvPr/>
        </p:nvSpPr>
        <p:spPr>
          <a:xfrm>
            <a:off x="4846320"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2</a:t>
            </a:r>
            <a:endParaRPr lang="en-US" sz="1300" dirty="0"/>
          </a:p>
        </p:txBody>
      </p:sp>
      <p:sp>
        <p:nvSpPr>
          <p:cNvPr id="13" name="Text 10"/>
          <p:cNvSpPr txBox="1"/>
          <p:nvPr/>
        </p:nvSpPr>
        <p:spPr>
          <a:xfrm>
            <a:off x="5394960" y="1280160"/>
            <a:ext cx="3108960" cy="68580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Research questions and methodology</a:t>
            </a:r>
            <a:endParaRPr lang="en-US" sz="1500" dirty="0"/>
          </a:p>
        </p:txBody>
      </p:sp>
      <p:sp>
        <p:nvSpPr>
          <p:cNvPr id="14" name="Shape 11"/>
          <p:cNvSpPr/>
          <p:nvPr/>
        </p:nvSpPr>
        <p:spPr>
          <a:xfrm>
            <a:off x="457200" y="2286000"/>
            <a:ext cx="3931920" cy="868680"/>
          </a:xfrm>
          <a:prstGeom prst="rect">
            <a:avLst/>
          </a:prstGeom>
          <a:solidFill>
            <a:srgbClr val="F1F2F4"/>
          </a:solidFill>
          <a:ln w="12700">
            <a:solidFill>
              <a:srgbClr val="F1F2F4"/>
            </a:solidFill>
            <a:prstDash val="solid"/>
          </a:ln>
        </p:spPr>
      </p:sp>
      <p:sp>
        <p:nvSpPr>
          <p:cNvPr id="15" name="Shape 12"/>
          <p:cNvSpPr/>
          <p:nvPr/>
        </p:nvSpPr>
        <p:spPr>
          <a:xfrm>
            <a:off x="640080" y="2523744"/>
            <a:ext cx="384048" cy="384048"/>
          </a:xfrm>
          <a:prstGeom prst="rect">
            <a:avLst/>
          </a:prstGeom>
          <a:solidFill>
            <a:srgbClr val="D9482B"/>
          </a:solidFill>
          <a:ln w="12700">
            <a:solidFill>
              <a:srgbClr val="D9482B"/>
            </a:solidFill>
            <a:prstDash val="solid"/>
          </a:ln>
        </p:spPr>
      </p:sp>
      <p:sp>
        <p:nvSpPr>
          <p:cNvPr id="16" name="Text 13"/>
          <p:cNvSpPr txBox="1"/>
          <p:nvPr/>
        </p:nvSpPr>
        <p:spPr>
          <a:xfrm>
            <a:off x="64008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3</a:t>
            </a:r>
            <a:endParaRPr lang="en-US" sz="1300" dirty="0"/>
          </a:p>
        </p:txBody>
      </p:sp>
      <p:sp>
        <p:nvSpPr>
          <p:cNvPr id="17" name="Text 14"/>
          <p:cNvSpPr txBox="1"/>
          <p:nvPr/>
        </p:nvSpPr>
        <p:spPr>
          <a:xfrm>
            <a:off x="1188720" y="2377440"/>
            <a:ext cx="3108960" cy="68580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The four-part taxonomy</a:t>
            </a:r>
            <a:endParaRPr lang="en-US" sz="1500" dirty="0"/>
          </a:p>
        </p:txBody>
      </p:sp>
      <p:sp>
        <p:nvSpPr>
          <p:cNvPr id="18" name="Shape 15"/>
          <p:cNvSpPr/>
          <p:nvPr/>
        </p:nvSpPr>
        <p:spPr>
          <a:xfrm>
            <a:off x="4663440" y="2286000"/>
            <a:ext cx="3931920" cy="868680"/>
          </a:xfrm>
          <a:prstGeom prst="rect">
            <a:avLst/>
          </a:prstGeom>
          <a:solidFill>
            <a:srgbClr val="F1F2F4"/>
          </a:solidFill>
          <a:ln w="12700">
            <a:solidFill>
              <a:srgbClr val="F1F2F4"/>
            </a:solidFill>
            <a:prstDash val="solid"/>
          </a:ln>
        </p:spPr>
      </p:sp>
      <p:sp>
        <p:nvSpPr>
          <p:cNvPr id="19" name="Shape 16"/>
          <p:cNvSpPr/>
          <p:nvPr/>
        </p:nvSpPr>
        <p:spPr>
          <a:xfrm>
            <a:off x="4846320" y="2523744"/>
            <a:ext cx="384048" cy="384048"/>
          </a:xfrm>
          <a:prstGeom prst="rect">
            <a:avLst/>
          </a:prstGeom>
          <a:solidFill>
            <a:srgbClr val="D9482B"/>
          </a:solidFill>
          <a:ln w="12700">
            <a:solidFill>
              <a:srgbClr val="D9482B"/>
            </a:solidFill>
            <a:prstDash val="solid"/>
          </a:ln>
        </p:spPr>
      </p:sp>
      <p:sp>
        <p:nvSpPr>
          <p:cNvPr id="20" name="Text 17"/>
          <p:cNvSpPr txBox="1"/>
          <p:nvPr/>
        </p:nvSpPr>
        <p:spPr>
          <a:xfrm>
            <a:off x="484632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4</a:t>
            </a:r>
            <a:endParaRPr lang="en-US" sz="1300" dirty="0"/>
          </a:p>
        </p:txBody>
      </p:sp>
      <p:sp>
        <p:nvSpPr>
          <p:cNvPr id="21" name="Text 18"/>
          <p:cNvSpPr txBox="1"/>
          <p:nvPr/>
        </p:nvSpPr>
        <p:spPr>
          <a:xfrm>
            <a:off x="5394960" y="2377440"/>
            <a:ext cx="3108960" cy="68580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Classification of offloading solutions</a:t>
            </a:r>
            <a:endParaRPr lang="en-US" sz="1500" dirty="0"/>
          </a:p>
        </p:txBody>
      </p:sp>
      <p:sp>
        <p:nvSpPr>
          <p:cNvPr id="22" name="Shape 19"/>
          <p:cNvSpPr/>
          <p:nvPr/>
        </p:nvSpPr>
        <p:spPr>
          <a:xfrm>
            <a:off x="457200" y="3383280"/>
            <a:ext cx="3931920" cy="868680"/>
          </a:xfrm>
          <a:prstGeom prst="rect">
            <a:avLst/>
          </a:prstGeom>
          <a:solidFill>
            <a:srgbClr val="F1F2F4"/>
          </a:solidFill>
          <a:ln w="12700">
            <a:solidFill>
              <a:srgbClr val="F1F2F4"/>
            </a:solidFill>
            <a:prstDash val="solid"/>
          </a:ln>
        </p:spPr>
      </p:sp>
      <p:sp>
        <p:nvSpPr>
          <p:cNvPr id="23" name="Shape 20"/>
          <p:cNvSpPr/>
          <p:nvPr/>
        </p:nvSpPr>
        <p:spPr>
          <a:xfrm>
            <a:off x="640080" y="3621024"/>
            <a:ext cx="384048" cy="384048"/>
          </a:xfrm>
          <a:prstGeom prst="rect">
            <a:avLst/>
          </a:prstGeom>
          <a:solidFill>
            <a:srgbClr val="D9482B"/>
          </a:solidFill>
          <a:ln w="12700">
            <a:solidFill>
              <a:srgbClr val="D9482B"/>
            </a:solidFill>
            <a:prstDash val="solid"/>
          </a:ln>
        </p:spPr>
      </p:sp>
      <p:sp>
        <p:nvSpPr>
          <p:cNvPr id="24" name="Text 21"/>
          <p:cNvSpPr txBox="1"/>
          <p:nvPr/>
        </p:nvSpPr>
        <p:spPr>
          <a:xfrm>
            <a:off x="640080" y="3621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5</a:t>
            </a:r>
            <a:endParaRPr lang="en-US" sz="1300" dirty="0"/>
          </a:p>
        </p:txBody>
      </p:sp>
      <p:sp>
        <p:nvSpPr>
          <p:cNvPr id="25" name="Text 22"/>
          <p:cNvSpPr txBox="1"/>
          <p:nvPr/>
        </p:nvSpPr>
        <p:spPr>
          <a:xfrm>
            <a:off x="1188720" y="3474720"/>
            <a:ext cx="3108960" cy="68580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Key findings, challenges, future work</a:t>
            </a:r>
            <a:endParaRPr lang="en-US" sz="1500" dirty="0"/>
          </a:p>
        </p:txBody>
      </p:sp>
      <p:sp>
        <p:nvSpPr>
          <p:cNvPr id="26" name="Shape 23"/>
          <p:cNvSpPr/>
          <p:nvPr/>
        </p:nvSpPr>
        <p:spPr>
          <a:xfrm>
            <a:off x="4663440" y="3383280"/>
            <a:ext cx="3931920" cy="868680"/>
          </a:xfrm>
          <a:prstGeom prst="rect">
            <a:avLst/>
          </a:prstGeom>
          <a:solidFill>
            <a:srgbClr val="F1F2F4"/>
          </a:solidFill>
          <a:ln w="12700">
            <a:solidFill>
              <a:srgbClr val="F1F2F4"/>
            </a:solidFill>
            <a:prstDash val="solid"/>
          </a:ln>
        </p:spPr>
      </p:sp>
      <p:sp>
        <p:nvSpPr>
          <p:cNvPr id="27" name="Shape 24"/>
          <p:cNvSpPr/>
          <p:nvPr/>
        </p:nvSpPr>
        <p:spPr>
          <a:xfrm>
            <a:off x="4846320" y="3621024"/>
            <a:ext cx="384048" cy="384048"/>
          </a:xfrm>
          <a:prstGeom prst="rect">
            <a:avLst/>
          </a:prstGeom>
          <a:solidFill>
            <a:srgbClr val="D9482B"/>
          </a:solidFill>
          <a:ln w="12700">
            <a:solidFill>
              <a:srgbClr val="D9482B"/>
            </a:solidFill>
            <a:prstDash val="solid"/>
          </a:ln>
        </p:spPr>
      </p:sp>
      <p:sp>
        <p:nvSpPr>
          <p:cNvPr id="28" name="Text 25"/>
          <p:cNvSpPr txBox="1"/>
          <p:nvPr/>
        </p:nvSpPr>
        <p:spPr>
          <a:xfrm>
            <a:off x="4846320" y="3621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6</a:t>
            </a:r>
            <a:endParaRPr lang="en-US" sz="1300" dirty="0"/>
          </a:p>
        </p:txBody>
      </p:sp>
      <p:sp>
        <p:nvSpPr>
          <p:cNvPr id="29" name="Text 26"/>
          <p:cNvSpPr txBox="1"/>
          <p:nvPr/>
        </p:nvSpPr>
        <p:spPr>
          <a:xfrm>
            <a:off x="5394960" y="3474720"/>
            <a:ext cx="3108960" cy="68580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Critical analysis and conclusion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The survey at a glance</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
        <p:nvSpPr>
          <p:cNvPr id="6" name="Shape 3"/>
          <p:cNvSpPr/>
          <p:nvPr/>
        </p:nvSpPr>
        <p:spPr>
          <a:xfrm>
            <a:off x="457200" y="1097280"/>
            <a:ext cx="5120640" cy="3383280"/>
          </a:xfrm>
          <a:prstGeom prst="rect">
            <a:avLst/>
          </a:prstGeom>
          <a:solidFill>
            <a:srgbClr val="F1F2F4"/>
          </a:solidFill>
          <a:ln w="12700">
            <a:solidFill>
              <a:srgbClr val="F1F2F4"/>
            </a:solidFill>
            <a:prstDash val="solid"/>
          </a:ln>
        </p:spPr>
      </p:sp>
      <p:sp>
        <p:nvSpPr>
          <p:cNvPr id="7" name="Text 4"/>
          <p:cNvSpPr txBox="1"/>
          <p:nvPr/>
        </p:nvSpPr>
        <p:spPr>
          <a:xfrm>
            <a:off x="685800" y="1234440"/>
            <a:ext cx="1005840" cy="548640"/>
          </a:xfrm>
          <a:prstGeom prst="rect">
            <a:avLst/>
          </a:prstGeom>
          <a:noFill/>
          <a:ln/>
        </p:spPr>
        <p:txBody>
          <a:bodyPr wrap="square" lIns="0" tIns="0" rIns="0" bIns="0" rtlCol="0" anchor="t"/>
          <a:lstStyle/>
          <a:p>
            <a:pPr indent="0" marL="0">
              <a:buNone/>
            </a:pPr>
            <a:r>
              <a:rPr lang="en-US" sz="1300" b="1" dirty="0">
                <a:solidFill>
                  <a:srgbClr val="D9482B"/>
                </a:solidFill>
                <a:latin typeface="Arial" pitchFamily="34" charset="0"/>
                <a:ea typeface="Arial" pitchFamily="34" charset="-122"/>
                <a:cs typeface="Arial" pitchFamily="34" charset="-120"/>
              </a:rPr>
              <a:t>Title</a:t>
            </a:r>
            <a:endParaRPr lang="en-US" sz="1300" dirty="0"/>
          </a:p>
        </p:txBody>
      </p:sp>
      <p:sp>
        <p:nvSpPr>
          <p:cNvPr id="8" name="Text 5"/>
          <p:cNvSpPr txBox="1"/>
          <p:nvPr/>
        </p:nvSpPr>
        <p:spPr>
          <a:xfrm>
            <a:off x="1737360" y="1234440"/>
            <a:ext cx="3657600" cy="86868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Computation offloading in the edge-to-cloud compute continuum: a survey of federated architectural solutions</a:t>
            </a:r>
            <a:endParaRPr lang="en-US" sz="1300" dirty="0"/>
          </a:p>
        </p:txBody>
      </p:sp>
      <p:sp>
        <p:nvSpPr>
          <p:cNvPr id="9" name="Text 6"/>
          <p:cNvSpPr txBox="1"/>
          <p:nvPr/>
        </p:nvSpPr>
        <p:spPr>
          <a:xfrm>
            <a:off x="685800" y="2148840"/>
            <a:ext cx="1005840" cy="548640"/>
          </a:xfrm>
          <a:prstGeom prst="rect">
            <a:avLst/>
          </a:prstGeom>
          <a:noFill/>
          <a:ln/>
        </p:spPr>
        <p:txBody>
          <a:bodyPr wrap="square" lIns="0" tIns="0" rIns="0" bIns="0" rtlCol="0" anchor="t"/>
          <a:lstStyle/>
          <a:p>
            <a:pPr indent="0" marL="0">
              <a:buNone/>
            </a:pPr>
            <a:r>
              <a:rPr lang="en-US" sz="1300" b="1" dirty="0">
                <a:solidFill>
                  <a:srgbClr val="D9482B"/>
                </a:solidFill>
                <a:latin typeface="Arial" pitchFamily="34" charset="0"/>
                <a:ea typeface="Arial" pitchFamily="34" charset="-122"/>
                <a:cs typeface="Arial" pitchFamily="34" charset="-120"/>
              </a:rPr>
              <a:t>Authors</a:t>
            </a:r>
            <a:endParaRPr lang="en-US" sz="1300" dirty="0"/>
          </a:p>
        </p:txBody>
      </p:sp>
      <p:sp>
        <p:nvSpPr>
          <p:cNvPr id="10" name="Text 7"/>
          <p:cNvSpPr txBox="1"/>
          <p:nvPr/>
        </p:nvSpPr>
        <p:spPr>
          <a:xfrm>
            <a:off x="1737360" y="2148840"/>
            <a:ext cx="3657600" cy="86868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J. Pournazari, A. Ullah, A. Al-Dubai, X. Liu (Edinburgh Napier University)</a:t>
            </a:r>
            <a:endParaRPr lang="en-US" sz="1300" dirty="0"/>
          </a:p>
        </p:txBody>
      </p:sp>
      <p:sp>
        <p:nvSpPr>
          <p:cNvPr id="11" name="Text 8"/>
          <p:cNvSpPr txBox="1"/>
          <p:nvPr/>
        </p:nvSpPr>
        <p:spPr>
          <a:xfrm>
            <a:off x="685800" y="3063240"/>
            <a:ext cx="1005840" cy="548640"/>
          </a:xfrm>
          <a:prstGeom prst="rect">
            <a:avLst/>
          </a:prstGeom>
          <a:noFill/>
          <a:ln/>
        </p:spPr>
        <p:txBody>
          <a:bodyPr wrap="square" lIns="0" tIns="0" rIns="0" bIns="0" rtlCol="0" anchor="t"/>
          <a:lstStyle/>
          <a:p>
            <a:pPr indent="0" marL="0">
              <a:buNone/>
            </a:pPr>
            <a:r>
              <a:rPr lang="en-US" sz="1300" b="1" dirty="0">
                <a:solidFill>
                  <a:srgbClr val="D9482B"/>
                </a:solidFill>
                <a:latin typeface="Arial" pitchFamily="34" charset="0"/>
                <a:ea typeface="Arial" pitchFamily="34" charset="-122"/>
                <a:cs typeface="Arial" pitchFamily="34" charset="-120"/>
              </a:rPr>
              <a:t>Journal</a:t>
            </a:r>
            <a:endParaRPr lang="en-US" sz="1300" dirty="0"/>
          </a:p>
        </p:txBody>
      </p:sp>
      <p:sp>
        <p:nvSpPr>
          <p:cNvPr id="12" name="Text 9"/>
          <p:cNvSpPr txBox="1"/>
          <p:nvPr/>
        </p:nvSpPr>
        <p:spPr>
          <a:xfrm>
            <a:off x="1737360" y="3063240"/>
            <a:ext cx="3657600" cy="50292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Cluster Computing (Springer), vol. 28, art. 839</a:t>
            </a:r>
            <a:endParaRPr lang="en-US" sz="1300" dirty="0"/>
          </a:p>
        </p:txBody>
      </p:sp>
      <p:sp>
        <p:nvSpPr>
          <p:cNvPr id="13" name="Text 10"/>
          <p:cNvSpPr txBox="1"/>
          <p:nvPr/>
        </p:nvSpPr>
        <p:spPr>
          <a:xfrm>
            <a:off x="685800" y="3611880"/>
            <a:ext cx="1005840" cy="548640"/>
          </a:xfrm>
          <a:prstGeom prst="rect">
            <a:avLst/>
          </a:prstGeom>
          <a:noFill/>
          <a:ln/>
        </p:spPr>
        <p:txBody>
          <a:bodyPr wrap="square" lIns="0" tIns="0" rIns="0" bIns="0" rtlCol="0" anchor="t"/>
          <a:lstStyle/>
          <a:p>
            <a:pPr indent="0" marL="0">
              <a:buNone/>
            </a:pPr>
            <a:r>
              <a:rPr lang="en-US" sz="1300" b="1" dirty="0">
                <a:solidFill>
                  <a:srgbClr val="D9482B"/>
                </a:solidFill>
                <a:latin typeface="Arial" pitchFamily="34" charset="0"/>
                <a:ea typeface="Arial" pitchFamily="34" charset="-122"/>
                <a:cs typeface="Arial" pitchFamily="34" charset="-120"/>
              </a:rPr>
              <a:t>Published</a:t>
            </a:r>
            <a:endParaRPr lang="en-US" sz="1300" dirty="0"/>
          </a:p>
        </p:txBody>
      </p:sp>
      <p:sp>
        <p:nvSpPr>
          <p:cNvPr id="14" name="Text 11"/>
          <p:cNvSpPr txBox="1"/>
          <p:nvPr/>
        </p:nvSpPr>
        <p:spPr>
          <a:xfrm>
            <a:off x="1737360" y="3611880"/>
            <a:ext cx="3657600" cy="50292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19 September 2025</a:t>
            </a:r>
            <a:endParaRPr lang="en-US" sz="1300" dirty="0"/>
          </a:p>
        </p:txBody>
      </p:sp>
      <p:sp>
        <p:nvSpPr>
          <p:cNvPr id="15" name="Text 12"/>
          <p:cNvSpPr txBox="1"/>
          <p:nvPr/>
        </p:nvSpPr>
        <p:spPr>
          <a:xfrm>
            <a:off x="685800" y="4160520"/>
            <a:ext cx="1005840" cy="548640"/>
          </a:xfrm>
          <a:prstGeom prst="rect">
            <a:avLst/>
          </a:prstGeom>
          <a:noFill/>
          <a:ln/>
        </p:spPr>
        <p:txBody>
          <a:bodyPr wrap="square" lIns="0" tIns="0" rIns="0" bIns="0" rtlCol="0" anchor="t"/>
          <a:lstStyle/>
          <a:p>
            <a:pPr indent="0" marL="0">
              <a:buNone/>
            </a:pPr>
            <a:r>
              <a:rPr lang="en-US" sz="1300" b="1" dirty="0">
                <a:solidFill>
                  <a:srgbClr val="D9482B"/>
                </a:solidFill>
                <a:latin typeface="Arial" pitchFamily="34" charset="0"/>
                <a:ea typeface="Arial" pitchFamily="34" charset="-122"/>
                <a:cs typeface="Arial" pitchFamily="34" charset="-120"/>
              </a:rPr>
              <a:t>DOI</a:t>
            </a:r>
            <a:endParaRPr lang="en-US" sz="1300" dirty="0"/>
          </a:p>
        </p:txBody>
      </p:sp>
      <p:sp>
        <p:nvSpPr>
          <p:cNvPr id="16" name="Text 13"/>
          <p:cNvSpPr txBox="1"/>
          <p:nvPr/>
        </p:nvSpPr>
        <p:spPr>
          <a:xfrm>
            <a:off x="1737360" y="4160520"/>
            <a:ext cx="3657600" cy="50292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10.1007/s10586-025-05577-6</a:t>
            </a:r>
            <a:endParaRPr lang="en-US" sz="1300" dirty="0"/>
          </a:p>
        </p:txBody>
      </p:sp>
      <p:sp>
        <p:nvSpPr>
          <p:cNvPr id="17" name="Shape 14"/>
          <p:cNvSpPr/>
          <p:nvPr/>
        </p:nvSpPr>
        <p:spPr>
          <a:xfrm>
            <a:off x="5852160" y="1097280"/>
            <a:ext cx="2834640" cy="3383280"/>
          </a:xfrm>
          <a:prstGeom prst="rect">
            <a:avLst/>
          </a:prstGeom>
          <a:solidFill>
            <a:srgbClr val="26282E"/>
          </a:solidFill>
          <a:ln w="12700">
            <a:solidFill>
              <a:srgbClr val="26282E"/>
            </a:solidFill>
            <a:prstDash val="solid"/>
          </a:ln>
        </p:spPr>
      </p:sp>
      <p:sp>
        <p:nvSpPr>
          <p:cNvPr id="18" name="Text 15"/>
          <p:cNvSpPr txBox="1"/>
          <p:nvPr/>
        </p:nvSpPr>
        <p:spPr>
          <a:xfrm>
            <a:off x="6080760" y="1280160"/>
            <a:ext cx="2377440" cy="365760"/>
          </a:xfrm>
          <a:prstGeom prst="rect">
            <a:avLst/>
          </a:prstGeom>
          <a:noFill/>
          <a:ln/>
        </p:spPr>
        <p:txBody>
          <a:bodyPr wrap="square" lIns="0" tIns="0" rIns="0" bIns="0" rtlCol="0" anchor="ctr"/>
          <a:lstStyle/>
          <a:p>
            <a:pPr indent="0" marL="0">
              <a:buNone/>
            </a:pPr>
            <a:r>
              <a:rPr lang="en-US" sz="1600" b="1" dirty="0">
                <a:solidFill>
                  <a:srgbClr val="FFC857"/>
                </a:solidFill>
                <a:latin typeface="Bookman Old Style" pitchFamily="34" charset="0"/>
                <a:ea typeface="Bookman Old Style" pitchFamily="34" charset="-122"/>
                <a:cs typeface="Bookman Old Style" pitchFamily="34" charset="-120"/>
              </a:rPr>
              <a:t>In one sentence</a:t>
            </a:r>
            <a:endParaRPr lang="en-US" sz="1600" dirty="0"/>
          </a:p>
        </p:txBody>
      </p:sp>
      <p:sp>
        <p:nvSpPr>
          <p:cNvPr id="19" name="Text 16"/>
          <p:cNvSpPr txBox="1"/>
          <p:nvPr/>
        </p:nvSpPr>
        <p:spPr>
          <a:xfrm>
            <a:off x="6080760" y="1737360"/>
            <a:ext cx="2423160" cy="256032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A systematic review of 88 studies on how tasks are offloaded across decentralised, federated edge, fog and cloud systems, organized in one taxonomy.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Motivation: why another survey?</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
        <p:nvSpPr>
          <p:cNvPr id="6" name="Shape 3"/>
          <p:cNvSpPr/>
          <p:nvPr/>
        </p:nvSpPr>
        <p:spPr>
          <a:xfrm>
            <a:off x="457200" y="1143000"/>
            <a:ext cx="3931920" cy="1463040"/>
          </a:xfrm>
          <a:prstGeom prst="rect">
            <a:avLst/>
          </a:prstGeom>
          <a:solidFill>
            <a:srgbClr val="F1F2F4"/>
          </a:solidFill>
          <a:ln w="12700">
            <a:solidFill>
              <a:srgbClr val="F1F2F4"/>
            </a:solidFill>
            <a:prstDash val="solid"/>
          </a:ln>
        </p:spPr>
      </p:sp>
      <p:sp>
        <p:nvSpPr>
          <p:cNvPr id="7" name="Shape 4"/>
          <p:cNvSpPr/>
          <p:nvPr/>
        </p:nvSpPr>
        <p:spPr>
          <a:xfrm>
            <a:off x="640080" y="1325880"/>
            <a:ext cx="384048" cy="384048"/>
          </a:xfrm>
          <a:prstGeom prst="rect">
            <a:avLst/>
          </a:prstGeom>
          <a:solidFill>
            <a:srgbClr val="D9482B"/>
          </a:solidFill>
          <a:ln w="12700">
            <a:solidFill>
              <a:srgbClr val="D9482B"/>
            </a:solidFill>
            <a:prstDash val="solid"/>
          </a:ln>
        </p:spPr>
      </p:sp>
      <p:sp>
        <p:nvSpPr>
          <p:cNvPr id="8" name="Text 5"/>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1</a:t>
            </a:r>
            <a:endParaRPr lang="en-US" sz="1300" dirty="0"/>
          </a:p>
        </p:txBody>
      </p:sp>
      <p:sp>
        <p:nvSpPr>
          <p:cNvPr id="9" name="Text 6"/>
          <p:cNvSpPr txBox="1"/>
          <p:nvPr/>
        </p:nvSpPr>
        <p:spPr>
          <a:xfrm>
            <a:off x="1188720" y="1280160"/>
            <a:ext cx="3063240" cy="41148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Offloading is essential</a:t>
            </a:r>
            <a:endParaRPr lang="en-US" sz="1600" dirty="0"/>
          </a:p>
        </p:txBody>
      </p:sp>
      <p:sp>
        <p:nvSpPr>
          <p:cNvPr id="10" name="Text 7"/>
          <p:cNvSpPr txBox="1"/>
          <p:nvPr/>
        </p:nvSpPr>
        <p:spPr>
          <a:xfrm>
            <a:off x="1188720" y="1737360"/>
            <a:ext cx="3063240" cy="77724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IoT devices have limited resources, so tasks move to more capable nodes across edge, fog and cloud.</a:t>
            </a:r>
            <a:endParaRPr lang="en-US" sz="1300" dirty="0"/>
          </a:p>
        </p:txBody>
      </p:sp>
      <p:sp>
        <p:nvSpPr>
          <p:cNvPr id="11" name="Shape 8"/>
          <p:cNvSpPr/>
          <p:nvPr/>
        </p:nvSpPr>
        <p:spPr>
          <a:xfrm>
            <a:off x="4663440" y="1143000"/>
            <a:ext cx="3931920" cy="1463040"/>
          </a:xfrm>
          <a:prstGeom prst="rect">
            <a:avLst/>
          </a:prstGeom>
          <a:solidFill>
            <a:srgbClr val="F1F2F4"/>
          </a:solidFill>
          <a:ln w="12700">
            <a:solidFill>
              <a:srgbClr val="F1F2F4"/>
            </a:solidFill>
            <a:prstDash val="solid"/>
          </a:ln>
        </p:spPr>
      </p:sp>
      <p:sp>
        <p:nvSpPr>
          <p:cNvPr id="12" name="Shape 9"/>
          <p:cNvSpPr/>
          <p:nvPr/>
        </p:nvSpPr>
        <p:spPr>
          <a:xfrm>
            <a:off x="4846320" y="1325880"/>
            <a:ext cx="384048" cy="384048"/>
          </a:xfrm>
          <a:prstGeom prst="rect">
            <a:avLst/>
          </a:prstGeom>
          <a:solidFill>
            <a:srgbClr val="D9482B"/>
          </a:solidFill>
          <a:ln w="12700">
            <a:solidFill>
              <a:srgbClr val="D9482B"/>
            </a:solidFill>
            <a:prstDash val="solid"/>
          </a:ln>
        </p:spPr>
      </p:sp>
      <p:sp>
        <p:nvSpPr>
          <p:cNvPr id="13" name="Text 10"/>
          <p:cNvSpPr txBox="1"/>
          <p:nvPr/>
        </p:nvSpPr>
        <p:spPr>
          <a:xfrm>
            <a:off x="484632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2</a:t>
            </a:r>
            <a:endParaRPr lang="en-US" sz="1300" dirty="0"/>
          </a:p>
        </p:txBody>
      </p:sp>
      <p:sp>
        <p:nvSpPr>
          <p:cNvPr id="14" name="Text 11"/>
          <p:cNvSpPr txBox="1"/>
          <p:nvPr/>
        </p:nvSpPr>
        <p:spPr>
          <a:xfrm>
            <a:off x="5394960" y="1280160"/>
            <a:ext cx="3063240" cy="41148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Scale needs decentralisation</a:t>
            </a:r>
            <a:endParaRPr lang="en-US" sz="1600" dirty="0"/>
          </a:p>
        </p:txBody>
      </p:sp>
      <p:sp>
        <p:nvSpPr>
          <p:cNvPr id="15" name="Text 12"/>
          <p:cNvSpPr txBox="1"/>
          <p:nvPr/>
        </p:nvSpPr>
        <p:spPr>
          <a:xfrm>
            <a:off x="5394960" y="1737360"/>
            <a:ext cx="3063240" cy="77724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Centralized control becomes a bottleneck and a single point of failure in large, dynamic systems.</a:t>
            </a:r>
            <a:endParaRPr lang="en-US" sz="1300" dirty="0"/>
          </a:p>
        </p:txBody>
      </p:sp>
      <p:sp>
        <p:nvSpPr>
          <p:cNvPr id="16" name="Shape 13"/>
          <p:cNvSpPr/>
          <p:nvPr/>
        </p:nvSpPr>
        <p:spPr>
          <a:xfrm>
            <a:off x="457200" y="2834640"/>
            <a:ext cx="3931920" cy="1463040"/>
          </a:xfrm>
          <a:prstGeom prst="rect">
            <a:avLst/>
          </a:prstGeom>
          <a:solidFill>
            <a:srgbClr val="F1F2F4"/>
          </a:solidFill>
          <a:ln w="12700">
            <a:solidFill>
              <a:srgbClr val="F1F2F4"/>
            </a:solidFill>
            <a:prstDash val="solid"/>
          </a:ln>
        </p:spPr>
      </p:sp>
      <p:sp>
        <p:nvSpPr>
          <p:cNvPr id="17" name="Shape 14"/>
          <p:cNvSpPr/>
          <p:nvPr/>
        </p:nvSpPr>
        <p:spPr>
          <a:xfrm>
            <a:off x="640080" y="3017520"/>
            <a:ext cx="384048" cy="384048"/>
          </a:xfrm>
          <a:prstGeom prst="rect">
            <a:avLst/>
          </a:prstGeom>
          <a:solidFill>
            <a:srgbClr val="D9482B"/>
          </a:solidFill>
          <a:ln w="12700">
            <a:solidFill>
              <a:srgbClr val="D9482B"/>
            </a:solidFill>
            <a:prstDash val="solid"/>
          </a:ln>
        </p:spPr>
      </p:sp>
      <p:sp>
        <p:nvSpPr>
          <p:cNvPr id="18" name="Text 15"/>
          <p:cNvSpPr txBox="1"/>
          <p:nvPr/>
        </p:nvSpPr>
        <p:spPr>
          <a:xfrm>
            <a:off x="64008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3</a:t>
            </a:r>
            <a:endParaRPr lang="en-US" sz="1300" dirty="0"/>
          </a:p>
        </p:txBody>
      </p:sp>
      <p:sp>
        <p:nvSpPr>
          <p:cNvPr id="19" name="Text 16"/>
          <p:cNvSpPr txBox="1"/>
          <p:nvPr/>
        </p:nvSpPr>
        <p:spPr>
          <a:xfrm>
            <a:off x="1188720" y="2971800"/>
            <a:ext cx="3063240" cy="41148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Prior surveys look elsewhere</a:t>
            </a:r>
            <a:endParaRPr lang="en-US" sz="1600" dirty="0"/>
          </a:p>
        </p:txBody>
      </p:sp>
      <p:sp>
        <p:nvSpPr>
          <p:cNvPr id="20" name="Text 17"/>
          <p:cNvSpPr txBox="1"/>
          <p:nvPr/>
        </p:nvSpPr>
        <p:spPr>
          <a:xfrm>
            <a:off x="1188720" y="3429000"/>
            <a:ext cx="3063240" cy="77724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Most focus on one paradigm (MEC, MCC) or one technique (optimization, ML).</a:t>
            </a:r>
            <a:endParaRPr lang="en-US" sz="1300" dirty="0"/>
          </a:p>
        </p:txBody>
      </p:sp>
      <p:sp>
        <p:nvSpPr>
          <p:cNvPr id="21" name="Shape 18"/>
          <p:cNvSpPr/>
          <p:nvPr/>
        </p:nvSpPr>
        <p:spPr>
          <a:xfrm>
            <a:off x="4663440" y="2834640"/>
            <a:ext cx="3931920" cy="1463040"/>
          </a:xfrm>
          <a:prstGeom prst="rect">
            <a:avLst/>
          </a:prstGeom>
          <a:solidFill>
            <a:srgbClr val="26282E"/>
          </a:solidFill>
          <a:ln w="12700">
            <a:solidFill>
              <a:srgbClr val="26282E"/>
            </a:solidFill>
            <a:prstDash val="solid"/>
          </a:ln>
        </p:spPr>
      </p:sp>
      <p:sp>
        <p:nvSpPr>
          <p:cNvPr id="22" name="Shape 19"/>
          <p:cNvSpPr/>
          <p:nvPr/>
        </p:nvSpPr>
        <p:spPr>
          <a:xfrm>
            <a:off x="4846320" y="3017520"/>
            <a:ext cx="384048" cy="384048"/>
          </a:xfrm>
          <a:prstGeom prst="rect">
            <a:avLst/>
          </a:prstGeom>
          <a:solidFill>
            <a:srgbClr val="FFC857"/>
          </a:solidFill>
          <a:ln w="12700">
            <a:solidFill>
              <a:srgbClr val="FFC857"/>
            </a:solidFill>
            <a:prstDash val="solid"/>
          </a:ln>
        </p:spPr>
      </p:sp>
      <p:sp>
        <p:nvSpPr>
          <p:cNvPr id="23" name="Text 20"/>
          <p:cNvSpPr txBox="1"/>
          <p:nvPr/>
        </p:nvSpPr>
        <p:spPr>
          <a:xfrm>
            <a:off x="484632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4</a:t>
            </a:r>
            <a:endParaRPr lang="en-US" sz="1300" dirty="0"/>
          </a:p>
        </p:txBody>
      </p:sp>
      <p:sp>
        <p:nvSpPr>
          <p:cNvPr id="24" name="Text 21"/>
          <p:cNvSpPr txBox="1"/>
          <p:nvPr/>
        </p:nvSpPr>
        <p:spPr>
          <a:xfrm>
            <a:off x="5394960" y="2971800"/>
            <a:ext cx="3063240" cy="411480"/>
          </a:xfrm>
          <a:prstGeom prst="rect">
            <a:avLst/>
          </a:prstGeom>
          <a:noFill/>
          <a:ln/>
        </p:spPr>
        <p:txBody>
          <a:bodyPr wrap="square" lIns="0" tIns="0" rIns="0" bIns="0" rtlCol="0" anchor="ctr"/>
          <a:lstStyle/>
          <a:p>
            <a:pPr indent="0" marL="0">
              <a:buNone/>
            </a:pPr>
            <a:r>
              <a:rPr lang="en-US" sz="1600" b="1" dirty="0">
                <a:solidFill>
                  <a:srgbClr val="FFC857"/>
                </a:solidFill>
                <a:latin typeface="Bookman Old Style" pitchFamily="34" charset="0"/>
                <a:ea typeface="Bookman Old Style" pitchFamily="34" charset="-122"/>
                <a:cs typeface="Bookman Old Style" pitchFamily="34" charset="-120"/>
              </a:rPr>
              <a:t>The gap</a:t>
            </a:r>
            <a:endParaRPr lang="en-US" sz="1600" dirty="0"/>
          </a:p>
        </p:txBody>
      </p:sp>
      <p:sp>
        <p:nvSpPr>
          <p:cNvPr id="25" name="Text 22"/>
          <p:cNvSpPr txBox="1"/>
          <p:nvPr/>
        </p:nvSpPr>
        <p:spPr>
          <a:xfrm>
            <a:off x="5394960" y="3429000"/>
            <a:ext cx="3063240" cy="7772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Decentralised, federated edge-to-cloud offloading is rarely covered as a topic in its own right.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Four research questions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
        <p:nvSpPr>
          <p:cNvPr id="6" name="Shape 3"/>
          <p:cNvSpPr/>
          <p:nvPr/>
        </p:nvSpPr>
        <p:spPr>
          <a:xfrm>
            <a:off x="457200" y="1097280"/>
            <a:ext cx="8229600" cy="731520"/>
          </a:xfrm>
          <a:prstGeom prst="rect">
            <a:avLst/>
          </a:prstGeom>
          <a:solidFill>
            <a:srgbClr val="F1F2F4"/>
          </a:solidFill>
          <a:ln w="12700">
            <a:solidFill>
              <a:srgbClr val="F1F2F4"/>
            </a:solidFill>
            <a:prstDash val="solid"/>
          </a:ln>
        </p:spPr>
      </p:sp>
      <p:sp>
        <p:nvSpPr>
          <p:cNvPr id="7" name="Shape 4"/>
          <p:cNvSpPr/>
          <p:nvPr/>
        </p:nvSpPr>
        <p:spPr>
          <a:xfrm>
            <a:off x="640080" y="1271016"/>
            <a:ext cx="384048" cy="384048"/>
          </a:xfrm>
          <a:prstGeom prst="rect">
            <a:avLst/>
          </a:prstGeom>
          <a:solidFill>
            <a:srgbClr val="D9482B"/>
          </a:solidFill>
          <a:ln w="12700">
            <a:solidFill>
              <a:srgbClr val="D9482B"/>
            </a:solidFill>
            <a:prstDash val="solid"/>
          </a:ln>
        </p:spPr>
      </p:sp>
      <p:sp>
        <p:nvSpPr>
          <p:cNvPr id="8" name="Text 5"/>
          <p:cNvSpPr txBox="1"/>
          <p:nvPr/>
        </p:nvSpPr>
        <p:spPr>
          <a:xfrm>
            <a:off x="640080" y="1271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1</a:t>
            </a:r>
            <a:endParaRPr lang="en-US" sz="1300" dirty="0"/>
          </a:p>
        </p:txBody>
      </p:sp>
      <p:sp>
        <p:nvSpPr>
          <p:cNvPr id="9" name="Text 6"/>
          <p:cNvSpPr txBox="1"/>
          <p:nvPr/>
        </p:nvSpPr>
        <p:spPr>
          <a:xfrm>
            <a:off x="1234440" y="1143000"/>
            <a:ext cx="7269480" cy="64008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Which decentralised offloading architectures are popular, and how do they perform?</a:t>
            </a:r>
            <a:endParaRPr lang="en-US" sz="1500" dirty="0"/>
          </a:p>
        </p:txBody>
      </p:sp>
      <p:sp>
        <p:nvSpPr>
          <p:cNvPr id="10" name="Shape 7"/>
          <p:cNvSpPr/>
          <p:nvPr/>
        </p:nvSpPr>
        <p:spPr>
          <a:xfrm>
            <a:off x="457200" y="1965960"/>
            <a:ext cx="8229600" cy="731520"/>
          </a:xfrm>
          <a:prstGeom prst="rect">
            <a:avLst/>
          </a:prstGeom>
          <a:solidFill>
            <a:srgbClr val="F1F2F4"/>
          </a:solidFill>
          <a:ln w="12700">
            <a:solidFill>
              <a:srgbClr val="F1F2F4"/>
            </a:solidFill>
            <a:prstDash val="solid"/>
          </a:ln>
        </p:spPr>
      </p:sp>
      <p:sp>
        <p:nvSpPr>
          <p:cNvPr id="11" name="Shape 8"/>
          <p:cNvSpPr/>
          <p:nvPr/>
        </p:nvSpPr>
        <p:spPr>
          <a:xfrm>
            <a:off x="640080" y="2139696"/>
            <a:ext cx="384048" cy="384048"/>
          </a:xfrm>
          <a:prstGeom prst="rect">
            <a:avLst/>
          </a:prstGeom>
          <a:solidFill>
            <a:srgbClr val="FFC857"/>
          </a:solidFill>
          <a:ln w="12700">
            <a:solidFill>
              <a:srgbClr val="FFC857"/>
            </a:solidFill>
            <a:prstDash val="solid"/>
          </a:ln>
        </p:spPr>
      </p:sp>
      <p:sp>
        <p:nvSpPr>
          <p:cNvPr id="12" name="Text 9"/>
          <p:cNvSpPr txBox="1"/>
          <p:nvPr/>
        </p:nvSpPr>
        <p:spPr>
          <a:xfrm>
            <a:off x="640080" y="2139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2</a:t>
            </a:r>
            <a:endParaRPr lang="en-US" sz="1300" dirty="0"/>
          </a:p>
        </p:txBody>
      </p:sp>
      <p:sp>
        <p:nvSpPr>
          <p:cNvPr id="13" name="Text 10"/>
          <p:cNvSpPr txBox="1"/>
          <p:nvPr/>
        </p:nvSpPr>
        <p:spPr>
          <a:xfrm>
            <a:off x="1234440" y="2011680"/>
            <a:ext cx="7269480" cy="64008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Which key performance metrics are used to evaluate them?</a:t>
            </a:r>
            <a:endParaRPr lang="en-US" sz="1500" dirty="0"/>
          </a:p>
        </p:txBody>
      </p:sp>
      <p:sp>
        <p:nvSpPr>
          <p:cNvPr id="14" name="Shape 11"/>
          <p:cNvSpPr/>
          <p:nvPr/>
        </p:nvSpPr>
        <p:spPr>
          <a:xfrm>
            <a:off x="457200" y="2834640"/>
            <a:ext cx="8229600" cy="731520"/>
          </a:xfrm>
          <a:prstGeom prst="rect">
            <a:avLst/>
          </a:prstGeom>
          <a:solidFill>
            <a:srgbClr val="F1F2F4"/>
          </a:solidFill>
          <a:ln w="12700">
            <a:solidFill>
              <a:srgbClr val="F1F2F4"/>
            </a:solidFill>
            <a:prstDash val="solid"/>
          </a:ln>
        </p:spPr>
      </p:sp>
      <p:sp>
        <p:nvSpPr>
          <p:cNvPr id="15" name="Shape 12"/>
          <p:cNvSpPr/>
          <p:nvPr/>
        </p:nvSpPr>
        <p:spPr>
          <a:xfrm>
            <a:off x="640080" y="3008376"/>
            <a:ext cx="384048" cy="384048"/>
          </a:xfrm>
          <a:prstGeom prst="rect">
            <a:avLst/>
          </a:prstGeom>
          <a:solidFill>
            <a:srgbClr val="D9482B"/>
          </a:solidFill>
          <a:ln w="12700">
            <a:solidFill>
              <a:srgbClr val="D9482B"/>
            </a:solidFill>
            <a:prstDash val="solid"/>
          </a:ln>
        </p:spPr>
      </p:sp>
      <p:sp>
        <p:nvSpPr>
          <p:cNvPr id="16" name="Text 13"/>
          <p:cNvSpPr txBox="1"/>
          <p:nvPr/>
        </p:nvSpPr>
        <p:spPr>
          <a:xfrm>
            <a:off x="640080" y="3008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3</a:t>
            </a:r>
            <a:endParaRPr lang="en-US" sz="1300" dirty="0"/>
          </a:p>
        </p:txBody>
      </p:sp>
      <p:sp>
        <p:nvSpPr>
          <p:cNvPr id="17" name="Text 14"/>
          <p:cNvSpPr txBox="1"/>
          <p:nvPr/>
        </p:nvSpPr>
        <p:spPr>
          <a:xfrm>
            <a:off x="1234440" y="2880360"/>
            <a:ext cx="7269480" cy="64008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Which benchmarks and simulation tools are available?</a:t>
            </a:r>
            <a:endParaRPr lang="en-US" sz="1500" dirty="0"/>
          </a:p>
        </p:txBody>
      </p:sp>
      <p:sp>
        <p:nvSpPr>
          <p:cNvPr id="18" name="Shape 15"/>
          <p:cNvSpPr/>
          <p:nvPr/>
        </p:nvSpPr>
        <p:spPr>
          <a:xfrm>
            <a:off x="457200" y="3703320"/>
            <a:ext cx="8229600" cy="731520"/>
          </a:xfrm>
          <a:prstGeom prst="rect">
            <a:avLst/>
          </a:prstGeom>
          <a:solidFill>
            <a:srgbClr val="F1F2F4"/>
          </a:solidFill>
          <a:ln w="12700">
            <a:solidFill>
              <a:srgbClr val="F1F2F4"/>
            </a:solidFill>
            <a:prstDash val="solid"/>
          </a:ln>
        </p:spPr>
      </p:sp>
      <p:sp>
        <p:nvSpPr>
          <p:cNvPr id="19" name="Shape 16"/>
          <p:cNvSpPr/>
          <p:nvPr/>
        </p:nvSpPr>
        <p:spPr>
          <a:xfrm>
            <a:off x="640080" y="3877056"/>
            <a:ext cx="384048" cy="384048"/>
          </a:xfrm>
          <a:prstGeom prst="rect">
            <a:avLst/>
          </a:prstGeom>
          <a:solidFill>
            <a:srgbClr val="FFC857"/>
          </a:solidFill>
          <a:ln w="12700">
            <a:solidFill>
              <a:srgbClr val="FFC857"/>
            </a:solidFill>
            <a:prstDash val="solid"/>
          </a:ln>
        </p:spPr>
      </p:sp>
      <p:sp>
        <p:nvSpPr>
          <p:cNvPr id="20" name="Text 17"/>
          <p:cNvSpPr txBox="1"/>
          <p:nvPr/>
        </p:nvSpPr>
        <p:spPr>
          <a:xfrm>
            <a:off x="640080" y="3877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4</a:t>
            </a:r>
            <a:endParaRPr lang="en-US" sz="1300" dirty="0"/>
          </a:p>
        </p:txBody>
      </p:sp>
      <p:sp>
        <p:nvSpPr>
          <p:cNvPr id="21" name="Text 18"/>
          <p:cNvSpPr txBox="1"/>
          <p:nvPr/>
        </p:nvSpPr>
        <p:spPr>
          <a:xfrm>
            <a:off x="1234440" y="3749040"/>
            <a:ext cx="7269480" cy="640080"/>
          </a:xfrm>
          <a:prstGeom prst="rect">
            <a:avLst/>
          </a:prstGeom>
          <a:noFill/>
          <a:ln/>
        </p:spPr>
        <p:txBody>
          <a:bodyPr wrap="square" lIns="0" tIns="0" rIns="0" bIns="0" rtlCol="0" anchor="ctr"/>
          <a:lstStyle/>
          <a:p>
            <a:pPr indent="0" marL="0">
              <a:buNone/>
            </a:pPr>
            <a:r>
              <a:rPr lang="en-US" sz="1500" dirty="0">
                <a:solidFill>
                  <a:srgbClr val="23262B"/>
                </a:solidFill>
                <a:latin typeface="Arial" pitchFamily="34" charset="0"/>
                <a:ea typeface="Arial" pitchFamily="34" charset="-122"/>
                <a:cs typeface="Arial" pitchFamily="34" charset="-120"/>
              </a:rPr>
              <a:t>What are the future research directions for decentralised solutions?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Methodology: PRISMA screening</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6</a:t>
            </a:r>
            <a:endParaRPr lang="en-US" sz="900" dirty="0"/>
          </a:p>
        </p:txBody>
      </p:sp>
      <p:sp>
        <p:nvSpPr>
          <p:cNvPr id="6" name="Shape 3"/>
          <p:cNvSpPr/>
          <p:nvPr/>
        </p:nvSpPr>
        <p:spPr>
          <a:xfrm>
            <a:off x="457200" y="1097280"/>
            <a:ext cx="5486400" cy="594360"/>
          </a:xfrm>
          <a:prstGeom prst="rect">
            <a:avLst/>
          </a:prstGeom>
          <a:solidFill>
            <a:srgbClr val="26282E"/>
          </a:solidFill>
          <a:ln w="12700">
            <a:solidFill>
              <a:srgbClr val="26282E"/>
            </a:solidFill>
            <a:prstDash val="solid"/>
          </a:ln>
        </p:spPr>
      </p:sp>
      <p:sp>
        <p:nvSpPr>
          <p:cNvPr id="7" name="Text 4"/>
          <p:cNvSpPr txBox="1"/>
          <p:nvPr/>
        </p:nvSpPr>
        <p:spPr>
          <a:xfrm>
            <a:off x="457200" y="1097280"/>
            <a:ext cx="548640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Bookman Old Style" pitchFamily="34" charset="0"/>
                <a:ea typeface="Bookman Old Style" pitchFamily="34" charset="-122"/>
                <a:cs typeface="Bookman Old Style" pitchFamily="34" charset="-120"/>
              </a:rPr>
              <a:t>607</a:t>
            </a:r>
            <a:endParaRPr lang="en-US" sz="2200" dirty="0"/>
          </a:p>
        </p:txBody>
      </p:sp>
      <p:sp>
        <p:nvSpPr>
          <p:cNvPr id="8" name="Text 5"/>
          <p:cNvSpPr txBox="1"/>
          <p:nvPr/>
        </p:nvSpPr>
        <p:spPr>
          <a:xfrm>
            <a:off x="6126480" y="1097280"/>
            <a:ext cx="2560320" cy="594360"/>
          </a:xfrm>
          <a:prstGeom prst="rect">
            <a:avLst/>
          </a:prstGeom>
          <a:noFill/>
          <a:ln/>
        </p:spPr>
        <p:txBody>
          <a:bodyPr wrap="square" lIns="0" tIns="0" rIns="0" bIns="0" rtlCol="0" anchor="ctr"/>
          <a:lstStyle/>
          <a:p>
            <a:pPr indent="0" marL="0">
              <a:buNone/>
            </a:pPr>
            <a:r>
              <a:rPr lang="en-US" sz="1300" dirty="0">
                <a:solidFill>
                  <a:srgbClr val="23262B"/>
                </a:solidFill>
                <a:latin typeface="Arial" pitchFamily="34" charset="0"/>
                <a:ea typeface="Arial" pitchFamily="34" charset="-122"/>
                <a:cs typeface="Arial" pitchFamily="34" charset="-120"/>
              </a:rPr>
              <a:t>retrieved from 7 databases</a:t>
            </a:r>
            <a:endParaRPr lang="en-US" sz="1300" dirty="0"/>
          </a:p>
        </p:txBody>
      </p:sp>
      <p:sp>
        <p:nvSpPr>
          <p:cNvPr id="9" name="Shape 6"/>
          <p:cNvSpPr/>
          <p:nvPr/>
        </p:nvSpPr>
        <p:spPr>
          <a:xfrm>
            <a:off x="457200" y="1874520"/>
            <a:ext cx="2834640" cy="594360"/>
          </a:xfrm>
          <a:prstGeom prst="rect">
            <a:avLst/>
          </a:prstGeom>
          <a:solidFill>
            <a:srgbClr val="D9482B"/>
          </a:solidFill>
          <a:ln w="12700">
            <a:solidFill>
              <a:srgbClr val="D9482B"/>
            </a:solidFill>
            <a:prstDash val="solid"/>
          </a:ln>
        </p:spPr>
      </p:sp>
      <p:sp>
        <p:nvSpPr>
          <p:cNvPr id="10" name="Text 7"/>
          <p:cNvSpPr txBox="1"/>
          <p:nvPr/>
        </p:nvSpPr>
        <p:spPr>
          <a:xfrm>
            <a:off x="457200" y="1874520"/>
            <a:ext cx="283464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Bookman Old Style" pitchFamily="34" charset="0"/>
                <a:ea typeface="Bookman Old Style" pitchFamily="34" charset="-122"/>
                <a:cs typeface="Bookman Old Style" pitchFamily="34" charset="-120"/>
              </a:rPr>
              <a:t>314</a:t>
            </a:r>
            <a:endParaRPr lang="en-US" sz="2200" dirty="0"/>
          </a:p>
        </p:txBody>
      </p:sp>
      <p:sp>
        <p:nvSpPr>
          <p:cNvPr id="11" name="Text 8"/>
          <p:cNvSpPr txBox="1"/>
          <p:nvPr/>
        </p:nvSpPr>
        <p:spPr>
          <a:xfrm>
            <a:off x="3474720" y="1874520"/>
            <a:ext cx="5212080" cy="594360"/>
          </a:xfrm>
          <a:prstGeom prst="rect">
            <a:avLst/>
          </a:prstGeom>
          <a:noFill/>
          <a:ln/>
        </p:spPr>
        <p:txBody>
          <a:bodyPr wrap="square" lIns="0" tIns="0" rIns="0" bIns="0" rtlCol="0" anchor="ctr"/>
          <a:lstStyle/>
          <a:p>
            <a:pPr indent="0" marL="0">
              <a:buNone/>
            </a:pPr>
            <a:r>
              <a:rPr lang="en-US" sz="1300" dirty="0">
                <a:solidFill>
                  <a:srgbClr val="23262B"/>
                </a:solidFill>
                <a:latin typeface="Arial" pitchFamily="34" charset="0"/>
                <a:ea typeface="Arial" pitchFamily="34" charset="-122"/>
                <a:cs typeface="Arial" pitchFamily="34" charset="-120"/>
              </a:rPr>
              <a:t>after de-duplication and title/abstract screening</a:t>
            </a:r>
            <a:endParaRPr lang="en-US" sz="1300" dirty="0"/>
          </a:p>
        </p:txBody>
      </p:sp>
      <p:sp>
        <p:nvSpPr>
          <p:cNvPr id="12" name="Shape 9"/>
          <p:cNvSpPr/>
          <p:nvPr/>
        </p:nvSpPr>
        <p:spPr>
          <a:xfrm>
            <a:off x="457200" y="2651760"/>
            <a:ext cx="822960" cy="594360"/>
          </a:xfrm>
          <a:prstGeom prst="rect">
            <a:avLst/>
          </a:prstGeom>
          <a:solidFill>
            <a:srgbClr val="FFC857"/>
          </a:solidFill>
          <a:ln w="12700">
            <a:solidFill>
              <a:srgbClr val="FFC857"/>
            </a:solidFill>
            <a:prstDash val="solid"/>
          </a:ln>
        </p:spPr>
      </p:sp>
      <p:sp>
        <p:nvSpPr>
          <p:cNvPr id="13" name="Text 10"/>
          <p:cNvSpPr txBox="1"/>
          <p:nvPr/>
        </p:nvSpPr>
        <p:spPr>
          <a:xfrm>
            <a:off x="457200" y="2651760"/>
            <a:ext cx="822960" cy="594360"/>
          </a:xfrm>
          <a:prstGeom prst="rect">
            <a:avLst/>
          </a:prstGeom>
          <a:noFill/>
          <a:ln/>
        </p:spPr>
        <p:txBody>
          <a:bodyPr wrap="square" lIns="0" tIns="0" rIns="0" bIns="0" rtlCol="0" anchor="ctr"/>
          <a:lstStyle/>
          <a:p>
            <a:pPr algn="ctr" indent="0" marL="0">
              <a:buNone/>
            </a:pPr>
            <a:r>
              <a:rPr lang="en-US" sz="2200" b="1" dirty="0">
                <a:solidFill>
                  <a:srgbClr val="26282E"/>
                </a:solidFill>
                <a:latin typeface="Bookman Old Style" pitchFamily="34" charset="0"/>
                <a:ea typeface="Bookman Old Style" pitchFamily="34" charset="-122"/>
                <a:cs typeface="Bookman Old Style" pitchFamily="34" charset="-120"/>
              </a:rPr>
              <a:t>88</a:t>
            </a:r>
            <a:endParaRPr lang="en-US" sz="2200" dirty="0"/>
          </a:p>
        </p:txBody>
      </p:sp>
      <p:sp>
        <p:nvSpPr>
          <p:cNvPr id="14" name="Text 11"/>
          <p:cNvSpPr txBox="1"/>
          <p:nvPr/>
        </p:nvSpPr>
        <p:spPr>
          <a:xfrm>
            <a:off x="1463040" y="2651760"/>
            <a:ext cx="7223760" cy="594360"/>
          </a:xfrm>
          <a:prstGeom prst="rect">
            <a:avLst/>
          </a:prstGeom>
          <a:noFill/>
          <a:ln/>
        </p:spPr>
        <p:txBody>
          <a:bodyPr wrap="square" lIns="0" tIns="0" rIns="0" bIns="0" rtlCol="0" anchor="ctr"/>
          <a:lstStyle/>
          <a:p>
            <a:pPr indent="0" marL="0">
              <a:buNone/>
            </a:pPr>
            <a:r>
              <a:rPr lang="en-US" sz="1300" dirty="0">
                <a:solidFill>
                  <a:srgbClr val="23262B"/>
                </a:solidFill>
                <a:latin typeface="Arial" pitchFamily="34" charset="0"/>
                <a:ea typeface="Arial" pitchFamily="34" charset="-122"/>
                <a:cs typeface="Arial" pitchFamily="34" charset="-120"/>
              </a:rPr>
              <a:t>selected for full analysis</a:t>
            </a:r>
            <a:endParaRPr lang="en-US" sz="1300" dirty="0"/>
          </a:p>
        </p:txBody>
      </p:sp>
      <p:sp>
        <p:nvSpPr>
          <p:cNvPr id="15" name="Shape 12"/>
          <p:cNvSpPr/>
          <p:nvPr/>
        </p:nvSpPr>
        <p:spPr>
          <a:xfrm>
            <a:off x="457200" y="3520440"/>
            <a:ext cx="4023360" cy="1051560"/>
          </a:xfrm>
          <a:prstGeom prst="rect">
            <a:avLst/>
          </a:prstGeom>
          <a:solidFill>
            <a:srgbClr val="F1F2F4"/>
          </a:solidFill>
          <a:ln w="12700">
            <a:solidFill>
              <a:srgbClr val="F1F2F4"/>
            </a:solidFill>
            <a:prstDash val="solid"/>
          </a:ln>
        </p:spPr>
      </p:sp>
      <p:sp>
        <p:nvSpPr>
          <p:cNvPr id="16" name="Text 13"/>
          <p:cNvSpPr txBox="1"/>
          <p:nvPr/>
        </p:nvSpPr>
        <p:spPr>
          <a:xfrm>
            <a:off x="640080" y="3566160"/>
            <a:ext cx="3657600" cy="320040"/>
          </a:xfrm>
          <a:prstGeom prst="rect">
            <a:avLst/>
          </a:prstGeom>
          <a:noFill/>
          <a:ln/>
        </p:spPr>
        <p:txBody>
          <a:bodyPr wrap="square" lIns="0" tIns="0" rIns="0" bIns="0" rtlCol="0" anchor="ctr"/>
          <a:lstStyle/>
          <a:p>
            <a:pPr indent="0" marL="0">
              <a:buNone/>
            </a:pPr>
            <a:r>
              <a:rPr lang="en-US" sz="1300" b="1" dirty="0">
                <a:solidFill>
                  <a:srgbClr val="26282E"/>
                </a:solidFill>
                <a:latin typeface="Bookman Old Style" pitchFamily="34" charset="0"/>
                <a:ea typeface="Bookman Old Style" pitchFamily="34" charset="-122"/>
                <a:cs typeface="Bookman Old Style" pitchFamily="34" charset="-120"/>
              </a:rPr>
              <a:t>Search terms</a:t>
            </a:r>
            <a:endParaRPr lang="en-US" sz="1300" dirty="0"/>
          </a:p>
        </p:txBody>
      </p:sp>
      <p:sp>
        <p:nvSpPr>
          <p:cNvPr id="17" name="Text 14"/>
          <p:cNvSpPr txBox="1"/>
          <p:nvPr/>
        </p:nvSpPr>
        <p:spPr>
          <a:xfrm>
            <a:off x="640080" y="3886200"/>
            <a:ext cx="3657600" cy="640080"/>
          </a:xfrm>
          <a:prstGeom prst="rect">
            <a:avLst/>
          </a:prstGeom>
          <a:noFill/>
          <a:ln/>
        </p:spPr>
        <p:txBody>
          <a:bodyPr wrap="square" lIns="0" tIns="0" rIns="0" bIns="0" rtlCol="0" anchor="t"/>
          <a:lstStyle/>
          <a:p>
            <a:pPr indent="0" marL="0">
              <a:buNone/>
            </a:pPr>
            <a:r>
              <a:rPr lang="en-US" sz="1100" dirty="0">
                <a:solidFill>
                  <a:srgbClr val="23262B"/>
                </a:solidFill>
                <a:latin typeface="Arial" pitchFamily="34" charset="0"/>
                <a:ea typeface="Arial" pitchFamily="34" charset="-122"/>
                <a:cs typeface="Arial" pitchFamily="34" charset="-120"/>
              </a:rPr>
              <a:t>Continuum AND (Computation OR Task OR Workload) AND (Transfer OR Migration OR Offloading)</a:t>
            </a:r>
            <a:endParaRPr lang="en-US" sz="1100" dirty="0"/>
          </a:p>
        </p:txBody>
      </p:sp>
      <p:sp>
        <p:nvSpPr>
          <p:cNvPr id="18" name="Shape 15"/>
          <p:cNvSpPr/>
          <p:nvPr/>
        </p:nvSpPr>
        <p:spPr>
          <a:xfrm>
            <a:off x="4663440" y="3520440"/>
            <a:ext cx="4023360" cy="1051560"/>
          </a:xfrm>
          <a:prstGeom prst="rect">
            <a:avLst/>
          </a:prstGeom>
          <a:solidFill>
            <a:srgbClr val="F1F2F4"/>
          </a:solidFill>
          <a:ln w="12700">
            <a:solidFill>
              <a:srgbClr val="F1F2F4"/>
            </a:solidFill>
            <a:prstDash val="solid"/>
          </a:ln>
        </p:spPr>
      </p:sp>
      <p:sp>
        <p:nvSpPr>
          <p:cNvPr id="19" name="Text 16"/>
          <p:cNvSpPr txBox="1"/>
          <p:nvPr/>
        </p:nvSpPr>
        <p:spPr>
          <a:xfrm>
            <a:off x="4846320" y="3566160"/>
            <a:ext cx="3657600" cy="320040"/>
          </a:xfrm>
          <a:prstGeom prst="rect">
            <a:avLst/>
          </a:prstGeom>
          <a:noFill/>
          <a:ln/>
        </p:spPr>
        <p:txBody>
          <a:bodyPr wrap="square" lIns="0" tIns="0" rIns="0" bIns="0" rtlCol="0" anchor="ctr"/>
          <a:lstStyle/>
          <a:p>
            <a:pPr indent="0" marL="0">
              <a:buNone/>
            </a:pPr>
            <a:r>
              <a:rPr lang="en-US" sz="1300" b="1" dirty="0">
                <a:solidFill>
                  <a:srgbClr val="26282E"/>
                </a:solidFill>
                <a:latin typeface="Bookman Old Style" pitchFamily="34" charset="0"/>
                <a:ea typeface="Bookman Old Style" pitchFamily="34" charset="-122"/>
                <a:cs typeface="Bookman Old Style" pitchFamily="34" charset="-120"/>
              </a:rPr>
              <a:t>Scope</a:t>
            </a:r>
            <a:endParaRPr lang="en-US" sz="1300" dirty="0"/>
          </a:p>
        </p:txBody>
      </p:sp>
      <p:sp>
        <p:nvSpPr>
          <p:cNvPr id="20" name="Text 17"/>
          <p:cNvSpPr txBox="1"/>
          <p:nvPr/>
        </p:nvSpPr>
        <p:spPr>
          <a:xfrm>
            <a:off x="4846320" y="3886200"/>
            <a:ext cx="3657600" cy="640080"/>
          </a:xfrm>
          <a:prstGeom prst="rect">
            <a:avLst/>
          </a:prstGeom>
          <a:noFill/>
          <a:ln/>
        </p:spPr>
        <p:txBody>
          <a:bodyPr wrap="square" lIns="0" tIns="0" rIns="0" bIns="0" rtlCol="0" anchor="t"/>
          <a:lstStyle/>
          <a:p>
            <a:pPr indent="0" marL="0">
              <a:buNone/>
            </a:pPr>
            <a:r>
              <a:rPr lang="en-US" sz="1100" dirty="0">
                <a:solidFill>
                  <a:srgbClr val="23262B"/>
                </a:solidFill>
                <a:latin typeface="Arial" pitchFamily="34" charset="0"/>
                <a:ea typeface="Arial" pitchFamily="34" charset="-122"/>
                <a:cs typeface="Arial" pitchFamily="34" charset="-120"/>
              </a:rPr>
              <a:t>Peer-reviewed articles, book chapters and conference papers, 2018-2024, decentralised control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Where the 607 papers came from</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7</a:t>
            </a:r>
            <a:endParaRPr lang="en-US" sz="900" dirty="0"/>
          </a:p>
        </p:txBody>
      </p:sp>
      <p:graphicFrame>
        <p:nvGraphicFramePr>
          <p:cNvPr id="6" name="Chart 0" descr=""/>
          <p:cNvGraphicFramePr/>
          <p:nvPr/>
        </p:nvGraphicFramePr>
        <p:xfrm>
          <a:off x="457200" y="105156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126480" y="1097280"/>
            <a:ext cx="2560320" cy="1554480"/>
          </a:xfrm>
          <a:prstGeom prst="rect">
            <a:avLst/>
          </a:prstGeom>
          <a:solidFill>
            <a:srgbClr val="26282E"/>
          </a:solidFill>
          <a:ln w="12700">
            <a:solidFill>
              <a:srgbClr val="26282E"/>
            </a:solidFill>
            <a:prstDash val="solid"/>
          </a:ln>
        </p:spPr>
      </p:sp>
      <p:sp>
        <p:nvSpPr>
          <p:cNvPr id="8" name="Text 4"/>
          <p:cNvSpPr txBox="1"/>
          <p:nvPr/>
        </p:nvSpPr>
        <p:spPr>
          <a:xfrm>
            <a:off x="6126480" y="1188720"/>
            <a:ext cx="2560320" cy="731520"/>
          </a:xfrm>
          <a:prstGeom prst="rect">
            <a:avLst/>
          </a:prstGeom>
          <a:noFill/>
          <a:ln/>
        </p:spPr>
        <p:txBody>
          <a:bodyPr wrap="square" lIns="0" tIns="0" rIns="0" bIns="0" rtlCol="0" anchor="ctr"/>
          <a:lstStyle/>
          <a:p>
            <a:pPr algn="ctr" indent="0" marL="0">
              <a:buNone/>
            </a:pPr>
            <a:r>
              <a:rPr lang="en-US" sz="3600" b="1" dirty="0">
                <a:solidFill>
                  <a:srgbClr val="FFC857"/>
                </a:solidFill>
                <a:latin typeface="Bookman Old Style" pitchFamily="34" charset="0"/>
                <a:ea typeface="Bookman Old Style" pitchFamily="34" charset="-122"/>
                <a:cs typeface="Bookman Old Style" pitchFamily="34" charset="-120"/>
              </a:rPr>
              <a:t>34.8%</a:t>
            </a:r>
            <a:endParaRPr lang="en-US" sz="3600" dirty="0"/>
          </a:p>
        </p:txBody>
      </p:sp>
      <p:sp>
        <p:nvSpPr>
          <p:cNvPr id="9" name="Text 5"/>
          <p:cNvSpPr txBox="1"/>
          <p:nvPr/>
        </p:nvSpPr>
        <p:spPr>
          <a:xfrm>
            <a:off x="6309360" y="1920240"/>
            <a:ext cx="2194560" cy="640080"/>
          </a:xfrm>
          <a:prstGeom prst="rect">
            <a:avLst/>
          </a:prstGeom>
          <a:noFill/>
          <a:ln/>
        </p:spPr>
        <p:txBody>
          <a:bodyPr wrap="square" lIns="0" tIns="0" rIns="0" bIns="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of retrieved papers are from 2023-2024</a:t>
            </a:r>
            <a:endParaRPr lang="en-US" sz="1200" dirty="0"/>
          </a:p>
        </p:txBody>
      </p:sp>
      <p:sp>
        <p:nvSpPr>
          <p:cNvPr id="10" name="Shape 6"/>
          <p:cNvSpPr/>
          <p:nvPr/>
        </p:nvSpPr>
        <p:spPr>
          <a:xfrm>
            <a:off x="6126480" y="2926080"/>
            <a:ext cx="2560320" cy="1554480"/>
          </a:xfrm>
          <a:prstGeom prst="rect">
            <a:avLst/>
          </a:prstGeom>
          <a:solidFill>
            <a:srgbClr val="F1F2F4"/>
          </a:solidFill>
          <a:ln w="12700">
            <a:solidFill>
              <a:srgbClr val="F1F2F4"/>
            </a:solidFill>
            <a:prstDash val="solid"/>
          </a:ln>
        </p:spPr>
      </p:sp>
      <p:sp>
        <p:nvSpPr>
          <p:cNvPr id="11" name="Text 7"/>
          <p:cNvSpPr txBox="1"/>
          <p:nvPr/>
        </p:nvSpPr>
        <p:spPr>
          <a:xfrm>
            <a:off x="6126480" y="3017520"/>
            <a:ext cx="2560320" cy="731520"/>
          </a:xfrm>
          <a:prstGeom prst="rect">
            <a:avLst/>
          </a:prstGeom>
          <a:noFill/>
          <a:ln/>
        </p:spPr>
        <p:txBody>
          <a:bodyPr wrap="square" lIns="0" tIns="0" rIns="0" bIns="0" rtlCol="0" anchor="ctr"/>
          <a:lstStyle/>
          <a:p>
            <a:pPr algn="ctr" indent="0" marL="0">
              <a:buNone/>
            </a:pPr>
            <a:r>
              <a:rPr lang="en-US" sz="3600" b="1" dirty="0">
                <a:solidFill>
                  <a:srgbClr val="D9482B"/>
                </a:solidFill>
                <a:latin typeface="Bookman Old Style" pitchFamily="34" charset="0"/>
                <a:ea typeface="Bookman Old Style" pitchFamily="34" charset="-122"/>
                <a:cs typeface="Bookman Old Style" pitchFamily="34" charset="-120"/>
              </a:rPr>
              <a:t>24.8%</a:t>
            </a:r>
            <a:endParaRPr lang="en-US" sz="3600" dirty="0"/>
          </a:p>
        </p:txBody>
      </p:sp>
      <p:sp>
        <p:nvSpPr>
          <p:cNvPr id="12" name="Text 8"/>
          <p:cNvSpPr txBox="1"/>
          <p:nvPr/>
        </p:nvSpPr>
        <p:spPr>
          <a:xfrm>
            <a:off x="6309360" y="3749040"/>
            <a:ext cx="2194560" cy="640080"/>
          </a:xfrm>
          <a:prstGeom prst="rect">
            <a:avLst/>
          </a:prstGeom>
          <a:noFill/>
          <a:ln/>
        </p:spPr>
        <p:txBody>
          <a:bodyPr wrap="square" lIns="0" tIns="0" rIns="0" bIns="0" rtlCol="0" anchor="ctr"/>
          <a:lstStyle/>
          <a:p>
            <a:pPr algn="ctr" indent="0" marL="0">
              <a:buNone/>
            </a:pPr>
            <a:r>
              <a:rPr lang="en-US" sz="1200" dirty="0">
                <a:solidFill>
                  <a:srgbClr val="23262B"/>
                </a:solidFill>
                <a:latin typeface="Arial" pitchFamily="34" charset="0"/>
                <a:ea typeface="Arial" pitchFamily="34" charset="-122"/>
                <a:cs typeface="Arial" pitchFamily="34" charset="-120"/>
              </a:rPr>
              <a:t>are from 2018-2019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The proposed taxonomy: four pillars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8</a:t>
            </a:r>
            <a:endParaRPr lang="en-US" sz="900" dirty="0"/>
          </a:p>
        </p:txBody>
      </p:sp>
      <p:sp>
        <p:nvSpPr>
          <p:cNvPr id="6" name="Shape 3"/>
          <p:cNvSpPr/>
          <p:nvPr/>
        </p:nvSpPr>
        <p:spPr>
          <a:xfrm>
            <a:off x="457200" y="1188720"/>
            <a:ext cx="1920240" cy="3017520"/>
          </a:xfrm>
          <a:prstGeom prst="rect">
            <a:avLst/>
          </a:prstGeom>
          <a:solidFill>
            <a:srgbClr val="FBE4DC"/>
          </a:solidFill>
          <a:ln w="12700">
            <a:solidFill>
              <a:srgbClr val="FBE4DC"/>
            </a:solidFill>
            <a:prstDash val="solid"/>
          </a:ln>
        </p:spPr>
      </p:sp>
      <p:sp>
        <p:nvSpPr>
          <p:cNvPr id="7" name="Shape 4"/>
          <p:cNvSpPr/>
          <p:nvPr/>
        </p:nvSpPr>
        <p:spPr>
          <a:xfrm>
            <a:off x="640080" y="1371600"/>
            <a:ext cx="457200" cy="457200"/>
          </a:xfrm>
          <a:prstGeom prst="rect">
            <a:avLst/>
          </a:prstGeom>
          <a:solidFill>
            <a:srgbClr val="D9482B"/>
          </a:solidFill>
          <a:ln w="12700">
            <a:solidFill>
              <a:srgbClr val="D9482B"/>
            </a:solidFill>
            <a:prstDash val="solid"/>
          </a:ln>
        </p:spPr>
      </p:sp>
      <p:sp>
        <p:nvSpPr>
          <p:cNvPr id="8" name="Text 5"/>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1</a:t>
            </a:r>
            <a:endParaRPr lang="en-US" sz="1300" dirty="0"/>
          </a:p>
        </p:txBody>
      </p:sp>
      <p:sp>
        <p:nvSpPr>
          <p:cNvPr id="9" name="Text 6"/>
          <p:cNvSpPr txBox="1"/>
          <p:nvPr/>
        </p:nvSpPr>
        <p:spPr>
          <a:xfrm>
            <a:off x="594360" y="1965960"/>
            <a:ext cx="1645920" cy="45720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Architecture</a:t>
            </a:r>
            <a:endParaRPr lang="en-US" sz="1600" dirty="0"/>
          </a:p>
        </p:txBody>
      </p:sp>
      <p:sp>
        <p:nvSpPr>
          <p:cNvPr id="10" name="Text 7"/>
          <p:cNvSpPr txBox="1"/>
          <p:nvPr/>
        </p:nvSpPr>
        <p:spPr>
          <a:xfrm>
            <a:off x="594360" y="2468880"/>
            <a:ext cx="1645920" cy="1645920"/>
          </a:xfrm>
          <a:prstGeom prst="rect">
            <a:avLst/>
          </a:prstGeom>
          <a:noFill/>
          <a:ln/>
        </p:spPr>
        <p:txBody>
          <a:bodyPr wrap="square" lIns="0" tIns="0" rIns="0" bIns="0" rtlCol="0" anchor="t"/>
          <a:lstStyle/>
          <a:p>
            <a:pPr indent="0" marL="0">
              <a:buNone/>
            </a:pPr>
            <a:r>
              <a:rPr lang="en-US" sz="1200" dirty="0">
                <a:solidFill>
                  <a:srgbClr val="23262B"/>
                </a:solidFill>
                <a:latin typeface="Arial" pitchFamily="34" charset="0"/>
                <a:ea typeface="Arial" pitchFamily="34" charset="-122"/>
                <a:cs typeface="Arial" pitchFamily="34" charset="-120"/>
              </a:rPr>
              <a:t>How the system operates, gathers information and decides: pattern, protocol, approach</a:t>
            </a:r>
            <a:endParaRPr lang="en-US" sz="1200" dirty="0"/>
          </a:p>
        </p:txBody>
      </p:sp>
      <p:sp>
        <p:nvSpPr>
          <p:cNvPr id="11" name="Shape 8"/>
          <p:cNvSpPr/>
          <p:nvPr/>
        </p:nvSpPr>
        <p:spPr>
          <a:xfrm>
            <a:off x="2560320" y="1188720"/>
            <a:ext cx="1920240" cy="3017520"/>
          </a:xfrm>
          <a:prstGeom prst="rect">
            <a:avLst/>
          </a:prstGeom>
          <a:solidFill>
            <a:srgbClr val="F1F2F4"/>
          </a:solidFill>
          <a:ln w="12700">
            <a:solidFill>
              <a:srgbClr val="F1F2F4"/>
            </a:solidFill>
            <a:prstDash val="solid"/>
          </a:ln>
        </p:spPr>
      </p:sp>
      <p:sp>
        <p:nvSpPr>
          <p:cNvPr id="12" name="Shape 9"/>
          <p:cNvSpPr/>
          <p:nvPr/>
        </p:nvSpPr>
        <p:spPr>
          <a:xfrm>
            <a:off x="2743200" y="1371600"/>
            <a:ext cx="457200" cy="457200"/>
          </a:xfrm>
          <a:prstGeom prst="rect">
            <a:avLst/>
          </a:prstGeom>
          <a:solidFill>
            <a:srgbClr val="FFC857"/>
          </a:solidFill>
          <a:ln w="12700">
            <a:solidFill>
              <a:srgbClr val="FFC857"/>
            </a:solidFill>
            <a:prstDash val="solid"/>
          </a:ln>
        </p:spPr>
      </p:sp>
      <p:sp>
        <p:nvSpPr>
          <p:cNvPr id="13" name="Text 10"/>
          <p:cNvSpPr txBox="1"/>
          <p:nvPr/>
        </p:nvSpPr>
        <p:spPr>
          <a:xfrm>
            <a:off x="274320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2</a:t>
            </a:r>
            <a:endParaRPr lang="en-US" sz="1300" dirty="0"/>
          </a:p>
        </p:txBody>
      </p:sp>
      <p:sp>
        <p:nvSpPr>
          <p:cNvPr id="14" name="Text 11"/>
          <p:cNvSpPr txBox="1"/>
          <p:nvPr/>
        </p:nvSpPr>
        <p:spPr>
          <a:xfrm>
            <a:off x="2697480" y="1965960"/>
            <a:ext cx="1645920" cy="45720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Strategy</a:t>
            </a:r>
            <a:endParaRPr lang="en-US" sz="1600" dirty="0"/>
          </a:p>
        </p:txBody>
      </p:sp>
      <p:sp>
        <p:nvSpPr>
          <p:cNvPr id="15" name="Text 12"/>
          <p:cNvSpPr txBox="1"/>
          <p:nvPr/>
        </p:nvSpPr>
        <p:spPr>
          <a:xfrm>
            <a:off x="2697480" y="2468880"/>
            <a:ext cx="1645920" cy="1645920"/>
          </a:xfrm>
          <a:prstGeom prst="rect">
            <a:avLst/>
          </a:prstGeom>
          <a:noFill/>
          <a:ln/>
        </p:spPr>
        <p:txBody>
          <a:bodyPr wrap="square" lIns="0" tIns="0" rIns="0" bIns="0" rtlCol="0" anchor="t"/>
          <a:lstStyle/>
          <a:p>
            <a:pPr indent="0" marL="0">
              <a:buNone/>
            </a:pPr>
            <a:r>
              <a:rPr lang="en-US" sz="1200" dirty="0">
                <a:solidFill>
                  <a:srgbClr val="23262B"/>
                </a:solidFill>
                <a:latin typeface="Arial" pitchFamily="34" charset="0"/>
                <a:ea typeface="Arial" pitchFamily="34" charset="-122"/>
                <a:cs typeface="Arial" pitchFamily="34" charset="-120"/>
              </a:rPr>
              <a:t>How offloading behaves over time: operating type, resource allocation, algorithm</a:t>
            </a:r>
            <a:endParaRPr lang="en-US" sz="1200" dirty="0"/>
          </a:p>
        </p:txBody>
      </p:sp>
      <p:sp>
        <p:nvSpPr>
          <p:cNvPr id="16" name="Shape 13"/>
          <p:cNvSpPr/>
          <p:nvPr/>
        </p:nvSpPr>
        <p:spPr>
          <a:xfrm>
            <a:off x="4663440" y="1188720"/>
            <a:ext cx="1920240" cy="3017520"/>
          </a:xfrm>
          <a:prstGeom prst="rect">
            <a:avLst/>
          </a:prstGeom>
          <a:solidFill>
            <a:srgbClr val="FBE4DC"/>
          </a:solidFill>
          <a:ln w="12700">
            <a:solidFill>
              <a:srgbClr val="FBE4DC"/>
            </a:solidFill>
            <a:prstDash val="solid"/>
          </a:ln>
        </p:spPr>
      </p:sp>
      <p:sp>
        <p:nvSpPr>
          <p:cNvPr id="17" name="Shape 14"/>
          <p:cNvSpPr/>
          <p:nvPr/>
        </p:nvSpPr>
        <p:spPr>
          <a:xfrm>
            <a:off x="4846320" y="1371600"/>
            <a:ext cx="457200" cy="457200"/>
          </a:xfrm>
          <a:prstGeom prst="rect">
            <a:avLst/>
          </a:prstGeom>
          <a:solidFill>
            <a:srgbClr val="D9482B"/>
          </a:solidFill>
          <a:ln w="12700">
            <a:solidFill>
              <a:srgbClr val="D9482B"/>
            </a:solidFill>
            <a:prstDash val="solid"/>
          </a:ln>
        </p:spPr>
      </p:sp>
      <p:sp>
        <p:nvSpPr>
          <p:cNvPr id="18" name="Text 15"/>
          <p:cNvSpPr txBox="1"/>
          <p:nvPr/>
        </p:nvSpPr>
        <p:spPr>
          <a:xfrm>
            <a:off x="484632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3</a:t>
            </a:r>
            <a:endParaRPr lang="en-US" sz="1300" dirty="0"/>
          </a:p>
        </p:txBody>
      </p:sp>
      <p:sp>
        <p:nvSpPr>
          <p:cNvPr id="19" name="Text 16"/>
          <p:cNvSpPr txBox="1"/>
          <p:nvPr/>
        </p:nvSpPr>
        <p:spPr>
          <a:xfrm>
            <a:off x="4800600" y="1965960"/>
            <a:ext cx="1645920" cy="45720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Objectives</a:t>
            </a:r>
            <a:endParaRPr lang="en-US" sz="1600" dirty="0"/>
          </a:p>
        </p:txBody>
      </p:sp>
      <p:sp>
        <p:nvSpPr>
          <p:cNvPr id="20" name="Text 17"/>
          <p:cNvSpPr txBox="1"/>
          <p:nvPr/>
        </p:nvSpPr>
        <p:spPr>
          <a:xfrm>
            <a:off x="4800600" y="2468880"/>
            <a:ext cx="1645920" cy="1645920"/>
          </a:xfrm>
          <a:prstGeom prst="rect">
            <a:avLst/>
          </a:prstGeom>
          <a:noFill/>
          <a:ln/>
        </p:spPr>
        <p:txBody>
          <a:bodyPr wrap="square" lIns="0" tIns="0" rIns="0" bIns="0" rtlCol="0" anchor="t"/>
          <a:lstStyle/>
          <a:p>
            <a:pPr indent="0" marL="0">
              <a:buNone/>
            </a:pPr>
            <a:r>
              <a:rPr lang="en-US" sz="1200" dirty="0">
                <a:solidFill>
                  <a:srgbClr val="23262B"/>
                </a:solidFill>
                <a:latin typeface="Arial" pitchFamily="34" charset="0"/>
                <a:ea typeface="Arial" pitchFamily="34" charset="-122"/>
                <a:cs typeface="Arial" pitchFamily="34" charset="-120"/>
              </a:rPr>
              <a:t>What is optimised: performance, energy, cost, reliability</a:t>
            </a:r>
            <a:endParaRPr lang="en-US" sz="1200" dirty="0"/>
          </a:p>
        </p:txBody>
      </p:sp>
      <p:sp>
        <p:nvSpPr>
          <p:cNvPr id="21" name="Shape 18"/>
          <p:cNvSpPr/>
          <p:nvPr/>
        </p:nvSpPr>
        <p:spPr>
          <a:xfrm>
            <a:off x="6766560" y="1188720"/>
            <a:ext cx="1920240" cy="3017520"/>
          </a:xfrm>
          <a:prstGeom prst="rect">
            <a:avLst/>
          </a:prstGeom>
          <a:solidFill>
            <a:srgbClr val="F1F2F4"/>
          </a:solidFill>
          <a:ln w="12700">
            <a:solidFill>
              <a:srgbClr val="F1F2F4"/>
            </a:solidFill>
            <a:prstDash val="solid"/>
          </a:ln>
        </p:spPr>
      </p:sp>
      <p:sp>
        <p:nvSpPr>
          <p:cNvPr id="22" name="Shape 19"/>
          <p:cNvSpPr/>
          <p:nvPr/>
        </p:nvSpPr>
        <p:spPr>
          <a:xfrm>
            <a:off x="6949440" y="1371600"/>
            <a:ext cx="457200" cy="457200"/>
          </a:xfrm>
          <a:prstGeom prst="rect">
            <a:avLst/>
          </a:prstGeom>
          <a:solidFill>
            <a:srgbClr val="FFC857"/>
          </a:solidFill>
          <a:ln w="12700">
            <a:solidFill>
              <a:srgbClr val="FFC857"/>
            </a:solidFill>
            <a:prstDash val="solid"/>
          </a:ln>
        </p:spPr>
      </p:sp>
      <p:sp>
        <p:nvSpPr>
          <p:cNvPr id="23" name="Text 20"/>
          <p:cNvSpPr txBox="1"/>
          <p:nvPr/>
        </p:nvSpPr>
        <p:spPr>
          <a:xfrm>
            <a:off x="6949440" y="1371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4</a:t>
            </a:r>
            <a:endParaRPr lang="en-US" sz="1300" dirty="0"/>
          </a:p>
        </p:txBody>
      </p:sp>
      <p:sp>
        <p:nvSpPr>
          <p:cNvPr id="24" name="Text 21"/>
          <p:cNvSpPr txBox="1"/>
          <p:nvPr/>
        </p:nvSpPr>
        <p:spPr>
          <a:xfrm>
            <a:off x="6903720" y="1965960"/>
            <a:ext cx="1645920" cy="45720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Evaluation</a:t>
            </a:r>
            <a:endParaRPr lang="en-US" sz="1600" dirty="0"/>
          </a:p>
        </p:txBody>
      </p:sp>
      <p:sp>
        <p:nvSpPr>
          <p:cNvPr id="25" name="Text 22"/>
          <p:cNvSpPr txBox="1"/>
          <p:nvPr/>
        </p:nvSpPr>
        <p:spPr>
          <a:xfrm>
            <a:off x="6903720" y="2468880"/>
            <a:ext cx="1645920" cy="1645920"/>
          </a:xfrm>
          <a:prstGeom prst="rect">
            <a:avLst/>
          </a:prstGeom>
          <a:noFill/>
          <a:ln/>
        </p:spPr>
        <p:txBody>
          <a:bodyPr wrap="square" lIns="0" tIns="0" rIns="0" bIns="0" rtlCol="0" anchor="t"/>
          <a:lstStyle/>
          <a:p>
            <a:pPr indent="0" marL="0">
              <a:buNone/>
            </a:pPr>
            <a:r>
              <a:rPr lang="en-US" sz="1200" dirty="0">
                <a:solidFill>
                  <a:srgbClr val="23262B"/>
                </a:solidFill>
                <a:latin typeface="Arial" pitchFamily="34" charset="0"/>
                <a:ea typeface="Arial" pitchFamily="34" charset="-122"/>
                <a:cs typeface="Arial" pitchFamily="34" charset="-120"/>
              </a:rPr>
              <a:t>How it is assessed: environment, metrics, workload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Pillar 1: Architecture</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9</a:t>
            </a:r>
            <a:endParaRPr lang="en-US" sz="900" dirty="0"/>
          </a:p>
        </p:txBody>
      </p:sp>
      <p:sp>
        <p:nvSpPr>
          <p:cNvPr id="6" name="Shape 3"/>
          <p:cNvSpPr/>
          <p:nvPr/>
        </p:nvSpPr>
        <p:spPr>
          <a:xfrm>
            <a:off x="457200" y="1097280"/>
            <a:ext cx="2651760" cy="2468880"/>
          </a:xfrm>
          <a:prstGeom prst="rect">
            <a:avLst/>
          </a:prstGeom>
          <a:solidFill>
            <a:srgbClr val="F1F2F4"/>
          </a:solidFill>
          <a:ln w="12700">
            <a:solidFill>
              <a:srgbClr val="F1F2F4"/>
            </a:solidFill>
            <a:prstDash val="solid"/>
          </a:ln>
        </p:spPr>
      </p:sp>
      <p:sp>
        <p:nvSpPr>
          <p:cNvPr id="7" name="Text 4"/>
          <p:cNvSpPr txBox="1"/>
          <p:nvPr/>
        </p:nvSpPr>
        <p:spPr>
          <a:xfrm>
            <a:off x="640080" y="1207008"/>
            <a:ext cx="2286000" cy="411480"/>
          </a:xfrm>
          <a:prstGeom prst="rect">
            <a:avLst/>
          </a:prstGeom>
          <a:noFill/>
          <a:ln/>
        </p:spPr>
        <p:txBody>
          <a:bodyPr wrap="square" lIns="0" tIns="0" rIns="0" bIns="0" rtlCol="0" anchor="ctr"/>
          <a:lstStyle/>
          <a:p>
            <a:pPr indent="0" marL="0">
              <a:buNone/>
            </a:pPr>
            <a:r>
              <a:rPr lang="en-US" sz="1500" b="1" dirty="0">
                <a:solidFill>
                  <a:srgbClr val="26282E"/>
                </a:solidFill>
                <a:latin typeface="Bookman Old Style" pitchFamily="34" charset="0"/>
                <a:ea typeface="Bookman Old Style" pitchFamily="34" charset="-122"/>
                <a:cs typeface="Bookman Old Style" pitchFamily="34" charset="-120"/>
              </a:rPr>
              <a:t>Pattern</a:t>
            </a:r>
            <a:endParaRPr lang="en-US" sz="1500" dirty="0"/>
          </a:p>
        </p:txBody>
      </p:sp>
      <p:sp>
        <p:nvSpPr>
          <p:cNvPr id="8" name="Text 5"/>
          <p:cNvSpPr txBox="1"/>
          <p:nvPr/>
        </p:nvSpPr>
        <p:spPr>
          <a:xfrm>
            <a:off x="64008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Peer-to-peer</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Hierarchical</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Publish / subscribe</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Client / server</a:t>
            </a:r>
            <a:endParaRPr lang="en-US" sz="1400" dirty="0"/>
          </a:p>
        </p:txBody>
      </p:sp>
      <p:sp>
        <p:nvSpPr>
          <p:cNvPr id="9" name="Shape 6"/>
          <p:cNvSpPr/>
          <p:nvPr/>
        </p:nvSpPr>
        <p:spPr>
          <a:xfrm>
            <a:off x="3246120" y="1097280"/>
            <a:ext cx="2651760" cy="2468880"/>
          </a:xfrm>
          <a:prstGeom prst="rect">
            <a:avLst/>
          </a:prstGeom>
          <a:solidFill>
            <a:srgbClr val="F1F2F4"/>
          </a:solidFill>
          <a:ln w="12700">
            <a:solidFill>
              <a:srgbClr val="F1F2F4"/>
            </a:solidFill>
            <a:prstDash val="solid"/>
          </a:ln>
        </p:spPr>
      </p:sp>
      <p:sp>
        <p:nvSpPr>
          <p:cNvPr id="10" name="Text 7"/>
          <p:cNvSpPr txBox="1"/>
          <p:nvPr/>
        </p:nvSpPr>
        <p:spPr>
          <a:xfrm>
            <a:off x="3429000" y="1207008"/>
            <a:ext cx="2286000" cy="411480"/>
          </a:xfrm>
          <a:prstGeom prst="rect">
            <a:avLst/>
          </a:prstGeom>
          <a:noFill/>
          <a:ln/>
        </p:spPr>
        <p:txBody>
          <a:bodyPr wrap="square" lIns="0" tIns="0" rIns="0" bIns="0" rtlCol="0" anchor="ctr"/>
          <a:lstStyle/>
          <a:p>
            <a:pPr indent="0" marL="0">
              <a:buNone/>
            </a:pPr>
            <a:r>
              <a:rPr lang="en-US" sz="1500" b="1" dirty="0">
                <a:solidFill>
                  <a:srgbClr val="26282E"/>
                </a:solidFill>
                <a:latin typeface="Bookman Old Style" pitchFamily="34" charset="0"/>
                <a:ea typeface="Bookman Old Style" pitchFamily="34" charset="-122"/>
                <a:cs typeface="Bookman Old Style" pitchFamily="34" charset="-120"/>
              </a:rPr>
              <a:t>Protocol</a:t>
            </a:r>
            <a:endParaRPr lang="en-US" sz="1500" dirty="0"/>
          </a:p>
        </p:txBody>
      </p:sp>
      <p:sp>
        <p:nvSpPr>
          <p:cNvPr id="11" name="Text 8"/>
          <p:cNvSpPr txBox="1"/>
          <p:nvPr/>
        </p:nvSpPr>
        <p:spPr>
          <a:xfrm>
            <a:off x="342900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Gossip</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Paxos</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Raft / Zab</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Blockchain</a:t>
            </a:r>
            <a:endParaRPr lang="en-US" sz="1400" dirty="0"/>
          </a:p>
        </p:txBody>
      </p:sp>
      <p:sp>
        <p:nvSpPr>
          <p:cNvPr id="12" name="Shape 9"/>
          <p:cNvSpPr/>
          <p:nvPr/>
        </p:nvSpPr>
        <p:spPr>
          <a:xfrm>
            <a:off x="6035040" y="1097280"/>
            <a:ext cx="2651760" cy="2468880"/>
          </a:xfrm>
          <a:prstGeom prst="rect">
            <a:avLst/>
          </a:prstGeom>
          <a:solidFill>
            <a:srgbClr val="26282E"/>
          </a:solidFill>
          <a:ln w="12700">
            <a:solidFill>
              <a:srgbClr val="26282E"/>
            </a:solidFill>
            <a:prstDash val="solid"/>
          </a:ln>
        </p:spPr>
      </p:sp>
      <p:sp>
        <p:nvSpPr>
          <p:cNvPr id="13" name="Text 10"/>
          <p:cNvSpPr txBox="1"/>
          <p:nvPr/>
        </p:nvSpPr>
        <p:spPr>
          <a:xfrm>
            <a:off x="6217920" y="1207008"/>
            <a:ext cx="2286000" cy="411480"/>
          </a:xfrm>
          <a:prstGeom prst="rect">
            <a:avLst/>
          </a:prstGeom>
          <a:noFill/>
          <a:ln/>
        </p:spPr>
        <p:txBody>
          <a:bodyPr wrap="square" lIns="0" tIns="0" rIns="0" bIns="0" rtlCol="0" anchor="ctr"/>
          <a:lstStyle/>
          <a:p>
            <a:pPr indent="0" marL="0">
              <a:buNone/>
            </a:pPr>
            <a:r>
              <a:rPr lang="en-US" sz="1500" b="1" dirty="0">
                <a:solidFill>
                  <a:srgbClr val="FFC857"/>
                </a:solidFill>
                <a:latin typeface="Bookman Old Style" pitchFamily="34" charset="0"/>
                <a:ea typeface="Bookman Old Style" pitchFamily="34" charset="-122"/>
                <a:cs typeface="Bookman Old Style" pitchFamily="34" charset="-120"/>
              </a:rPr>
              <a:t>Approach</a:t>
            </a:r>
            <a:endParaRPr lang="en-US" sz="1500" dirty="0"/>
          </a:p>
        </p:txBody>
      </p:sp>
      <p:sp>
        <p:nvSpPr>
          <p:cNvPr id="14" name="Text 11"/>
          <p:cNvSpPr txBox="1"/>
          <p:nvPr/>
        </p:nvSpPr>
        <p:spPr>
          <a:xfrm>
            <a:off x="621792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Full: the whole task moves</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Partial: only critical parts move</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Hybrid: supports both</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Pillar 2: Strategy</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10</a:t>
            </a:r>
            <a:endParaRPr lang="en-US" sz="900" dirty="0"/>
          </a:p>
        </p:txBody>
      </p:sp>
      <p:sp>
        <p:nvSpPr>
          <p:cNvPr id="6" name="Shape 3"/>
          <p:cNvSpPr/>
          <p:nvPr/>
        </p:nvSpPr>
        <p:spPr>
          <a:xfrm>
            <a:off x="457200" y="1097280"/>
            <a:ext cx="2651760" cy="2468880"/>
          </a:xfrm>
          <a:prstGeom prst="rect">
            <a:avLst/>
          </a:prstGeom>
          <a:solidFill>
            <a:srgbClr val="F1F2F4"/>
          </a:solidFill>
          <a:ln w="12700">
            <a:solidFill>
              <a:srgbClr val="F1F2F4"/>
            </a:solidFill>
            <a:prstDash val="solid"/>
          </a:ln>
        </p:spPr>
      </p:sp>
      <p:sp>
        <p:nvSpPr>
          <p:cNvPr id="7" name="Text 4"/>
          <p:cNvSpPr txBox="1"/>
          <p:nvPr/>
        </p:nvSpPr>
        <p:spPr>
          <a:xfrm>
            <a:off x="640080" y="1207008"/>
            <a:ext cx="2286000" cy="411480"/>
          </a:xfrm>
          <a:prstGeom prst="rect">
            <a:avLst/>
          </a:prstGeom>
          <a:noFill/>
          <a:ln/>
        </p:spPr>
        <p:txBody>
          <a:bodyPr wrap="square" lIns="0" tIns="0" rIns="0" bIns="0" rtlCol="0" anchor="ctr"/>
          <a:lstStyle/>
          <a:p>
            <a:pPr indent="0" marL="0">
              <a:buNone/>
            </a:pPr>
            <a:r>
              <a:rPr lang="en-US" sz="1500" b="1" dirty="0">
                <a:solidFill>
                  <a:srgbClr val="26282E"/>
                </a:solidFill>
                <a:latin typeface="Bookman Old Style" pitchFamily="34" charset="0"/>
                <a:ea typeface="Bookman Old Style" pitchFamily="34" charset="-122"/>
                <a:cs typeface="Bookman Old Style" pitchFamily="34" charset="-120"/>
              </a:rPr>
              <a:t>Operating type</a:t>
            </a:r>
            <a:endParaRPr lang="en-US" sz="1500" dirty="0"/>
          </a:p>
        </p:txBody>
      </p:sp>
      <p:sp>
        <p:nvSpPr>
          <p:cNvPr id="8" name="Text 5"/>
          <p:cNvSpPr txBox="1"/>
          <p:nvPr/>
        </p:nvSpPr>
        <p:spPr>
          <a:xfrm>
            <a:off x="64008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Reactive: respond to events</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Proactive: predict, then act</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Hybrid: both</a:t>
            </a:r>
            <a:endParaRPr lang="en-US" sz="1400" dirty="0"/>
          </a:p>
        </p:txBody>
      </p:sp>
      <p:sp>
        <p:nvSpPr>
          <p:cNvPr id="9" name="Shape 6"/>
          <p:cNvSpPr/>
          <p:nvPr/>
        </p:nvSpPr>
        <p:spPr>
          <a:xfrm>
            <a:off x="3246120" y="1097280"/>
            <a:ext cx="2651760" cy="2468880"/>
          </a:xfrm>
          <a:prstGeom prst="rect">
            <a:avLst/>
          </a:prstGeom>
          <a:solidFill>
            <a:srgbClr val="F1F2F4"/>
          </a:solidFill>
          <a:ln w="12700">
            <a:solidFill>
              <a:srgbClr val="F1F2F4"/>
            </a:solidFill>
            <a:prstDash val="solid"/>
          </a:ln>
        </p:spPr>
      </p:sp>
      <p:sp>
        <p:nvSpPr>
          <p:cNvPr id="10" name="Text 7"/>
          <p:cNvSpPr txBox="1"/>
          <p:nvPr/>
        </p:nvSpPr>
        <p:spPr>
          <a:xfrm>
            <a:off x="3429000" y="1207008"/>
            <a:ext cx="2286000" cy="411480"/>
          </a:xfrm>
          <a:prstGeom prst="rect">
            <a:avLst/>
          </a:prstGeom>
          <a:noFill/>
          <a:ln/>
        </p:spPr>
        <p:txBody>
          <a:bodyPr wrap="square" lIns="0" tIns="0" rIns="0" bIns="0" rtlCol="0" anchor="ctr"/>
          <a:lstStyle/>
          <a:p>
            <a:pPr indent="0" marL="0">
              <a:buNone/>
            </a:pPr>
            <a:r>
              <a:rPr lang="en-US" sz="1500" b="1" dirty="0">
                <a:solidFill>
                  <a:srgbClr val="26282E"/>
                </a:solidFill>
                <a:latin typeface="Bookman Old Style" pitchFamily="34" charset="0"/>
                <a:ea typeface="Bookman Old Style" pitchFamily="34" charset="-122"/>
                <a:cs typeface="Bookman Old Style" pitchFamily="34" charset="-120"/>
              </a:rPr>
              <a:t>Resource allocation</a:t>
            </a:r>
            <a:endParaRPr lang="en-US" sz="1500" dirty="0"/>
          </a:p>
        </p:txBody>
      </p:sp>
      <p:sp>
        <p:nvSpPr>
          <p:cNvPr id="11" name="Text 8"/>
          <p:cNvSpPr txBox="1"/>
          <p:nvPr/>
        </p:nvSpPr>
        <p:spPr>
          <a:xfrm>
            <a:off x="342900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Static: fixed before execution</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Dynamic: adjusted at runtime from monitoring</a:t>
            </a:r>
            <a:endParaRPr lang="en-US" sz="1400" dirty="0"/>
          </a:p>
        </p:txBody>
      </p:sp>
      <p:sp>
        <p:nvSpPr>
          <p:cNvPr id="12" name="Shape 9"/>
          <p:cNvSpPr/>
          <p:nvPr/>
        </p:nvSpPr>
        <p:spPr>
          <a:xfrm>
            <a:off x="6035040" y="1097280"/>
            <a:ext cx="2651760" cy="2468880"/>
          </a:xfrm>
          <a:prstGeom prst="rect">
            <a:avLst/>
          </a:prstGeom>
          <a:solidFill>
            <a:srgbClr val="26282E"/>
          </a:solidFill>
          <a:ln w="12700">
            <a:solidFill>
              <a:srgbClr val="26282E"/>
            </a:solidFill>
            <a:prstDash val="solid"/>
          </a:ln>
        </p:spPr>
      </p:sp>
      <p:sp>
        <p:nvSpPr>
          <p:cNvPr id="13" name="Text 10"/>
          <p:cNvSpPr txBox="1"/>
          <p:nvPr/>
        </p:nvSpPr>
        <p:spPr>
          <a:xfrm>
            <a:off x="6217920" y="1207008"/>
            <a:ext cx="2286000" cy="411480"/>
          </a:xfrm>
          <a:prstGeom prst="rect">
            <a:avLst/>
          </a:prstGeom>
          <a:noFill/>
          <a:ln/>
        </p:spPr>
        <p:txBody>
          <a:bodyPr wrap="square" lIns="0" tIns="0" rIns="0" bIns="0" rtlCol="0" anchor="ctr"/>
          <a:lstStyle/>
          <a:p>
            <a:pPr indent="0" marL="0">
              <a:buNone/>
            </a:pPr>
            <a:r>
              <a:rPr lang="en-US" sz="1500" b="1" dirty="0">
                <a:solidFill>
                  <a:srgbClr val="FFC857"/>
                </a:solidFill>
                <a:latin typeface="Bookman Old Style" pitchFamily="34" charset="0"/>
                <a:ea typeface="Bookman Old Style" pitchFamily="34" charset="-122"/>
                <a:cs typeface="Bookman Old Style" pitchFamily="34" charset="-120"/>
              </a:rPr>
              <a:t>Algorithm</a:t>
            </a:r>
            <a:endParaRPr lang="en-US" sz="1500" dirty="0"/>
          </a:p>
        </p:txBody>
      </p:sp>
      <p:sp>
        <p:nvSpPr>
          <p:cNvPr id="14" name="Text 11"/>
          <p:cNvSpPr txBox="1"/>
          <p:nvPr/>
        </p:nvSpPr>
        <p:spPr>
          <a:xfrm>
            <a:off x="621792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Rule-based: predefined, transparent, fast</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Optimised: seeks the best outcome, heavier compute</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Intelligent: machine learning, adaptive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How solutions are classified</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11</a:t>
            </a:r>
            <a:endParaRPr lang="en-US" sz="900" dirty="0"/>
          </a:p>
        </p:txBody>
      </p:sp>
      <p:sp>
        <p:nvSpPr>
          <p:cNvPr id="6" name="Text 3"/>
          <p:cNvSpPr txBox="1"/>
          <p:nvPr/>
        </p:nvSpPr>
        <p:spPr>
          <a:xfrm>
            <a:off x="2103120" y="1051560"/>
            <a:ext cx="2103120" cy="411480"/>
          </a:xfrm>
          <a:prstGeom prst="rect">
            <a:avLst/>
          </a:prstGeom>
          <a:noFill/>
          <a:ln/>
        </p:spPr>
        <p:txBody>
          <a:bodyPr wrap="square" lIns="0" tIns="0" rIns="0" bIns="0" rtlCol="0" anchor="ctr"/>
          <a:lstStyle/>
          <a:p>
            <a:pPr algn="ctr" indent="0" marL="0">
              <a:buNone/>
            </a:pPr>
            <a:r>
              <a:rPr lang="en-US" sz="1500" b="1" dirty="0">
                <a:solidFill>
                  <a:srgbClr val="26282E"/>
                </a:solidFill>
                <a:latin typeface="Bookman Old Style" pitchFamily="34" charset="0"/>
                <a:ea typeface="Bookman Old Style" pitchFamily="34" charset="-122"/>
                <a:cs typeface="Bookman Old Style" pitchFamily="34" charset="-120"/>
              </a:rPr>
              <a:t>Rule-based</a:t>
            </a:r>
            <a:endParaRPr lang="en-US" sz="1500" dirty="0"/>
          </a:p>
        </p:txBody>
      </p:sp>
      <p:sp>
        <p:nvSpPr>
          <p:cNvPr id="7" name="Text 4"/>
          <p:cNvSpPr txBox="1"/>
          <p:nvPr/>
        </p:nvSpPr>
        <p:spPr>
          <a:xfrm>
            <a:off x="4297680" y="1051560"/>
            <a:ext cx="2103120" cy="411480"/>
          </a:xfrm>
          <a:prstGeom prst="rect">
            <a:avLst/>
          </a:prstGeom>
          <a:noFill/>
          <a:ln/>
        </p:spPr>
        <p:txBody>
          <a:bodyPr wrap="square" lIns="0" tIns="0" rIns="0" bIns="0" rtlCol="0" anchor="ctr"/>
          <a:lstStyle/>
          <a:p>
            <a:pPr algn="ctr" indent="0" marL="0">
              <a:buNone/>
            </a:pPr>
            <a:r>
              <a:rPr lang="en-US" sz="1500" b="1" dirty="0">
                <a:solidFill>
                  <a:srgbClr val="26282E"/>
                </a:solidFill>
                <a:latin typeface="Bookman Old Style" pitchFamily="34" charset="0"/>
                <a:ea typeface="Bookman Old Style" pitchFamily="34" charset="-122"/>
                <a:cs typeface="Bookman Old Style" pitchFamily="34" charset="-120"/>
              </a:rPr>
              <a:t>Optimized</a:t>
            </a:r>
            <a:endParaRPr lang="en-US" sz="1500" dirty="0"/>
          </a:p>
        </p:txBody>
      </p:sp>
      <p:sp>
        <p:nvSpPr>
          <p:cNvPr id="8" name="Text 5"/>
          <p:cNvSpPr txBox="1"/>
          <p:nvPr/>
        </p:nvSpPr>
        <p:spPr>
          <a:xfrm>
            <a:off x="6492240" y="1051560"/>
            <a:ext cx="2103120" cy="411480"/>
          </a:xfrm>
          <a:prstGeom prst="rect">
            <a:avLst/>
          </a:prstGeom>
          <a:noFill/>
          <a:ln/>
        </p:spPr>
        <p:txBody>
          <a:bodyPr wrap="square" lIns="0" tIns="0" rIns="0" bIns="0" rtlCol="0" anchor="ctr"/>
          <a:lstStyle/>
          <a:p>
            <a:pPr algn="ctr" indent="0" marL="0">
              <a:buNone/>
            </a:pPr>
            <a:r>
              <a:rPr lang="en-US" sz="1500" b="1" dirty="0">
                <a:solidFill>
                  <a:srgbClr val="26282E"/>
                </a:solidFill>
                <a:latin typeface="Bookman Old Style" pitchFamily="34" charset="0"/>
                <a:ea typeface="Bookman Old Style" pitchFamily="34" charset="-122"/>
                <a:cs typeface="Bookman Old Style" pitchFamily="34" charset="-120"/>
              </a:rPr>
              <a:t>Intelligent</a:t>
            </a:r>
            <a:endParaRPr lang="en-US" sz="1500" dirty="0"/>
          </a:p>
        </p:txBody>
      </p:sp>
      <p:sp>
        <p:nvSpPr>
          <p:cNvPr id="9" name="Shape 6"/>
          <p:cNvSpPr/>
          <p:nvPr/>
        </p:nvSpPr>
        <p:spPr>
          <a:xfrm>
            <a:off x="457200" y="1554480"/>
            <a:ext cx="1508760" cy="1371600"/>
          </a:xfrm>
          <a:prstGeom prst="rect">
            <a:avLst/>
          </a:prstGeom>
          <a:solidFill>
            <a:srgbClr val="26282E"/>
          </a:solidFill>
          <a:ln w="12700">
            <a:solidFill>
              <a:srgbClr val="26282E"/>
            </a:solidFill>
            <a:prstDash val="solid"/>
          </a:ln>
        </p:spPr>
      </p:sp>
      <p:sp>
        <p:nvSpPr>
          <p:cNvPr id="10" name="Text 7"/>
          <p:cNvSpPr txBox="1"/>
          <p:nvPr/>
        </p:nvSpPr>
        <p:spPr>
          <a:xfrm>
            <a:off x="457200" y="1737360"/>
            <a:ext cx="1508760" cy="457200"/>
          </a:xfrm>
          <a:prstGeom prst="rect">
            <a:avLst/>
          </a:prstGeom>
          <a:noFill/>
          <a:ln/>
        </p:spPr>
        <p:txBody>
          <a:bodyPr wrap="square" lIns="0" tIns="0" rIns="0" bIns="0" rtlCol="0" anchor="ctr"/>
          <a:lstStyle/>
          <a:p>
            <a:pPr algn="ctr" indent="0" marL="0">
              <a:buNone/>
            </a:pPr>
            <a:r>
              <a:rPr lang="en-US" sz="1500" b="1" dirty="0">
                <a:solidFill>
                  <a:srgbClr val="FFC857"/>
                </a:solidFill>
                <a:latin typeface="Bookman Old Style" pitchFamily="34" charset="0"/>
                <a:ea typeface="Bookman Old Style" pitchFamily="34" charset="-122"/>
                <a:cs typeface="Bookman Old Style" pitchFamily="34" charset="-120"/>
              </a:rPr>
              <a:t>Horizontal</a:t>
            </a:r>
            <a:endParaRPr lang="en-US" sz="1500" dirty="0"/>
          </a:p>
        </p:txBody>
      </p:sp>
      <p:sp>
        <p:nvSpPr>
          <p:cNvPr id="11" name="Text 8"/>
          <p:cNvSpPr txBox="1"/>
          <p:nvPr/>
        </p:nvSpPr>
        <p:spPr>
          <a:xfrm>
            <a:off x="548640" y="2240280"/>
            <a:ext cx="1325880" cy="594360"/>
          </a:xfrm>
          <a:prstGeom prst="rect">
            <a:avLst/>
          </a:prstGeom>
          <a:noFill/>
          <a:ln/>
        </p:spPr>
        <p:txBody>
          <a:bodyPr wrap="square" lIns="0" tIns="0" rIns="0" bIns="0" rtlCol="0" anchor="t"/>
          <a:lstStyle/>
          <a:p>
            <a:pPr algn="ctr" indent="0" marL="0">
              <a:buNone/>
            </a:pPr>
            <a:r>
              <a:rPr lang="en-US" sz="1050" dirty="0">
                <a:solidFill>
                  <a:srgbClr val="FFFFFF"/>
                </a:solidFill>
                <a:latin typeface="Arial" pitchFamily="34" charset="0"/>
                <a:ea typeface="Arial" pitchFamily="34" charset="-122"/>
                <a:cs typeface="Arial" pitchFamily="34" charset="-120"/>
              </a:rPr>
              <a:t>same layer, e.g. edge to edge</a:t>
            </a:r>
            <a:endParaRPr lang="en-US" sz="1050" dirty="0"/>
          </a:p>
        </p:txBody>
      </p:sp>
      <p:sp>
        <p:nvSpPr>
          <p:cNvPr id="12" name="Shape 9"/>
          <p:cNvSpPr/>
          <p:nvPr/>
        </p:nvSpPr>
        <p:spPr>
          <a:xfrm>
            <a:off x="2103120" y="1554480"/>
            <a:ext cx="2103120" cy="1371600"/>
          </a:xfrm>
          <a:prstGeom prst="rect">
            <a:avLst/>
          </a:prstGeom>
          <a:solidFill>
            <a:srgbClr val="FBE4DC"/>
          </a:solidFill>
          <a:ln w="12700">
            <a:solidFill>
              <a:srgbClr val="FBE4DC"/>
            </a:solidFill>
            <a:prstDash val="solid"/>
          </a:ln>
        </p:spPr>
      </p:sp>
      <p:sp>
        <p:nvSpPr>
          <p:cNvPr id="13" name="Text 10"/>
          <p:cNvSpPr txBox="1"/>
          <p:nvPr/>
        </p:nvSpPr>
        <p:spPr>
          <a:xfrm>
            <a:off x="2240280" y="1645920"/>
            <a:ext cx="1828800" cy="1188720"/>
          </a:xfrm>
          <a:prstGeom prst="rect">
            <a:avLst/>
          </a:prstGeom>
          <a:noFill/>
          <a:ln/>
        </p:spPr>
        <p:txBody>
          <a:bodyPr wrap="square" lIns="0" tIns="0" rIns="0" bIns="0" rtlCol="0" anchor="ctr"/>
          <a:lstStyle/>
          <a:p>
            <a:pPr algn="l" indent="0" marL="0">
              <a:buNone/>
            </a:pPr>
            <a:r>
              <a:rPr lang="en-US" sz="1250" dirty="0">
                <a:solidFill>
                  <a:srgbClr val="23262B"/>
                </a:solidFill>
                <a:latin typeface="Arial" pitchFamily="34" charset="0"/>
                <a:ea typeface="Arial" pitchFamily="34" charset="-122"/>
                <a:cs typeface="Arial" pitchFamily="34" charset="-120"/>
              </a:rPr>
              <a:t>Thresholds, game theory, SDN, load balancing</a:t>
            </a:r>
            <a:endParaRPr lang="en-US" sz="1250" dirty="0"/>
          </a:p>
        </p:txBody>
      </p:sp>
      <p:sp>
        <p:nvSpPr>
          <p:cNvPr id="14" name="Shape 11"/>
          <p:cNvSpPr/>
          <p:nvPr/>
        </p:nvSpPr>
        <p:spPr>
          <a:xfrm>
            <a:off x="4297680" y="1554480"/>
            <a:ext cx="2103120" cy="1371600"/>
          </a:xfrm>
          <a:prstGeom prst="rect">
            <a:avLst/>
          </a:prstGeom>
          <a:solidFill>
            <a:srgbClr val="FBE4DC"/>
          </a:solidFill>
          <a:ln w="12700">
            <a:solidFill>
              <a:srgbClr val="FBE4DC"/>
            </a:solidFill>
            <a:prstDash val="solid"/>
          </a:ln>
        </p:spPr>
      </p:sp>
      <p:sp>
        <p:nvSpPr>
          <p:cNvPr id="15" name="Text 12"/>
          <p:cNvSpPr txBox="1"/>
          <p:nvPr/>
        </p:nvSpPr>
        <p:spPr>
          <a:xfrm>
            <a:off x="4434840" y="1645920"/>
            <a:ext cx="1828800" cy="1188720"/>
          </a:xfrm>
          <a:prstGeom prst="rect">
            <a:avLst/>
          </a:prstGeom>
          <a:noFill/>
          <a:ln/>
        </p:spPr>
        <p:txBody>
          <a:bodyPr wrap="square" lIns="0" tIns="0" rIns="0" bIns="0" rtlCol="0" anchor="ctr"/>
          <a:lstStyle/>
          <a:p>
            <a:pPr algn="l" indent="0" marL="0">
              <a:buNone/>
            </a:pPr>
            <a:r>
              <a:rPr lang="en-US" sz="1250" dirty="0">
                <a:solidFill>
                  <a:srgbClr val="23262B"/>
                </a:solidFill>
                <a:latin typeface="Arial" pitchFamily="34" charset="0"/>
                <a:ea typeface="Arial" pitchFamily="34" charset="-122"/>
                <a:cs typeface="Arial" pitchFamily="34" charset="-120"/>
              </a:rPr>
              <a:t>Game-theoretic optimisation, matching and coalitions</a:t>
            </a:r>
            <a:endParaRPr lang="en-US" sz="1250" dirty="0"/>
          </a:p>
        </p:txBody>
      </p:sp>
      <p:sp>
        <p:nvSpPr>
          <p:cNvPr id="16" name="Shape 13"/>
          <p:cNvSpPr/>
          <p:nvPr/>
        </p:nvSpPr>
        <p:spPr>
          <a:xfrm>
            <a:off x="6492240" y="1554480"/>
            <a:ext cx="2103120" cy="1371600"/>
          </a:xfrm>
          <a:prstGeom prst="rect">
            <a:avLst/>
          </a:prstGeom>
          <a:solidFill>
            <a:srgbClr val="FBE4DC"/>
          </a:solidFill>
          <a:ln w="12700">
            <a:solidFill>
              <a:srgbClr val="FBE4DC"/>
            </a:solidFill>
            <a:prstDash val="solid"/>
          </a:ln>
        </p:spPr>
      </p:sp>
      <p:sp>
        <p:nvSpPr>
          <p:cNvPr id="17" name="Text 14"/>
          <p:cNvSpPr txBox="1"/>
          <p:nvPr/>
        </p:nvSpPr>
        <p:spPr>
          <a:xfrm>
            <a:off x="6629400" y="1645920"/>
            <a:ext cx="1828800" cy="1188720"/>
          </a:xfrm>
          <a:prstGeom prst="rect">
            <a:avLst/>
          </a:prstGeom>
          <a:noFill/>
          <a:ln/>
        </p:spPr>
        <p:txBody>
          <a:bodyPr wrap="square" lIns="0" tIns="0" rIns="0" bIns="0" rtlCol="0" anchor="ctr"/>
          <a:lstStyle/>
          <a:p>
            <a:pPr algn="l" indent="0" marL="0">
              <a:buNone/>
            </a:pPr>
            <a:r>
              <a:rPr lang="en-US" sz="1250" dirty="0">
                <a:solidFill>
                  <a:srgbClr val="23262B"/>
                </a:solidFill>
                <a:latin typeface="Arial" pitchFamily="34" charset="0"/>
                <a:ea typeface="Arial" pitchFamily="34" charset="-122"/>
                <a:cs typeface="Arial" pitchFamily="34" charset="-120"/>
              </a:rPr>
              <a:t>Machine learning, deep RL, neural networks</a:t>
            </a:r>
            <a:endParaRPr lang="en-US" sz="1250" dirty="0"/>
          </a:p>
        </p:txBody>
      </p:sp>
      <p:sp>
        <p:nvSpPr>
          <p:cNvPr id="18" name="Shape 15"/>
          <p:cNvSpPr/>
          <p:nvPr/>
        </p:nvSpPr>
        <p:spPr>
          <a:xfrm>
            <a:off x="457200" y="3108960"/>
            <a:ext cx="1508760" cy="1371600"/>
          </a:xfrm>
          <a:prstGeom prst="rect">
            <a:avLst/>
          </a:prstGeom>
          <a:solidFill>
            <a:srgbClr val="26282E"/>
          </a:solidFill>
          <a:ln w="12700">
            <a:solidFill>
              <a:srgbClr val="26282E"/>
            </a:solidFill>
            <a:prstDash val="solid"/>
          </a:ln>
        </p:spPr>
      </p:sp>
      <p:sp>
        <p:nvSpPr>
          <p:cNvPr id="19" name="Text 16"/>
          <p:cNvSpPr txBox="1"/>
          <p:nvPr/>
        </p:nvSpPr>
        <p:spPr>
          <a:xfrm>
            <a:off x="457200" y="3291840"/>
            <a:ext cx="1508760" cy="457200"/>
          </a:xfrm>
          <a:prstGeom prst="rect">
            <a:avLst/>
          </a:prstGeom>
          <a:noFill/>
          <a:ln/>
        </p:spPr>
        <p:txBody>
          <a:bodyPr wrap="square" lIns="0" tIns="0" rIns="0" bIns="0" rtlCol="0" anchor="ctr"/>
          <a:lstStyle/>
          <a:p>
            <a:pPr algn="ctr" indent="0" marL="0">
              <a:buNone/>
            </a:pPr>
            <a:r>
              <a:rPr lang="en-US" sz="1500" b="1" dirty="0">
                <a:solidFill>
                  <a:srgbClr val="FFC857"/>
                </a:solidFill>
                <a:latin typeface="Bookman Old Style" pitchFamily="34" charset="0"/>
                <a:ea typeface="Bookman Old Style" pitchFamily="34" charset="-122"/>
                <a:cs typeface="Bookman Old Style" pitchFamily="34" charset="-120"/>
              </a:rPr>
              <a:t>Vertical</a:t>
            </a:r>
            <a:endParaRPr lang="en-US" sz="1500" dirty="0"/>
          </a:p>
        </p:txBody>
      </p:sp>
      <p:sp>
        <p:nvSpPr>
          <p:cNvPr id="20" name="Text 17"/>
          <p:cNvSpPr txBox="1"/>
          <p:nvPr/>
        </p:nvSpPr>
        <p:spPr>
          <a:xfrm>
            <a:off x="548640" y="3794760"/>
            <a:ext cx="1325880" cy="594360"/>
          </a:xfrm>
          <a:prstGeom prst="rect">
            <a:avLst/>
          </a:prstGeom>
          <a:noFill/>
          <a:ln/>
        </p:spPr>
        <p:txBody>
          <a:bodyPr wrap="square" lIns="0" tIns="0" rIns="0" bIns="0" rtlCol="0" anchor="t"/>
          <a:lstStyle/>
          <a:p>
            <a:pPr algn="ctr" indent="0" marL="0">
              <a:buNone/>
            </a:pPr>
            <a:r>
              <a:rPr lang="en-US" sz="1050" dirty="0">
                <a:solidFill>
                  <a:srgbClr val="FFFFFF"/>
                </a:solidFill>
                <a:latin typeface="Arial" pitchFamily="34" charset="0"/>
                <a:ea typeface="Arial" pitchFamily="34" charset="-122"/>
                <a:cs typeface="Arial" pitchFamily="34" charset="-120"/>
              </a:rPr>
              <a:t>across layers, e.g. edge to cloud</a:t>
            </a:r>
            <a:endParaRPr lang="en-US" sz="1050" dirty="0"/>
          </a:p>
        </p:txBody>
      </p:sp>
      <p:sp>
        <p:nvSpPr>
          <p:cNvPr id="21" name="Shape 18"/>
          <p:cNvSpPr/>
          <p:nvPr/>
        </p:nvSpPr>
        <p:spPr>
          <a:xfrm>
            <a:off x="2103120" y="3108960"/>
            <a:ext cx="6492240" cy="1371600"/>
          </a:xfrm>
          <a:prstGeom prst="rect">
            <a:avLst/>
          </a:prstGeom>
          <a:solidFill>
            <a:srgbClr val="F1F2F4"/>
          </a:solidFill>
          <a:ln w="12700">
            <a:solidFill>
              <a:srgbClr val="F1F2F4"/>
            </a:solidFill>
            <a:prstDash val="solid"/>
          </a:ln>
        </p:spPr>
      </p:sp>
      <p:sp>
        <p:nvSpPr>
          <p:cNvPr id="22" name="Text 19"/>
          <p:cNvSpPr txBox="1"/>
          <p:nvPr/>
        </p:nvSpPr>
        <p:spPr>
          <a:xfrm>
            <a:off x="2331720" y="3200400"/>
            <a:ext cx="6035040" cy="1188720"/>
          </a:xfrm>
          <a:prstGeom prst="rect">
            <a:avLst/>
          </a:prstGeom>
          <a:noFill/>
          <a:ln/>
        </p:spPr>
        <p:txBody>
          <a:bodyPr wrap="square" lIns="0" tIns="0" rIns="0" bIns="0" rtlCol="0" anchor="ctr"/>
          <a:lstStyle/>
          <a:p>
            <a:pPr algn="l" indent="0" marL="0">
              <a:buNone/>
            </a:pPr>
            <a:r>
              <a:rPr lang="en-US" sz="1350" dirty="0">
                <a:solidFill>
                  <a:srgbClr val="23262B"/>
                </a:solidFill>
                <a:latin typeface="Arial" pitchFamily="34" charset="0"/>
                <a:ea typeface="Arial" pitchFamily="34" charset="-122"/>
                <a:cs typeface="Arial" pitchFamily="34" charset="-120"/>
              </a:rPr>
              <a:t>The same three implementation types (rule-based, optimised, intelligent) apply to offloading between different layers: edge, fog and cloud.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Horizontal rule-based solutions: examples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2103120"/>
                <a:gridCol w="438912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Technique</a:t>
                      </a:r>
                      <a:endParaRPr lang="en-US" sz="12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2628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Example work</a:t>
                      </a:r>
                      <a:endParaRPr lang="en-US" sz="12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2628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Key idea</a:t>
                      </a:r>
                      <a:endParaRPr lang="en-US" sz="12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26282E"/>
                    </a:solidFill>
                  </a:tcPr>
                </a:tc>
              </a:tr>
              <a:tr h="621792">
                <a:tc>
                  <a:txBody>
                    <a:bodyPr/>
                    <a:lstStyle/>
                    <a:p>
                      <a:pPr indent="0" marL="0">
                        <a:buNone/>
                      </a:pPr>
                      <a:r>
                        <a:rPr lang="en-US" sz="1100" b="1" dirty="0">
                          <a:solidFill>
                            <a:srgbClr val="23262B"/>
                          </a:solidFill>
                          <a:latin typeface="Arial" pitchFamily="34" charset="0"/>
                          <a:ea typeface="Arial" pitchFamily="34" charset="-122"/>
                          <a:cs typeface="Arial" pitchFamily="34" charset="-120"/>
                        </a:rPr>
                        <a:t>Threshold-based</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Qin et al.</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Dynamic threshold from processing delay and server utilisation; reactive, decided on the device</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21792">
                <a:tc>
                  <a:txBody>
                    <a:bodyPr/>
                    <a:lstStyle/>
                    <a:p>
                      <a:pPr indent="0" marL="0">
                        <a:buNone/>
                      </a:pPr>
                      <a:r>
                        <a:rPr lang="en-US" sz="1100" b="1" dirty="0">
                          <a:solidFill>
                            <a:srgbClr val="23262B"/>
                          </a:solidFill>
                          <a:latin typeface="Arial" pitchFamily="34" charset="0"/>
                          <a:ea typeface="Arial" pitchFamily="34" charset="-122"/>
                          <a:cs typeface="Arial" pitchFamily="34" charset="-120"/>
                        </a:rPr>
                        <a:t>Game theory</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Zhou et al.; Yang et al.</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D2D offloading with Nash equilibrium; potential-game algorithm minimising overhead</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21792">
                <a:tc>
                  <a:txBody>
                    <a:bodyPr/>
                    <a:lstStyle/>
                    <a:p>
                      <a:pPr indent="0" marL="0">
                        <a:buNone/>
                      </a:pPr>
                      <a:r>
                        <a:rPr lang="en-US" sz="1100" b="1" dirty="0">
                          <a:solidFill>
                            <a:srgbClr val="23262B"/>
                          </a:solidFill>
                          <a:latin typeface="Arial" pitchFamily="34" charset="0"/>
                          <a:ea typeface="Arial" pitchFamily="34" charset="-122"/>
                          <a:cs typeface="Arial" pitchFamily="34" charset="-120"/>
                        </a:rPr>
                        <a:t>Coalition / federation</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Chen et al.</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Cloud federation with coalition-based resource allocation, gossip protocol, delay and cost focus</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21792">
                <a:tc>
                  <a:txBody>
                    <a:bodyPr/>
                    <a:lstStyle/>
                    <a:p>
                      <a:pPr indent="0" marL="0">
                        <a:buNone/>
                      </a:pPr>
                      <a:r>
                        <a:rPr lang="en-US" sz="1100" b="1" dirty="0">
                          <a:solidFill>
                            <a:srgbClr val="23262B"/>
                          </a:solidFill>
                          <a:latin typeface="Arial" pitchFamily="34" charset="0"/>
                          <a:ea typeface="Arial" pitchFamily="34" charset="-122"/>
                          <a:cs typeface="Arial" pitchFamily="34" charset="-120"/>
                        </a:rPr>
                        <a:t>Blockchain trust</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Esposito et al.</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Trust management with Bayesian signalling games on Hyperledger, gossip protocol</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r h="621792">
                <a:tc>
                  <a:txBody>
                    <a:bodyPr/>
                    <a:lstStyle/>
                    <a:p>
                      <a:pPr indent="0" marL="0">
                        <a:buNone/>
                      </a:pPr>
                      <a:r>
                        <a:rPr lang="en-US" sz="1100" b="1" dirty="0">
                          <a:solidFill>
                            <a:srgbClr val="23262B"/>
                          </a:solidFill>
                          <a:latin typeface="Arial" pitchFamily="34" charset="0"/>
                          <a:ea typeface="Arial" pitchFamily="34" charset="-122"/>
                          <a:cs typeface="Arial" pitchFamily="34" charset="-120"/>
                        </a:rPr>
                        <a:t>SDN-based</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Al-Hammadi et al.; Phan et al.</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23262B"/>
                          </a:solidFill>
                          <a:latin typeface="Arial" pitchFamily="34" charset="0"/>
                          <a:ea typeface="Arial" pitchFamily="34" charset="-122"/>
                          <a:cs typeface="Arial" pitchFamily="34" charset="-120"/>
                        </a:rPr>
                        <a:t>SDN controller decides local vs edge execution; hierarchical control planes; emergency tasks</a:t>
                      </a:r>
                      <a:endParaRPr lang="en-US" sz="1100" dirty="0">
                        <a:latin typeface="Arial" charset="0"/>
                        <a:ea typeface="Arial" charset="0"/>
                        <a:cs typeface="Arial" charset="0"/>
                      </a:endParaRPr>
                    </a:p>
                  </a:txBody>
                  <a:tcPr marL="91440" marR="91440" marT="36576" marB="36576"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9FAF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Pillars 3 and 4: objectives and evaluation</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13</a:t>
            </a:r>
            <a:endParaRPr lang="en-US" sz="900" dirty="0"/>
          </a:p>
        </p:txBody>
      </p:sp>
      <p:sp>
        <p:nvSpPr>
          <p:cNvPr id="6" name="Text 3"/>
          <p:cNvSpPr txBox="1"/>
          <p:nvPr/>
        </p:nvSpPr>
        <p:spPr>
          <a:xfrm>
            <a:off x="457200" y="1005840"/>
            <a:ext cx="4023360" cy="365760"/>
          </a:xfrm>
          <a:prstGeom prst="rect">
            <a:avLst/>
          </a:prstGeom>
          <a:noFill/>
          <a:ln/>
        </p:spPr>
        <p:txBody>
          <a:bodyPr wrap="square" lIns="0" tIns="0" rIns="0" bIns="0" rtlCol="0" anchor="ctr"/>
          <a:lstStyle/>
          <a:p>
            <a:pPr indent="0" marL="0">
              <a:buNone/>
            </a:pPr>
            <a:r>
              <a:rPr lang="en-US" sz="1700" b="1" dirty="0">
                <a:solidFill>
                  <a:srgbClr val="26282E"/>
                </a:solidFill>
                <a:latin typeface="Bookman Old Style" pitchFamily="34" charset="0"/>
                <a:ea typeface="Bookman Old Style" pitchFamily="34" charset="-122"/>
                <a:cs typeface="Bookman Old Style" pitchFamily="34" charset="-120"/>
              </a:rPr>
              <a:t>Objectives</a:t>
            </a:r>
            <a:endParaRPr lang="en-US" sz="1700" dirty="0"/>
          </a:p>
        </p:txBody>
      </p:sp>
      <p:sp>
        <p:nvSpPr>
          <p:cNvPr id="7" name="Shape 4"/>
          <p:cNvSpPr/>
          <p:nvPr/>
        </p:nvSpPr>
        <p:spPr>
          <a:xfrm>
            <a:off x="457200" y="1463040"/>
            <a:ext cx="4023360" cy="658368"/>
          </a:xfrm>
          <a:prstGeom prst="rect">
            <a:avLst/>
          </a:prstGeom>
          <a:solidFill>
            <a:srgbClr val="F1F2F4"/>
          </a:solidFill>
          <a:ln w="12700">
            <a:solidFill>
              <a:srgbClr val="F1F2F4"/>
            </a:solidFill>
            <a:prstDash val="solid"/>
          </a:ln>
        </p:spPr>
      </p:sp>
      <p:sp>
        <p:nvSpPr>
          <p:cNvPr id="8" name="Text 5"/>
          <p:cNvSpPr txBox="1"/>
          <p:nvPr/>
        </p:nvSpPr>
        <p:spPr>
          <a:xfrm>
            <a:off x="640080" y="1463040"/>
            <a:ext cx="3657600" cy="658368"/>
          </a:xfrm>
          <a:prstGeom prst="rect">
            <a:avLst/>
          </a:prstGeom>
          <a:noFill/>
          <a:ln/>
        </p:spPr>
        <p:txBody>
          <a:bodyPr wrap="square" lIns="0" tIns="0" rIns="0" bIns="0" rtlCol="0" anchor="ctr"/>
          <a:lstStyle/>
          <a:p>
            <a:pPr indent="0" marL="0">
              <a:buNone/>
            </a:pPr>
            <a:r>
              <a:rPr lang="en-US" sz="1300" b="1" dirty="0">
                <a:solidFill>
                  <a:srgbClr val="D9482B"/>
                </a:solidFill>
                <a:latin typeface="Arial" pitchFamily="34" charset="0"/>
                <a:ea typeface="Arial" pitchFamily="34" charset="-122"/>
                <a:cs typeface="Arial" pitchFamily="34" charset="-120"/>
              </a:rPr>
              <a:t>Performance: </a:t>
            </a:r>
            <a:pPr indent="0" marL="0">
              <a:buNone/>
            </a:pPr>
            <a:r>
              <a:rPr lang="en-US" sz="1300" dirty="0">
                <a:solidFill>
                  <a:srgbClr val="23262B"/>
                </a:solidFill>
                <a:latin typeface="Arial" pitchFamily="34" charset="0"/>
                <a:ea typeface="Arial" pitchFamily="34" charset="-122"/>
                <a:cs typeface="Arial" pitchFamily="34" charset="-120"/>
              </a:rPr>
              <a:t>latency, bandwidth, utilisation, workload balance</a:t>
            </a:r>
            <a:endParaRPr lang="en-US" sz="1300" dirty="0"/>
          </a:p>
        </p:txBody>
      </p:sp>
      <p:sp>
        <p:nvSpPr>
          <p:cNvPr id="9" name="Shape 6"/>
          <p:cNvSpPr/>
          <p:nvPr/>
        </p:nvSpPr>
        <p:spPr>
          <a:xfrm>
            <a:off x="457200" y="2240280"/>
            <a:ext cx="4023360" cy="658368"/>
          </a:xfrm>
          <a:prstGeom prst="rect">
            <a:avLst/>
          </a:prstGeom>
          <a:solidFill>
            <a:srgbClr val="F1F2F4"/>
          </a:solidFill>
          <a:ln w="12700">
            <a:solidFill>
              <a:srgbClr val="F1F2F4"/>
            </a:solidFill>
            <a:prstDash val="solid"/>
          </a:ln>
        </p:spPr>
      </p:sp>
      <p:sp>
        <p:nvSpPr>
          <p:cNvPr id="10" name="Text 7"/>
          <p:cNvSpPr txBox="1"/>
          <p:nvPr/>
        </p:nvSpPr>
        <p:spPr>
          <a:xfrm>
            <a:off x="640080" y="2240280"/>
            <a:ext cx="3657600" cy="658368"/>
          </a:xfrm>
          <a:prstGeom prst="rect">
            <a:avLst/>
          </a:prstGeom>
          <a:noFill/>
          <a:ln/>
        </p:spPr>
        <p:txBody>
          <a:bodyPr wrap="square" lIns="0" tIns="0" rIns="0" bIns="0" rtlCol="0" anchor="ctr"/>
          <a:lstStyle/>
          <a:p>
            <a:pPr indent="0" marL="0">
              <a:buNone/>
            </a:pPr>
            <a:r>
              <a:rPr lang="en-US" sz="1300" b="1" dirty="0">
                <a:solidFill>
                  <a:srgbClr val="D9482B"/>
                </a:solidFill>
                <a:latin typeface="Arial" pitchFamily="34" charset="0"/>
                <a:ea typeface="Arial" pitchFamily="34" charset="-122"/>
                <a:cs typeface="Arial" pitchFamily="34" charset="-120"/>
              </a:rPr>
              <a:t>Energy: </a:t>
            </a:r>
            <a:pPr indent="0" marL="0">
              <a:buNone/>
            </a:pPr>
            <a:r>
              <a:rPr lang="en-US" sz="1300" dirty="0">
                <a:solidFill>
                  <a:srgbClr val="23262B"/>
                </a:solidFill>
                <a:latin typeface="Arial" pitchFamily="34" charset="0"/>
                <a:ea typeface="Arial" pitchFamily="34" charset="-122"/>
                <a:cs typeface="Arial" pitchFamily="34" charset="-120"/>
              </a:rPr>
              <a:t>battery life, lower power draw</a:t>
            </a:r>
            <a:endParaRPr lang="en-US" sz="1300" dirty="0"/>
          </a:p>
        </p:txBody>
      </p:sp>
      <p:sp>
        <p:nvSpPr>
          <p:cNvPr id="11" name="Shape 8"/>
          <p:cNvSpPr/>
          <p:nvPr/>
        </p:nvSpPr>
        <p:spPr>
          <a:xfrm>
            <a:off x="457200" y="3017520"/>
            <a:ext cx="4023360" cy="658368"/>
          </a:xfrm>
          <a:prstGeom prst="rect">
            <a:avLst/>
          </a:prstGeom>
          <a:solidFill>
            <a:srgbClr val="F1F2F4"/>
          </a:solidFill>
          <a:ln w="12700">
            <a:solidFill>
              <a:srgbClr val="F1F2F4"/>
            </a:solidFill>
            <a:prstDash val="solid"/>
          </a:ln>
        </p:spPr>
      </p:sp>
      <p:sp>
        <p:nvSpPr>
          <p:cNvPr id="12" name="Text 9"/>
          <p:cNvSpPr txBox="1"/>
          <p:nvPr/>
        </p:nvSpPr>
        <p:spPr>
          <a:xfrm>
            <a:off x="640080" y="3017520"/>
            <a:ext cx="3657600" cy="658368"/>
          </a:xfrm>
          <a:prstGeom prst="rect">
            <a:avLst/>
          </a:prstGeom>
          <a:noFill/>
          <a:ln/>
        </p:spPr>
        <p:txBody>
          <a:bodyPr wrap="square" lIns="0" tIns="0" rIns="0" bIns="0" rtlCol="0" anchor="ctr"/>
          <a:lstStyle/>
          <a:p>
            <a:pPr indent="0" marL="0">
              <a:buNone/>
            </a:pPr>
            <a:r>
              <a:rPr lang="en-US" sz="1300" b="1" dirty="0">
                <a:solidFill>
                  <a:srgbClr val="D9482B"/>
                </a:solidFill>
                <a:latin typeface="Arial" pitchFamily="34" charset="0"/>
                <a:ea typeface="Arial" pitchFamily="34" charset="-122"/>
                <a:cs typeface="Arial" pitchFamily="34" charset="-120"/>
              </a:rPr>
              <a:t>Cost: </a:t>
            </a:r>
            <a:pPr indent="0" marL="0">
              <a:buNone/>
            </a:pPr>
            <a:r>
              <a:rPr lang="en-US" sz="1300" dirty="0">
                <a:solidFill>
                  <a:srgbClr val="23262B"/>
                </a:solidFill>
                <a:latin typeface="Arial" pitchFamily="34" charset="0"/>
                <a:ea typeface="Arial" pitchFamily="34" charset="-122"/>
                <a:cs typeface="Arial" pitchFamily="34" charset="-120"/>
              </a:rPr>
              <a:t>operating cost reduction</a:t>
            </a:r>
            <a:endParaRPr lang="en-US" sz="1300" dirty="0"/>
          </a:p>
        </p:txBody>
      </p:sp>
      <p:sp>
        <p:nvSpPr>
          <p:cNvPr id="13" name="Shape 10"/>
          <p:cNvSpPr/>
          <p:nvPr/>
        </p:nvSpPr>
        <p:spPr>
          <a:xfrm>
            <a:off x="457200" y="3794760"/>
            <a:ext cx="4023360" cy="658368"/>
          </a:xfrm>
          <a:prstGeom prst="rect">
            <a:avLst/>
          </a:prstGeom>
          <a:solidFill>
            <a:srgbClr val="F1F2F4"/>
          </a:solidFill>
          <a:ln w="12700">
            <a:solidFill>
              <a:srgbClr val="F1F2F4"/>
            </a:solidFill>
            <a:prstDash val="solid"/>
          </a:ln>
        </p:spPr>
      </p:sp>
      <p:sp>
        <p:nvSpPr>
          <p:cNvPr id="14" name="Text 11"/>
          <p:cNvSpPr txBox="1"/>
          <p:nvPr/>
        </p:nvSpPr>
        <p:spPr>
          <a:xfrm>
            <a:off x="640080" y="3794760"/>
            <a:ext cx="3657600" cy="658368"/>
          </a:xfrm>
          <a:prstGeom prst="rect">
            <a:avLst/>
          </a:prstGeom>
          <a:noFill/>
          <a:ln/>
        </p:spPr>
        <p:txBody>
          <a:bodyPr wrap="square" lIns="0" tIns="0" rIns="0" bIns="0" rtlCol="0" anchor="ctr"/>
          <a:lstStyle/>
          <a:p>
            <a:pPr indent="0" marL="0">
              <a:buNone/>
            </a:pPr>
            <a:r>
              <a:rPr lang="en-US" sz="1300" b="1" dirty="0">
                <a:solidFill>
                  <a:srgbClr val="D9482B"/>
                </a:solidFill>
                <a:latin typeface="Arial" pitchFamily="34" charset="0"/>
                <a:ea typeface="Arial" pitchFamily="34" charset="-122"/>
                <a:cs typeface="Arial" pitchFamily="34" charset="-120"/>
              </a:rPr>
              <a:t>Reliability: </a:t>
            </a:r>
            <a:pPr indent="0" marL="0">
              <a:buNone/>
            </a:pPr>
            <a:r>
              <a:rPr lang="en-US" sz="1300" dirty="0">
                <a:solidFill>
                  <a:srgbClr val="23262B"/>
                </a:solidFill>
                <a:latin typeface="Arial" pitchFamily="34" charset="0"/>
                <a:ea typeface="Arial" pitchFamily="34" charset="-122"/>
                <a:cs typeface="Arial" pitchFamily="34" charset="-120"/>
              </a:rPr>
              <a:t>service delivery despite failures and weak links</a:t>
            </a:r>
            <a:endParaRPr lang="en-US" sz="1300" dirty="0"/>
          </a:p>
        </p:txBody>
      </p:sp>
      <p:sp>
        <p:nvSpPr>
          <p:cNvPr id="15" name="Text 12"/>
          <p:cNvSpPr txBox="1"/>
          <p:nvPr/>
        </p:nvSpPr>
        <p:spPr>
          <a:xfrm>
            <a:off x="4663440" y="1005840"/>
            <a:ext cx="4023360" cy="365760"/>
          </a:xfrm>
          <a:prstGeom prst="rect">
            <a:avLst/>
          </a:prstGeom>
          <a:noFill/>
          <a:ln/>
        </p:spPr>
        <p:txBody>
          <a:bodyPr wrap="square" lIns="0" tIns="0" rIns="0" bIns="0" rtlCol="0" anchor="ctr"/>
          <a:lstStyle/>
          <a:p>
            <a:pPr indent="0" marL="0">
              <a:buNone/>
            </a:pPr>
            <a:r>
              <a:rPr lang="en-US" sz="1700" b="1" dirty="0">
                <a:solidFill>
                  <a:srgbClr val="26282E"/>
                </a:solidFill>
                <a:latin typeface="Bookman Old Style" pitchFamily="34" charset="0"/>
                <a:ea typeface="Bookman Old Style" pitchFamily="34" charset="-122"/>
                <a:cs typeface="Bookman Old Style" pitchFamily="34" charset="-120"/>
              </a:rPr>
              <a:t>Evaluation</a:t>
            </a:r>
            <a:endParaRPr lang="en-US" sz="1700" dirty="0"/>
          </a:p>
        </p:txBody>
      </p:sp>
      <p:sp>
        <p:nvSpPr>
          <p:cNvPr id="16" name="Shape 13"/>
          <p:cNvSpPr/>
          <p:nvPr/>
        </p:nvSpPr>
        <p:spPr>
          <a:xfrm>
            <a:off x="4663440" y="1463040"/>
            <a:ext cx="4023360" cy="3017520"/>
          </a:xfrm>
          <a:prstGeom prst="rect">
            <a:avLst/>
          </a:prstGeom>
          <a:solidFill>
            <a:srgbClr val="26282E"/>
          </a:solidFill>
          <a:ln w="12700">
            <a:solidFill>
              <a:srgbClr val="26282E"/>
            </a:solidFill>
            <a:prstDash val="solid"/>
          </a:ln>
        </p:spPr>
      </p:sp>
      <p:sp>
        <p:nvSpPr>
          <p:cNvPr id="17" name="Text 14"/>
          <p:cNvSpPr txBox="1"/>
          <p:nvPr/>
        </p:nvSpPr>
        <p:spPr>
          <a:xfrm>
            <a:off x="4846320" y="1600200"/>
            <a:ext cx="3657600" cy="27432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FFFFFF"/>
                </a:solidFill>
                <a:latin typeface="Arial" pitchFamily="34" charset="0"/>
                <a:ea typeface="Arial" pitchFamily="34" charset="-122"/>
                <a:cs typeface="Arial" pitchFamily="34" charset="-120"/>
              </a:rPr>
              <a:t>Environment: simulators (iFogSim, EdgeCloudSim) or realistic testbeds</a:t>
            </a:r>
            <a:endParaRPr lang="en-US" sz="1450" dirty="0"/>
          </a:p>
          <a:p>
            <a:pPr marL="342900" indent="-342900">
              <a:spcAft>
                <a:spcPts val="800"/>
              </a:spcAft>
              <a:buSzPct val="100000"/>
              <a:buChar char="•"/>
            </a:pPr>
            <a:r>
              <a:rPr lang="en-US" sz="1450" dirty="0">
                <a:solidFill>
                  <a:srgbClr val="FFFFFF"/>
                </a:solidFill>
                <a:latin typeface="Arial" pitchFamily="34" charset="0"/>
                <a:ea typeface="Arial" pitchFamily="34" charset="-122"/>
                <a:cs typeface="Arial" pitchFamily="34" charset="-120"/>
              </a:rPr>
              <a:t>Metrics: quantitative indicators matching the objectives</a:t>
            </a:r>
            <a:endParaRPr lang="en-US" sz="1450" dirty="0"/>
          </a:p>
          <a:p>
            <a:pPr marL="342900" indent="-342900">
              <a:spcAft>
                <a:spcPts val="800"/>
              </a:spcAft>
              <a:buSzPct val="100000"/>
              <a:buChar char="•"/>
            </a:pPr>
            <a:r>
              <a:rPr lang="en-US" sz="1450" dirty="0">
                <a:solidFill>
                  <a:srgbClr val="FFFFFF"/>
                </a:solidFill>
                <a:latin typeface="Arial" pitchFamily="34" charset="0"/>
                <a:ea typeface="Arial" pitchFamily="34" charset="-122"/>
                <a:cs typeface="Arial" pitchFamily="34" charset="-120"/>
              </a:rPr>
              <a:t>Workload: generic internet services or domain-specific (smart cities, IoT)</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Key findings and trends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14</a:t>
            </a:r>
            <a:endParaRPr lang="en-US" sz="900" dirty="0"/>
          </a:p>
        </p:txBody>
      </p:sp>
      <p:sp>
        <p:nvSpPr>
          <p:cNvPr id="6" name="Shape 3"/>
          <p:cNvSpPr/>
          <p:nvPr/>
        </p:nvSpPr>
        <p:spPr>
          <a:xfrm>
            <a:off x="457200" y="1097280"/>
            <a:ext cx="3931920" cy="1508760"/>
          </a:xfrm>
          <a:prstGeom prst="rect">
            <a:avLst/>
          </a:prstGeom>
          <a:solidFill>
            <a:srgbClr val="26282E"/>
          </a:solidFill>
          <a:ln w="12700">
            <a:solidFill>
              <a:srgbClr val="26282E"/>
            </a:solidFill>
            <a:prstDash val="solid"/>
          </a:ln>
        </p:spPr>
      </p:sp>
      <p:sp>
        <p:nvSpPr>
          <p:cNvPr id="7" name="Text 4"/>
          <p:cNvSpPr txBox="1"/>
          <p:nvPr/>
        </p:nvSpPr>
        <p:spPr>
          <a:xfrm>
            <a:off x="685800" y="1234440"/>
            <a:ext cx="3474720" cy="411480"/>
          </a:xfrm>
          <a:prstGeom prst="rect">
            <a:avLst/>
          </a:prstGeom>
          <a:noFill/>
          <a:ln/>
        </p:spPr>
        <p:txBody>
          <a:bodyPr wrap="square" lIns="0" tIns="0" rIns="0" bIns="0" rtlCol="0" anchor="ctr"/>
          <a:lstStyle/>
          <a:p>
            <a:pPr indent="0" marL="0">
              <a:buNone/>
            </a:pPr>
            <a:r>
              <a:rPr lang="en-US" sz="1600" b="1" dirty="0">
                <a:solidFill>
                  <a:srgbClr val="FFC857"/>
                </a:solidFill>
                <a:latin typeface="Bookman Old Style" pitchFamily="34" charset="0"/>
                <a:ea typeface="Bookman Old Style" pitchFamily="34" charset="-122"/>
                <a:cs typeface="Bookman Old Style" pitchFamily="34" charset="-120"/>
              </a:rPr>
              <a:t>Peer-to-peer dominates</a:t>
            </a:r>
            <a:endParaRPr lang="en-US" sz="1600" dirty="0"/>
          </a:p>
        </p:txBody>
      </p:sp>
      <p:sp>
        <p:nvSpPr>
          <p:cNvPr id="8" name="Text 5"/>
          <p:cNvSpPr txBox="1"/>
          <p:nvPr/>
        </p:nvSpPr>
        <p:spPr>
          <a:xfrm>
            <a:off x="685800" y="1691640"/>
            <a:ext cx="3474720" cy="8229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P2P scales without a single point of failure; gossip is common for trust and consensus; hierarchical appears in SDN designs.</a:t>
            </a:r>
            <a:endParaRPr lang="en-US" sz="1300" dirty="0"/>
          </a:p>
        </p:txBody>
      </p:sp>
      <p:sp>
        <p:nvSpPr>
          <p:cNvPr id="9" name="Shape 6"/>
          <p:cNvSpPr/>
          <p:nvPr/>
        </p:nvSpPr>
        <p:spPr>
          <a:xfrm>
            <a:off x="4663440" y="1097280"/>
            <a:ext cx="3931920" cy="1508760"/>
          </a:xfrm>
          <a:prstGeom prst="rect">
            <a:avLst/>
          </a:prstGeom>
          <a:solidFill>
            <a:srgbClr val="F1F2F4"/>
          </a:solidFill>
          <a:ln w="12700">
            <a:solidFill>
              <a:srgbClr val="F1F2F4"/>
            </a:solidFill>
            <a:prstDash val="solid"/>
          </a:ln>
        </p:spPr>
      </p:sp>
      <p:sp>
        <p:nvSpPr>
          <p:cNvPr id="10" name="Text 7"/>
          <p:cNvSpPr txBox="1"/>
          <p:nvPr/>
        </p:nvSpPr>
        <p:spPr>
          <a:xfrm>
            <a:off x="4892040" y="1234440"/>
            <a:ext cx="3474720" cy="41148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Game theory leads</a:t>
            </a:r>
            <a:endParaRPr lang="en-US" sz="1600" dirty="0"/>
          </a:p>
        </p:txBody>
      </p:sp>
      <p:sp>
        <p:nvSpPr>
          <p:cNvPr id="11" name="Text 8"/>
          <p:cNvSpPr txBox="1"/>
          <p:nvPr/>
        </p:nvSpPr>
        <p:spPr>
          <a:xfrm>
            <a:off x="4892040" y="1691640"/>
            <a:ext cx="3474720" cy="82296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Threshold rules and game-theoretic equilibria (Nash, Stackelberg) are widely used.</a:t>
            </a:r>
            <a:endParaRPr lang="en-US" sz="1300" dirty="0"/>
          </a:p>
        </p:txBody>
      </p:sp>
      <p:sp>
        <p:nvSpPr>
          <p:cNvPr id="12" name="Shape 9"/>
          <p:cNvSpPr/>
          <p:nvPr/>
        </p:nvSpPr>
        <p:spPr>
          <a:xfrm>
            <a:off x="457200" y="2788920"/>
            <a:ext cx="3931920" cy="1508760"/>
          </a:xfrm>
          <a:prstGeom prst="rect">
            <a:avLst/>
          </a:prstGeom>
          <a:solidFill>
            <a:srgbClr val="F1F2F4"/>
          </a:solidFill>
          <a:ln w="12700">
            <a:solidFill>
              <a:srgbClr val="F1F2F4"/>
            </a:solidFill>
            <a:prstDash val="solid"/>
          </a:ln>
        </p:spPr>
      </p:sp>
      <p:sp>
        <p:nvSpPr>
          <p:cNvPr id="13" name="Text 10"/>
          <p:cNvSpPr txBox="1"/>
          <p:nvPr/>
        </p:nvSpPr>
        <p:spPr>
          <a:xfrm>
            <a:off x="685800" y="2926080"/>
            <a:ext cx="3474720" cy="41148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Deep RL is rising</a:t>
            </a:r>
            <a:endParaRPr lang="en-US" sz="1600" dirty="0"/>
          </a:p>
        </p:txBody>
      </p:sp>
      <p:sp>
        <p:nvSpPr>
          <p:cNvPr id="14" name="Text 11"/>
          <p:cNvSpPr txBox="1"/>
          <p:nvPr/>
        </p:nvSpPr>
        <p:spPr>
          <a:xfrm>
            <a:off x="685800" y="3383280"/>
            <a:ext cx="3474720" cy="82296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Intelligent approaches, especially deep reinforcement learning, are increasingly popular.</a:t>
            </a:r>
            <a:endParaRPr lang="en-US" sz="1300" dirty="0"/>
          </a:p>
        </p:txBody>
      </p:sp>
      <p:sp>
        <p:nvSpPr>
          <p:cNvPr id="15" name="Shape 12"/>
          <p:cNvSpPr/>
          <p:nvPr/>
        </p:nvSpPr>
        <p:spPr>
          <a:xfrm>
            <a:off x="4663440" y="2788920"/>
            <a:ext cx="3931920" cy="1508760"/>
          </a:xfrm>
          <a:prstGeom prst="rect">
            <a:avLst/>
          </a:prstGeom>
          <a:solidFill>
            <a:srgbClr val="F1F2F4"/>
          </a:solidFill>
          <a:ln w="12700">
            <a:solidFill>
              <a:srgbClr val="F1F2F4"/>
            </a:solidFill>
            <a:prstDash val="solid"/>
          </a:ln>
        </p:spPr>
      </p:sp>
      <p:sp>
        <p:nvSpPr>
          <p:cNvPr id="16" name="Text 13"/>
          <p:cNvSpPr txBox="1"/>
          <p:nvPr/>
        </p:nvSpPr>
        <p:spPr>
          <a:xfrm>
            <a:off x="4892040" y="2926080"/>
            <a:ext cx="3474720" cy="411480"/>
          </a:xfrm>
          <a:prstGeom prst="rect">
            <a:avLst/>
          </a:prstGeom>
          <a:noFill/>
          <a:ln/>
        </p:spPr>
        <p:txBody>
          <a:bodyPr wrap="square" lIns="0" tIns="0" rIns="0" bIns="0" rtlCol="0" anchor="ctr"/>
          <a:lstStyle/>
          <a:p>
            <a:pPr indent="0" marL="0">
              <a:buNone/>
            </a:pPr>
            <a:r>
              <a:rPr lang="en-US" sz="1600" b="1" dirty="0">
                <a:solidFill>
                  <a:srgbClr val="26282E"/>
                </a:solidFill>
                <a:latin typeface="Bookman Old Style" pitchFamily="34" charset="0"/>
                <a:ea typeface="Bookman Old Style" pitchFamily="34" charset="-122"/>
                <a:cs typeface="Bookman Old Style" pitchFamily="34" charset="-120"/>
              </a:rPr>
              <a:t>Mostly reactive</a:t>
            </a:r>
            <a:endParaRPr lang="en-US" sz="1600" dirty="0"/>
          </a:p>
        </p:txBody>
      </p:sp>
      <p:sp>
        <p:nvSpPr>
          <p:cNvPr id="17" name="Text 14"/>
          <p:cNvSpPr txBox="1"/>
          <p:nvPr/>
        </p:nvSpPr>
        <p:spPr>
          <a:xfrm>
            <a:off x="4892040" y="3383280"/>
            <a:ext cx="3474720" cy="822960"/>
          </a:xfrm>
          <a:prstGeom prst="rect">
            <a:avLst/>
          </a:prstGeom>
          <a:noFill/>
          <a:ln/>
        </p:spPr>
        <p:txBody>
          <a:bodyPr wrap="square" lIns="0" tIns="0" rIns="0" bIns="0" rtlCol="0" anchor="t"/>
          <a:lstStyle/>
          <a:p>
            <a:pPr indent="0" marL="0">
              <a:buNone/>
            </a:pPr>
            <a:r>
              <a:rPr lang="en-US" sz="1300" dirty="0">
                <a:solidFill>
                  <a:srgbClr val="23262B"/>
                </a:solidFill>
                <a:latin typeface="Arial" pitchFamily="34" charset="0"/>
                <a:ea typeface="Arial" pitchFamily="34" charset="-122"/>
                <a:cs typeface="Arial" pitchFamily="34" charset="-120"/>
              </a:rPr>
              <a:t>Most solutions react to events; proactive and hybrid strategies are emerging.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Open challenges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15</a:t>
            </a:r>
            <a:endParaRPr lang="en-US" sz="900" dirty="0"/>
          </a:p>
        </p:txBody>
      </p:sp>
      <p:sp>
        <p:nvSpPr>
          <p:cNvPr id="6" name="Shape 3"/>
          <p:cNvSpPr/>
          <p:nvPr/>
        </p:nvSpPr>
        <p:spPr>
          <a:xfrm>
            <a:off x="457200" y="1097280"/>
            <a:ext cx="2606040" cy="1554480"/>
          </a:xfrm>
          <a:prstGeom prst="rect">
            <a:avLst/>
          </a:prstGeom>
          <a:solidFill>
            <a:srgbClr val="F1F2F4"/>
          </a:solidFill>
          <a:ln w="12700">
            <a:solidFill>
              <a:srgbClr val="F1F2F4"/>
            </a:solidFill>
            <a:prstDash val="solid"/>
          </a:ln>
        </p:spPr>
      </p:sp>
      <p:sp>
        <p:nvSpPr>
          <p:cNvPr id="7" name="Text 4"/>
          <p:cNvSpPr txBox="1"/>
          <p:nvPr/>
        </p:nvSpPr>
        <p:spPr>
          <a:xfrm>
            <a:off x="640080" y="1207008"/>
            <a:ext cx="2240280" cy="411480"/>
          </a:xfrm>
          <a:prstGeom prst="rect">
            <a:avLst/>
          </a:prstGeom>
          <a:noFill/>
          <a:ln/>
        </p:spPr>
        <p:txBody>
          <a:bodyPr wrap="square" lIns="0" tIns="0" rIns="0" bIns="0" rtlCol="0" anchor="ctr"/>
          <a:lstStyle/>
          <a:p>
            <a:pPr indent="0" marL="0">
              <a:buNone/>
            </a:pPr>
            <a:r>
              <a:rPr lang="en-US" sz="1500" b="1" dirty="0">
                <a:solidFill>
                  <a:srgbClr val="D9482B"/>
                </a:solidFill>
                <a:latin typeface="Bookman Old Style" pitchFamily="34" charset="0"/>
                <a:ea typeface="Bookman Old Style" pitchFamily="34" charset="-122"/>
                <a:cs typeface="Bookman Old Style" pitchFamily="34" charset="-120"/>
              </a:rPr>
              <a:t>Scalability</a:t>
            </a:r>
            <a:endParaRPr lang="en-US" sz="1500" dirty="0"/>
          </a:p>
        </p:txBody>
      </p:sp>
      <p:sp>
        <p:nvSpPr>
          <p:cNvPr id="8" name="Text 5"/>
          <p:cNvSpPr txBox="1"/>
          <p:nvPr/>
        </p:nvSpPr>
        <p:spPr>
          <a:xfrm>
            <a:off x="640080" y="1645920"/>
            <a:ext cx="2240280" cy="914400"/>
          </a:xfrm>
          <a:prstGeom prst="rect">
            <a:avLst/>
          </a:prstGeom>
          <a:noFill/>
          <a:ln/>
        </p:spPr>
        <p:txBody>
          <a:bodyPr wrap="square" lIns="0" tIns="0" rIns="0" bIns="0" rtlCol="0" anchor="t"/>
          <a:lstStyle/>
          <a:p>
            <a:pPr indent="0" marL="0">
              <a:buNone/>
            </a:pPr>
            <a:r>
              <a:rPr lang="en-US" sz="1250" dirty="0">
                <a:solidFill>
                  <a:srgbClr val="23262B"/>
                </a:solidFill>
                <a:latin typeface="Arial" pitchFamily="34" charset="0"/>
                <a:ea typeface="Arial" pitchFamily="34" charset="-122"/>
                <a:cs typeface="Arial" pitchFamily="34" charset="-120"/>
              </a:rPr>
              <a:t>Tested on limited scales; behaviour at massive IoT deployments is unclear.</a:t>
            </a:r>
            <a:endParaRPr lang="en-US" sz="1250" dirty="0"/>
          </a:p>
        </p:txBody>
      </p:sp>
      <p:sp>
        <p:nvSpPr>
          <p:cNvPr id="9" name="Shape 6"/>
          <p:cNvSpPr/>
          <p:nvPr/>
        </p:nvSpPr>
        <p:spPr>
          <a:xfrm>
            <a:off x="3246120" y="1097280"/>
            <a:ext cx="2606040" cy="1554480"/>
          </a:xfrm>
          <a:prstGeom prst="rect">
            <a:avLst/>
          </a:prstGeom>
          <a:solidFill>
            <a:srgbClr val="F1F2F4"/>
          </a:solidFill>
          <a:ln w="12700">
            <a:solidFill>
              <a:srgbClr val="F1F2F4"/>
            </a:solidFill>
            <a:prstDash val="solid"/>
          </a:ln>
        </p:spPr>
      </p:sp>
      <p:sp>
        <p:nvSpPr>
          <p:cNvPr id="10" name="Text 7"/>
          <p:cNvSpPr txBox="1"/>
          <p:nvPr/>
        </p:nvSpPr>
        <p:spPr>
          <a:xfrm>
            <a:off x="3429000" y="1207008"/>
            <a:ext cx="2240280" cy="411480"/>
          </a:xfrm>
          <a:prstGeom prst="rect">
            <a:avLst/>
          </a:prstGeom>
          <a:noFill/>
          <a:ln/>
        </p:spPr>
        <p:txBody>
          <a:bodyPr wrap="square" lIns="0" tIns="0" rIns="0" bIns="0" rtlCol="0" anchor="ctr"/>
          <a:lstStyle/>
          <a:p>
            <a:pPr indent="0" marL="0">
              <a:buNone/>
            </a:pPr>
            <a:r>
              <a:rPr lang="en-US" sz="1500" b="1" dirty="0">
                <a:solidFill>
                  <a:srgbClr val="D9482B"/>
                </a:solidFill>
                <a:latin typeface="Bookman Old Style" pitchFamily="34" charset="0"/>
                <a:ea typeface="Bookman Old Style" pitchFamily="34" charset="-122"/>
                <a:cs typeface="Bookman Old Style" pitchFamily="34" charset="-120"/>
              </a:rPr>
              <a:t>Real-world validation</a:t>
            </a:r>
            <a:endParaRPr lang="en-US" sz="1500" dirty="0"/>
          </a:p>
        </p:txBody>
      </p:sp>
      <p:sp>
        <p:nvSpPr>
          <p:cNvPr id="11" name="Text 8"/>
          <p:cNvSpPr txBox="1"/>
          <p:nvPr/>
        </p:nvSpPr>
        <p:spPr>
          <a:xfrm>
            <a:off x="3429000" y="1645920"/>
            <a:ext cx="2240280" cy="914400"/>
          </a:xfrm>
          <a:prstGeom prst="rect">
            <a:avLst/>
          </a:prstGeom>
          <a:noFill/>
          <a:ln/>
        </p:spPr>
        <p:txBody>
          <a:bodyPr wrap="square" lIns="0" tIns="0" rIns="0" bIns="0" rtlCol="0" anchor="t"/>
          <a:lstStyle/>
          <a:p>
            <a:pPr indent="0" marL="0">
              <a:buNone/>
            </a:pPr>
            <a:r>
              <a:rPr lang="en-US" sz="1250" dirty="0">
                <a:solidFill>
                  <a:srgbClr val="23262B"/>
                </a:solidFill>
                <a:latin typeface="Arial" pitchFamily="34" charset="0"/>
                <a:ea typeface="Arial" pitchFamily="34" charset="-122"/>
                <a:cs typeface="Arial" pitchFamily="34" charset="-120"/>
              </a:rPr>
              <a:t>Heavy reliance on simulation; few real edge-cloud testbeds.</a:t>
            </a:r>
            <a:endParaRPr lang="en-US" sz="1250" dirty="0"/>
          </a:p>
        </p:txBody>
      </p:sp>
      <p:sp>
        <p:nvSpPr>
          <p:cNvPr id="12" name="Shape 9"/>
          <p:cNvSpPr/>
          <p:nvPr/>
        </p:nvSpPr>
        <p:spPr>
          <a:xfrm>
            <a:off x="6035040" y="1097280"/>
            <a:ext cx="2606040" cy="1554480"/>
          </a:xfrm>
          <a:prstGeom prst="rect">
            <a:avLst/>
          </a:prstGeom>
          <a:solidFill>
            <a:srgbClr val="F1F2F4"/>
          </a:solidFill>
          <a:ln w="12700">
            <a:solidFill>
              <a:srgbClr val="F1F2F4"/>
            </a:solidFill>
            <a:prstDash val="solid"/>
          </a:ln>
        </p:spPr>
      </p:sp>
      <p:sp>
        <p:nvSpPr>
          <p:cNvPr id="13" name="Text 10"/>
          <p:cNvSpPr txBox="1"/>
          <p:nvPr/>
        </p:nvSpPr>
        <p:spPr>
          <a:xfrm>
            <a:off x="6217920" y="1207008"/>
            <a:ext cx="2240280" cy="411480"/>
          </a:xfrm>
          <a:prstGeom prst="rect">
            <a:avLst/>
          </a:prstGeom>
          <a:noFill/>
          <a:ln/>
        </p:spPr>
        <p:txBody>
          <a:bodyPr wrap="square" lIns="0" tIns="0" rIns="0" bIns="0" rtlCol="0" anchor="ctr"/>
          <a:lstStyle/>
          <a:p>
            <a:pPr indent="0" marL="0">
              <a:buNone/>
            </a:pPr>
            <a:r>
              <a:rPr lang="en-US" sz="1500" b="1" dirty="0">
                <a:solidFill>
                  <a:srgbClr val="D9482B"/>
                </a:solidFill>
                <a:latin typeface="Bookman Old Style" pitchFamily="34" charset="0"/>
                <a:ea typeface="Bookman Old Style" pitchFamily="34" charset="-122"/>
                <a:cs typeface="Bookman Old Style" pitchFamily="34" charset="-120"/>
              </a:rPr>
              <a:t>Proactive intelligence</a:t>
            </a:r>
            <a:endParaRPr lang="en-US" sz="1500" dirty="0"/>
          </a:p>
        </p:txBody>
      </p:sp>
      <p:sp>
        <p:nvSpPr>
          <p:cNvPr id="14" name="Text 11"/>
          <p:cNvSpPr txBox="1"/>
          <p:nvPr/>
        </p:nvSpPr>
        <p:spPr>
          <a:xfrm>
            <a:off x="6217920" y="1645920"/>
            <a:ext cx="2240280" cy="914400"/>
          </a:xfrm>
          <a:prstGeom prst="rect">
            <a:avLst/>
          </a:prstGeom>
          <a:noFill/>
          <a:ln/>
        </p:spPr>
        <p:txBody>
          <a:bodyPr wrap="square" lIns="0" tIns="0" rIns="0" bIns="0" rtlCol="0" anchor="t"/>
          <a:lstStyle/>
          <a:p>
            <a:pPr indent="0" marL="0">
              <a:buNone/>
            </a:pPr>
            <a:r>
              <a:rPr lang="en-US" sz="1250" dirty="0">
                <a:solidFill>
                  <a:srgbClr val="23262B"/>
                </a:solidFill>
                <a:latin typeface="Arial" pitchFamily="34" charset="0"/>
                <a:ea typeface="Arial" pitchFamily="34" charset="-122"/>
                <a:cs typeface="Arial" pitchFamily="34" charset="-120"/>
              </a:rPr>
              <a:t>Predictive, anticipatory offloading is under-explored.</a:t>
            </a:r>
            <a:endParaRPr lang="en-US" sz="1250" dirty="0"/>
          </a:p>
        </p:txBody>
      </p:sp>
      <p:sp>
        <p:nvSpPr>
          <p:cNvPr id="15" name="Shape 12"/>
          <p:cNvSpPr/>
          <p:nvPr/>
        </p:nvSpPr>
        <p:spPr>
          <a:xfrm>
            <a:off x="457200" y="2834640"/>
            <a:ext cx="2606040" cy="1554480"/>
          </a:xfrm>
          <a:prstGeom prst="rect">
            <a:avLst/>
          </a:prstGeom>
          <a:solidFill>
            <a:srgbClr val="F1F2F4"/>
          </a:solidFill>
          <a:ln w="12700">
            <a:solidFill>
              <a:srgbClr val="F1F2F4"/>
            </a:solidFill>
            <a:prstDash val="solid"/>
          </a:ln>
        </p:spPr>
      </p:sp>
      <p:sp>
        <p:nvSpPr>
          <p:cNvPr id="16" name="Text 13"/>
          <p:cNvSpPr txBox="1"/>
          <p:nvPr/>
        </p:nvSpPr>
        <p:spPr>
          <a:xfrm>
            <a:off x="640080" y="2944368"/>
            <a:ext cx="2240280" cy="411480"/>
          </a:xfrm>
          <a:prstGeom prst="rect">
            <a:avLst/>
          </a:prstGeom>
          <a:noFill/>
          <a:ln/>
        </p:spPr>
        <p:txBody>
          <a:bodyPr wrap="square" lIns="0" tIns="0" rIns="0" bIns="0" rtlCol="0" anchor="ctr"/>
          <a:lstStyle/>
          <a:p>
            <a:pPr indent="0" marL="0">
              <a:buNone/>
            </a:pPr>
            <a:r>
              <a:rPr lang="en-US" sz="1500" b="1" dirty="0">
                <a:solidFill>
                  <a:srgbClr val="D9482B"/>
                </a:solidFill>
                <a:latin typeface="Bookman Old Style" pitchFamily="34" charset="0"/>
                <a:ea typeface="Bookman Old Style" pitchFamily="34" charset="-122"/>
                <a:cs typeface="Bookman Old Style" pitchFamily="34" charset="-120"/>
              </a:rPr>
              <a:t>Security and trust</a:t>
            </a:r>
            <a:endParaRPr lang="en-US" sz="1500" dirty="0"/>
          </a:p>
        </p:txBody>
      </p:sp>
      <p:sp>
        <p:nvSpPr>
          <p:cNvPr id="17" name="Text 14"/>
          <p:cNvSpPr txBox="1"/>
          <p:nvPr/>
        </p:nvSpPr>
        <p:spPr>
          <a:xfrm>
            <a:off x="640080" y="3383280"/>
            <a:ext cx="2240280" cy="914400"/>
          </a:xfrm>
          <a:prstGeom prst="rect">
            <a:avLst/>
          </a:prstGeom>
          <a:noFill/>
          <a:ln/>
        </p:spPr>
        <p:txBody>
          <a:bodyPr wrap="square" lIns="0" tIns="0" rIns="0" bIns="0" rtlCol="0" anchor="t"/>
          <a:lstStyle/>
          <a:p>
            <a:pPr indent="0" marL="0">
              <a:buNone/>
            </a:pPr>
            <a:r>
              <a:rPr lang="en-US" sz="1250" dirty="0">
                <a:solidFill>
                  <a:srgbClr val="23262B"/>
                </a:solidFill>
                <a:latin typeface="Arial" pitchFamily="34" charset="0"/>
                <a:ea typeface="Arial" pitchFamily="34" charset="-122"/>
                <a:cs typeface="Arial" pitchFamily="34" charset="-120"/>
              </a:rPr>
              <a:t>Blockchain-based trust in decentralised settings is still nascent.</a:t>
            </a:r>
            <a:endParaRPr lang="en-US" sz="1250" dirty="0"/>
          </a:p>
        </p:txBody>
      </p:sp>
      <p:sp>
        <p:nvSpPr>
          <p:cNvPr id="18" name="Shape 15"/>
          <p:cNvSpPr/>
          <p:nvPr/>
        </p:nvSpPr>
        <p:spPr>
          <a:xfrm>
            <a:off x="3246120" y="2834640"/>
            <a:ext cx="2606040" cy="1554480"/>
          </a:xfrm>
          <a:prstGeom prst="rect">
            <a:avLst/>
          </a:prstGeom>
          <a:solidFill>
            <a:srgbClr val="F1F2F4"/>
          </a:solidFill>
          <a:ln w="12700">
            <a:solidFill>
              <a:srgbClr val="F1F2F4"/>
            </a:solidFill>
            <a:prstDash val="solid"/>
          </a:ln>
        </p:spPr>
      </p:sp>
      <p:sp>
        <p:nvSpPr>
          <p:cNvPr id="19" name="Text 16"/>
          <p:cNvSpPr txBox="1"/>
          <p:nvPr/>
        </p:nvSpPr>
        <p:spPr>
          <a:xfrm>
            <a:off x="3429000" y="2944368"/>
            <a:ext cx="2240280" cy="411480"/>
          </a:xfrm>
          <a:prstGeom prst="rect">
            <a:avLst/>
          </a:prstGeom>
          <a:noFill/>
          <a:ln/>
        </p:spPr>
        <p:txBody>
          <a:bodyPr wrap="square" lIns="0" tIns="0" rIns="0" bIns="0" rtlCol="0" anchor="ctr"/>
          <a:lstStyle/>
          <a:p>
            <a:pPr indent="0" marL="0">
              <a:buNone/>
            </a:pPr>
            <a:r>
              <a:rPr lang="en-US" sz="1500" b="1" dirty="0">
                <a:solidFill>
                  <a:srgbClr val="D9482B"/>
                </a:solidFill>
                <a:latin typeface="Bookman Old Style" pitchFamily="34" charset="0"/>
                <a:ea typeface="Bookman Old Style" pitchFamily="34" charset="-122"/>
                <a:cs typeface="Bookman Old Style" pitchFamily="34" charset="-120"/>
              </a:rPr>
              <a:t>Heterogeneity</a:t>
            </a:r>
            <a:endParaRPr lang="en-US" sz="1500" dirty="0"/>
          </a:p>
        </p:txBody>
      </p:sp>
      <p:sp>
        <p:nvSpPr>
          <p:cNvPr id="20" name="Text 17"/>
          <p:cNvSpPr txBox="1"/>
          <p:nvPr/>
        </p:nvSpPr>
        <p:spPr>
          <a:xfrm>
            <a:off x="3429000" y="3383280"/>
            <a:ext cx="2240280" cy="914400"/>
          </a:xfrm>
          <a:prstGeom prst="rect">
            <a:avLst/>
          </a:prstGeom>
          <a:noFill/>
          <a:ln/>
        </p:spPr>
        <p:txBody>
          <a:bodyPr wrap="square" lIns="0" tIns="0" rIns="0" bIns="0" rtlCol="0" anchor="t"/>
          <a:lstStyle/>
          <a:p>
            <a:pPr indent="0" marL="0">
              <a:buNone/>
            </a:pPr>
            <a:r>
              <a:rPr lang="en-US" sz="1250" dirty="0">
                <a:solidFill>
                  <a:srgbClr val="23262B"/>
                </a:solidFill>
                <a:latin typeface="Arial" pitchFamily="34" charset="0"/>
                <a:ea typeface="Arial" pitchFamily="34" charset="-122"/>
                <a:cs typeface="Arial" pitchFamily="34" charset="-120"/>
              </a:rPr>
              <a:t>Diverse devices, networks and constraints are treated only lightly.</a:t>
            </a:r>
            <a:endParaRPr lang="en-US" sz="1250" dirty="0"/>
          </a:p>
        </p:txBody>
      </p:sp>
      <p:sp>
        <p:nvSpPr>
          <p:cNvPr id="21" name="Shape 18"/>
          <p:cNvSpPr/>
          <p:nvPr/>
        </p:nvSpPr>
        <p:spPr>
          <a:xfrm>
            <a:off x="6035040" y="2834640"/>
            <a:ext cx="2606040" cy="1554480"/>
          </a:xfrm>
          <a:prstGeom prst="rect">
            <a:avLst/>
          </a:prstGeom>
          <a:solidFill>
            <a:srgbClr val="F1F2F4"/>
          </a:solidFill>
          <a:ln w="12700">
            <a:solidFill>
              <a:srgbClr val="F1F2F4"/>
            </a:solidFill>
            <a:prstDash val="solid"/>
          </a:ln>
        </p:spPr>
      </p:sp>
      <p:sp>
        <p:nvSpPr>
          <p:cNvPr id="22" name="Text 19"/>
          <p:cNvSpPr txBox="1"/>
          <p:nvPr/>
        </p:nvSpPr>
        <p:spPr>
          <a:xfrm>
            <a:off x="6217920" y="2944368"/>
            <a:ext cx="2240280" cy="411480"/>
          </a:xfrm>
          <a:prstGeom prst="rect">
            <a:avLst/>
          </a:prstGeom>
          <a:noFill/>
          <a:ln/>
        </p:spPr>
        <p:txBody>
          <a:bodyPr wrap="square" lIns="0" tIns="0" rIns="0" bIns="0" rtlCol="0" anchor="ctr"/>
          <a:lstStyle/>
          <a:p>
            <a:pPr indent="0" marL="0">
              <a:buNone/>
            </a:pPr>
            <a:r>
              <a:rPr lang="en-US" sz="1500" b="1" dirty="0">
                <a:solidFill>
                  <a:srgbClr val="D9482B"/>
                </a:solidFill>
                <a:latin typeface="Bookman Old Style" pitchFamily="34" charset="0"/>
                <a:ea typeface="Bookman Old Style" pitchFamily="34" charset="-122"/>
                <a:cs typeface="Bookman Old Style" pitchFamily="34" charset="-120"/>
              </a:rPr>
              <a:t>Standardisation</a:t>
            </a:r>
            <a:endParaRPr lang="en-US" sz="1500" dirty="0"/>
          </a:p>
        </p:txBody>
      </p:sp>
      <p:sp>
        <p:nvSpPr>
          <p:cNvPr id="23" name="Text 20"/>
          <p:cNvSpPr txBox="1"/>
          <p:nvPr/>
        </p:nvSpPr>
        <p:spPr>
          <a:xfrm>
            <a:off x="6217920" y="3383280"/>
            <a:ext cx="2240280" cy="914400"/>
          </a:xfrm>
          <a:prstGeom prst="rect">
            <a:avLst/>
          </a:prstGeom>
          <a:noFill/>
          <a:ln/>
        </p:spPr>
        <p:txBody>
          <a:bodyPr wrap="square" lIns="0" tIns="0" rIns="0" bIns="0" rtlCol="0" anchor="t"/>
          <a:lstStyle/>
          <a:p>
            <a:pPr indent="0" marL="0">
              <a:buNone/>
            </a:pPr>
            <a:r>
              <a:rPr lang="en-US" sz="1250" dirty="0">
                <a:solidFill>
                  <a:srgbClr val="23262B"/>
                </a:solidFill>
                <a:latin typeface="Arial" pitchFamily="34" charset="0"/>
                <a:ea typeface="Arial" pitchFamily="34" charset="-122"/>
                <a:cs typeface="Arial" pitchFamily="34" charset="-120"/>
              </a:rPr>
              <a:t>No common protocols or benchmarks across implementations.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Future research directions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16</a:t>
            </a:r>
            <a:endParaRPr lang="en-US" sz="900" dirty="0"/>
          </a:p>
        </p:txBody>
      </p:sp>
      <p:sp>
        <p:nvSpPr>
          <p:cNvPr id="6" name="Shape 3"/>
          <p:cNvSpPr/>
          <p:nvPr/>
        </p:nvSpPr>
        <p:spPr>
          <a:xfrm>
            <a:off x="457200" y="1097280"/>
            <a:ext cx="3931920" cy="713232"/>
          </a:xfrm>
          <a:prstGeom prst="rect">
            <a:avLst/>
          </a:prstGeom>
          <a:solidFill>
            <a:srgbClr val="FBE4DC"/>
          </a:solidFill>
          <a:ln w="12700">
            <a:solidFill>
              <a:srgbClr val="FBE4DC"/>
            </a:solidFill>
            <a:prstDash val="solid"/>
          </a:ln>
        </p:spPr>
      </p:sp>
      <p:sp>
        <p:nvSpPr>
          <p:cNvPr id="7" name="Shape 4"/>
          <p:cNvSpPr/>
          <p:nvPr/>
        </p:nvSpPr>
        <p:spPr>
          <a:xfrm>
            <a:off x="594360" y="1252728"/>
            <a:ext cx="402336" cy="402336"/>
          </a:xfrm>
          <a:prstGeom prst="rect">
            <a:avLst/>
          </a:prstGeom>
          <a:solidFill>
            <a:srgbClr val="D9482B"/>
          </a:solidFill>
          <a:ln w="12700">
            <a:solidFill>
              <a:srgbClr val="D9482B"/>
            </a:solidFill>
            <a:prstDash val="solid"/>
          </a:ln>
        </p:spPr>
      </p:sp>
      <p:sp>
        <p:nvSpPr>
          <p:cNvPr id="8" name="Text 5"/>
          <p:cNvSpPr txBox="1"/>
          <p:nvPr/>
        </p:nvSpPr>
        <p:spPr>
          <a:xfrm>
            <a:off x="594360" y="12527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1</a:t>
            </a:r>
            <a:endParaRPr lang="en-US" sz="1300" dirty="0"/>
          </a:p>
        </p:txBody>
      </p:sp>
      <p:sp>
        <p:nvSpPr>
          <p:cNvPr id="9" name="Text 6"/>
          <p:cNvSpPr txBox="1"/>
          <p:nvPr/>
        </p:nvSpPr>
        <p:spPr>
          <a:xfrm>
            <a:off x="1115568" y="1097280"/>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Machine-learning workload prediction and preemptive offloading</a:t>
            </a:r>
            <a:endParaRPr lang="en-US" sz="1250" dirty="0"/>
          </a:p>
        </p:txBody>
      </p:sp>
      <p:sp>
        <p:nvSpPr>
          <p:cNvPr id="10" name="Shape 7"/>
          <p:cNvSpPr/>
          <p:nvPr/>
        </p:nvSpPr>
        <p:spPr>
          <a:xfrm>
            <a:off x="4663440" y="1097280"/>
            <a:ext cx="3931920" cy="713232"/>
          </a:xfrm>
          <a:prstGeom prst="rect">
            <a:avLst/>
          </a:prstGeom>
          <a:solidFill>
            <a:srgbClr val="F1F2F4"/>
          </a:solidFill>
          <a:ln w="12700">
            <a:solidFill>
              <a:srgbClr val="F1F2F4"/>
            </a:solidFill>
            <a:prstDash val="solid"/>
          </a:ln>
        </p:spPr>
      </p:sp>
      <p:sp>
        <p:nvSpPr>
          <p:cNvPr id="11" name="Shape 8"/>
          <p:cNvSpPr/>
          <p:nvPr/>
        </p:nvSpPr>
        <p:spPr>
          <a:xfrm>
            <a:off x="4800600" y="1252728"/>
            <a:ext cx="402336" cy="402336"/>
          </a:xfrm>
          <a:prstGeom prst="rect">
            <a:avLst/>
          </a:prstGeom>
          <a:solidFill>
            <a:srgbClr val="FFC857"/>
          </a:solidFill>
          <a:ln w="12700">
            <a:solidFill>
              <a:srgbClr val="FFC857"/>
            </a:solidFill>
            <a:prstDash val="solid"/>
          </a:ln>
        </p:spPr>
      </p:sp>
      <p:sp>
        <p:nvSpPr>
          <p:cNvPr id="12" name="Text 9"/>
          <p:cNvSpPr txBox="1"/>
          <p:nvPr/>
        </p:nvSpPr>
        <p:spPr>
          <a:xfrm>
            <a:off x="4800600" y="12527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2</a:t>
            </a:r>
            <a:endParaRPr lang="en-US" sz="1300" dirty="0"/>
          </a:p>
        </p:txBody>
      </p:sp>
      <p:sp>
        <p:nvSpPr>
          <p:cNvPr id="13" name="Text 10"/>
          <p:cNvSpPr txBox="1"/>
          <p:nvPr/>
        </p:nvSpPr>
        <p:spPr>
          <a:xfrm>
            <a:off x="5321808" y="1097280"/>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Federated learning across decentralised edge nodes</a:t>
            </a:r>
            <a:endParaRPr lang="en-US" sz="1250" dirty="0"/>
          </a:p>
        </p:txBody>
      </p:sp>
      <p:sp>
        <p:nvSpPr>
          <p:cNvPr id="14" name="Shape 11"/>
          <p:cNvSpPr/>
          <p:nvPr/>
        </p:nvSpPr>
        <p:spPr>
          <a:xfrm>
            <a:off x="457200" y="1938528"/>
            <a:ext cx="3931920" cy="713232"/>
          </a:xfrm>
          <a:prstGeom prst="rect">
            <a:avLst/>
          </a:prstGeom>
          <a:solidFill>
            <a:srgbClr val="F1F2F4"/>
          </a:solidFill>
          <a:ln w="12700">
            <a:solidFill>
              <a:srgbClr val="F1F2F4"/>
            </a:solidFill>
            <a:prstDash val="solid"/>
          </a:ln>
        </p:spPr>
      </p:sp>
      <p:sp>
        <p:nvSpPr>
          <p:cNvPr id="15" name="Shape 12"/>
          <p:cNvSpPr/>
          <p:nvPr/>
        </p:nvSpPr>
        <p:spPr>
          <a:xfrm>
            <a:off x="594360" y="2093976"/>
            <a:ext cx="402336" cy="402336"/>
          </a:xfrm>
          <a:prstGeom prst="rect">
            <a:avLst/>
          </a:prstGeom>
          <a:solidFill>
            <a:srgbClr val="D9482B"/>
          </a:solidFill>
          <a:ln w="12700">
            <a:solidFill>
              <a:srgbClr val="D9482B"/>
            </a:solidFill>
            <a:prstDash val="solid"/>
          </a:ln>
        </p:spPr>
      </p:sp>
      <p:sp>
        <p:nvSpPr>
          <p:cNvPr id="16" name="Text 13"/>
          <p:cNvSpPr txBox="1"/>
          <p:nvPr/>
        </p:nvSpPr>
        <p:spPr>
          <a:xfrm>
            <a:off x="594360" y="20939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3</a:t>
            </a:r>
            <a:endParaRPr lang="en-US" sz="1300" dirty="0"/>
          </a:p>
        </p:txBody>
      </p:sp>
      <p:sp>
        <p:nvSpPr>
          <p:cNvPr id="17" name="Text 14"/>
          <p:cNvSpPr txBox="1"/>
          <p:nvPr/>
        </p:nvSpPr>
        <p:spPr>
          <a:xfrm>
            <a:off x="1115568" y="1938528"/>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Scalable blockchain consensus for low-latency decisions</a:t>
            </a:r>
            <a:endParaRPr lang="en-US" sz="1250" dirty="0"/>
          </a:p>
        </p:txBody>
      </p:sp>
      <p:sp>
        <p:nvSpPr>
          <p:cNvPr id="18" name="Shape 15"/>
          <p:cNvSpPr/>
          <p:nvPr/>
        </p:nvSpPr>
        <p:spPr>
          <a:xfrm>
            <a:off x="4663440" y="1938528"/>
            <a:ext cx="3931920" cy="713232"/>
          </a:xfrm>
          <a:prstGeom prst="rect">
            <a:avLst/>
          </a:prstGeom>
          <a:solidFill>
            <a:srgbClr val="FBE4DC"/>
          </a:solidFill>
          <a:ln w="12700">
            <a:solidFill>
              <a:srgbClr val="FBE4DC"/>
            </a:solidFill>
            <a:prstDash val="solid"/>
          </a:ln>
        </p:spPr>
      </p:sp>
      <p:sp>
        <p:nvSpPr>
          <p:cNvPr id="19" name="Shape 16"/>
          <p:cNvSpPr/>
          <p:nvPr/>
        </p:nvSpPr>
        <p:spPr>
          <a:xfrm>
            <a:off x="4800600" y="2093976"/>
            <a:ext cx="402336" cy="402336"/>
          </a:xfrm>
          <a:prstGeom prst="rect">
            <a:avLst/>
          </a:prstGeom>
          <a:solidFill>
            <a:srgbClr val="FFC857"/>
          </a:solidFill>
          <a:ln w="12700">
            <a:solidFill>
              <a:srgbClr val="FFC857"/>
            </a:solidFill>
            <a:prstDash val="solid"/>
          </a:ln>
        </p:spPr>
      </p:sp>
      <p:sp>
        <p:nvSpPr>
          <p:cNvPr id="20" name="Text 17"/>
          <p:cNvSpPr txBox="1"/>
          <p:nvPr/>
        </p:nvSpPr>
        <p:spPr>
          <a:xfrm>
            <a:off x="4800600" y="20939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4</a:t>
            </a:r>
            <a:endParaRPr lang="en-US" sz="1300" dirty="0"/>
          </a:p>
        </p:txBody>
      </p:sp>
      <p:sp>
        <p:nvSpPr>
          <p:cNvPr id="21" name="Text 18"/>
          <p:cNvSpPr txBox="1"/>
          <p:nvPr/>
        </p:nvSpPr>
        <p:spPr>
          <a:xfrm>
            <a:off x="5321808" y="1938528"/>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Cross-domain interoperability standards</a:t>
            </a:r>
            <a:endParaRPr lang="en-US" sz="1250" dirty="0"/>
          </a:p>
        </p:txBody>
      </p:sp>
      <p:sp>
        <p:nvSpPr>
          <p:cNvPr id="22" name="Shape 19"/>
          <p:cNvSpPr/>
          <p:nvPr/>
        </p:nvSpPr>
        <p:spPr>
          <a:xfrm>
            <a:off x="457200" y="2779776"/>
            <a:ext cx="3931920" cy="713232"/>
          </a:xfrm>
          <a:prstGeom prst="rect">
            <a:avLst/>
          </a:prstGeom>
          <a:solidFill>
            <a:srgbClr val="F1F2F4"/>
          </a:solidFill>
          <a:ln w="12700">
            <a:solidFill>
              <a:srgbClr val="F1F2F4"/>
            </a:solidFill>
            <a:prstDash val="solid"/>
          </a:ln>
        </p:spPr>
      </p:sp>
      <p:sp>
        <p:nvSpPr>
          <p:cNvPr id="23" name="Shape 20"/>
          <p:cNvSpPr/>
          <p:nvPr/>
        </p:nvSpPr>
        <p:spPr>
          <a:xfrm>
            <a:off x="594360" y="2935224"/>
            <a:ext cx="402336" cy="402336"/>
          </a:xfrm>
          <a:prstGeom prst="rect">
            <a:avLst/>
          </a:prstGeom>
          <a:solidFill>
            <a:srgbClr val="D9482B"/>
          </a:solidFill>
          <a:ln w="12700">
            <a:solidFill>
              <a:srgbClr val="D9482B"/>
            </a:solidFill>
            <a:prstDash val="solid"/>
          </a:ln>
        </p:spPr>
      </p:sp>
      <p:sp>
        <p:nvSpPr>
          <p:cNvPr id="24" name="Text 21"/>
          <p:cNvSpPr txBox="1"/>
          <p:nvPr/>
        </p:nvSpPr>
        <p:spPr>
          <a:xfrm>
            <a:off x="594360" y="2935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5</a:t>
            </a:r>
            <a:endParaRPr lang="en-US" sz="1300" dirty="0"/>
          </a:p>
        </p:txBody>
      </p:sp>
      <p:sp>
        <p:nvSpPr>
          <p:cNvPr id="25" name="Text 22"/>
          <p:cNvSpPr txBox="1"/>
          <p:nvPr/>
        </p:nvSpPr>
        <p:spPr>
          <a:xfrm>
            <a:off x="1115568" y="2779776"/>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Human-in-the-loop and context-aware offloading</a:t>
            </a:r>
            <a:endParaRPr lang="en-US" sz="1250" dirty="0"/>
          </a:p>
        </p:txBody>
      </p:sp>
      <p:sp>
        <p:nvSpPr>
          <p:cNvPr id="26" name="Shape 23"/>
          <p:cNvSpPr/>
          <p:nvPr/>
        </p:nvSpPr>
        <p:spPr>
          <a:xfrm>
            <a:off x="4663440" y="2779776"/>
            <a:ext cx="3931920" cy="713232"/>
          </a:xfrm>
          <a:prstGeom prst="rect">
            <a:avLst/>
          </a:prstGeom>
          <a:solidFill>
            <a:srgbClr val="F1F2F4"/>
          </a:solidFill>
          <a:ln w="12700">
            <a:solidFill>
              <a:srgbClr val="F1F2F4"/>
            </a:solidFill>
            <a:prstDash val="solid"/>
          </a:ln>
        </p:spPr>
      </p:sp>
      <p:sp>
        <p:nvSpPr>
          <p:cNvPr id="27" name="Shape 24"/>
          <p:cNvSpPr/>
          <p:nvPr/>
        </p:nvSpPr>
        <p:spPr>
          <a:xfrm>
            <a:off x="4800600" y="2935224"/>
            <a:ext cx="402336" cy="402336"/>
          </a:xfrm>
          <a:prstGeom prst="rect">
            <a:avLst/>
          </a:prstGeom>
          <a:solidFill>
            <a:srgbClr val="FFC857"/>
          </a:solidFill>
          <a:ln w="12700">
            <a:solidFill>
              <a:srgbClr val="FFC857"/>
            </a:solidFill>
            <a:prstDash val="solid"/>
          </a:ln>
        </p:spPr>
      </p:sp>
      <p:sp>
        <p:nvSpPr>
          <p:cNvPr id="28" name="Text 25"/>
          <p:cNvSpPr txBox="1"/>
          <p:nvPr/>
        </p:nvSpPr>
        <p:spPr>
          <a:xfrm>
            <a:off x="4800600" y="2935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6</a:t>
            </a:r>
            <a:endParaRPr lang="en-US" sz="1300" dirty="0"/>
          </a:p>
        </p:txBody>
      </p:sp>
      <p:sp>
        <p:nvSpPr>
          <p:cNvPr id="29" name="Text 26"/>
          <p:cNvSpPr txBox="1"/>
          <p:nvPr/>
        </p:nvSpPr>
        <p:spPr>
          <a:xfrm>
            <a:off x="5321808" y="2779776"/>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Edge-native AI with on-device learning</a:t>
            </a:r>
            <a:endParaRPr lang="en-US" sz="1250" dirty="0"/>
          </a:p>
        </p:txBody>
      </p:sp>
      <p:sp>
        <p:nvSpPr>
          <p:cNvPr id="30" name="Shape 27"/>
          <p:cNvSpPr/>
          <p:nvPr/>
        </p:nvSpPr>
        <p:spPr>
          <a:xfrm>
            <a:off x="457200" y="3621024"/>
            <a:ext cx="3931920" cy="713232"/>
          </a:xfrm>
          <a:prstGeom prst="rect">
            <a:avLst/>
          </a:prstGeom>
          <a:solidFill>
            <a:srgbClr val="FBE4DC"/>
          </a:solidFill>
          <a:ln w="12700">
            <a:solidFill>
              <a:srgbClr val="FBE4DC"/>
            </a:solidFill>
            <a:prstDash val="solid"/>
          </a:ln>
        </p:spPr>
      </p:sp>
      <p:sp>
        <p:nvSpPr>
          <p:cNvPr id="31" name="Shape 28"/>
          <p:cNvSpPr/>
          <p:nvPr/>
        </p:nvSpPr>
        <p:spPr>
          <a:xfrm>
            <a:off x="594360" y="3776472"/>
            <a:ext cx="402336" cy="402336"/>
          </a:xfrm>
          <a:prstGeom prst="rect">
            <a:avLst/>
          </a:prstGeom>
          <a:solidFill>
            <a:srgbClr val="D9482B"/>
          </a:solidFill>
          <a:ln w="12700">
            <a:solidFill>
              <a:srgbClr val="D9482B"/>
            </a:solidFill>
            <a:prstDash val="solid"/>
          </a:ln>
        </p:spPr>
      </p:sp>
      <p:sp>
        <p:nvSpPr>
          <p:cNvPr id="32" name="Text 29"/>
          <p:cNvSpPr txBox="1"/>
          <p:nvPr/>
        </p:nvSpPr>
        <p:spPr>
          <a:xfrm>
            <a:off x="594360" y="37764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7</a:t>
            </a:r>
            <a:endParaRPr lang="en-US" sz="1300" dirty="0"/>
          </a:p>
        </p:txBody>
      </p:sp>
      <p:sp>
        <p:nvSpPr>
          <p:cNvPr id="33" name="Text 30"/>
          <p:cNvSpPr txBox="1"/>
          <p:nvPr/>
        </p:nvSpPr>
        <p:spPr>
          <a:xfrm>
            <a:off x="1115568" y="3621024"/>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Green, energy-efficient computing</a:t>
            </a:r>
            <a:endParaRPr lang="en-US" sz="1250" dirty="0"/>
          </a:p>
        </p:txBody>
      </p:sp>
      <p:sp>
        <p:nvSpPr>
          <p:cNvPr id="34" name="Shape 31"/>
          <p:cNvSpPr/>
          <p:nvPr/>
        </p:nvSpPr>
        <p:spPr>
          <a:xfrm>
            <a:off x="4663440" y="3621024"/>
            <a:ext cx="3931920" cy="713232"/>
          </a:xfrm>
          <a:prstGeom prst="rect">
            <a:avLst/>
          </a:prstGeom>
          <a:solidFill>
            <a:srgbClr val="F1F2F4"/>
          </a:solidFill>
          <a:ln w="12700">
            <a:solidFill>
              <a:srgbClr val="F1F2F4"/>
            </a:solidFill>
            <a:prstDash val="solid"/>
          </a:ln>
        </p:spPr>
      </p:sp>
      <p:sp>
        <p:nvSpPr>
          <p:cNvPr id="35" name="Shape 32"/>
          <p:cNvSpPr/>
          <p:nvPr/>
        </p:nvSpPr>
        <p:spPr>
          <a:xfrm>
            <a:off x="4800600" y="3776472"/>
            <a:ext cx="402336" cy="402336"/>
          </a:xfrm>
          <a:prstGeom prst="rect">
            <a:avLst/>
          </a:prstGeom>
          <a:solidFill>
            <a:srgbClr val="FFC857"/>
          </a:solidFill>
          <a:ln w="12700">
            <a:solidFill>
              <a:srgbClr val="FFC857"/>
            </a:solidFill>
            <a:prstDash val="solid"/>
          </a:ln>
        </p:spPr>
      </p:sp>
      <p:sp>
        <p:nvSpPr>
          <p:cNvPr id="36" name="Text 33"/>
          <p:cNvSpPr txBox="1"/>
          <p:nvPr/>
        </p:nvSpPr>
        <p:spPr>
          <a:xfrm>
            <a:off x="4800600" y="37764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Bookman Old Style" pitchFamily="34" charset="0"/>
                <a:ea typeface="Bookman Old Style" pitchFamily="34" charset="-122"/>
                <a:cs typeface="Bookman Old Style" pitchFamily="34" charset="-120"/>
              </a:rPr>
              <a:t>8</a:t>
            </a:r>
            <a:endParaRPr lang="en-US" sz="1300" dirty="0"/>
          </a:p>
        </p:txBody>
      </p:sp>
      <p:sp>
        <p:nvSpPr>
          <p:cNvPr id="37" name="Text 34"/>
          <p:cNvSpPr txBox="1"/>
          <p:nvPr/>
        </p:nvSpPr>
        <p:spPr>
          <a:xfrm>
            <a:off x="5321808" y="3621024"/>
            <a:ext cx="3154680" cy="713232"/>
          </a:xfrm>
          <a:prstGeom prst="rect">
            <a:avLst/>
          </a:prstGeom>
          <a:noFill/>
          <a:ln/>
        </p:spPr>
        <p:txBody>
          <a:bodyPr wrap="square" lIns="0" tIns="0" rIns="0" bIns="0" rtlCol="0" anchor="ctr"/>
          <a:lstStyle/>
          <a:p>
            <a:pPr indent="0" marL="0">
              <a:buNone/>
            </a:pPr>
            <a:r>
              <a:rPr lang="en-US" sz="1250" dirty="0">
                <a:solidFill>
                  <a:srgbClr val="23262B"/>
                </a:solidFill>
                <a:latin typeface="Arial" pitchFamily="34" charset="0"/>
                <a:ea typeface="Arial" pitchFamily="34" charset="-122"/>
                <a:cs typeface="Arial" pitchFamily="34" charset="-120"/>
              </a:rPr>
              <a:t>Fault tolerance and recovery for distributed failures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rgbClr val="26282E"/>
                </a:solidFill>
                <a:latin typeface="Bookman Old Style" pitchFamily="34" charset="0"/>
                <a:ea typeface="Bookman Old Style" pitchFamily="34" charset="-122"/>
                <a:cs typeface="Bookman Old Style" pitchFamily="34" charset="-120"/>
              </a:rPr>
              <a:t>Critical analysis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Pournazari et al., Cluster Computing 28, 839 (2025)</a:t>
            </a:r>
            <a:endParaRPr lang="en-US" sz="900" dirty="0"/>
          </a:p>
        </p:txBody>
      </p:sp>
      <p:sp>
        <p:nvSpPr>
          <p:cNvPr id="4" name="Text 2"/>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17</a:t>
            </a:r>
            <a:endParaRPr lang="en-US" sz="900" dirty="0"/>
          </a:p>
        </p:txBody>
      </p:sp>
      <p:sp>
        <p:nvSpPr>
          <p:cNvPr id="6" name="Shape 3"/>
          <p:cNvSpPr/>
          <p:nvPr/>
        </p:nvSpPr>
        <p:spPr>
          <a:xfrm>
            <a:off x="457200" y="1097280"/>
            <a:ext cx="4023360" cy="3108960"/>
          </a:xfrm>
          <a:prstGeom prst="rect">
            <a:avLst/>
          </a:prstGeom>
          <a:solidFill>
            <a:srgbClr val="F1F2F4"/>
          </a:solidFill>
          <a:ln w="12700">
            <a:solidFill>
              <a:srgbClr val="F1F2F4"/>
            </a:solidFill>
            <a:prstDash val="solid"/>
          </a:ln>
        </p:spPr>
      </p:sp>
      <p:sp>
        <p:nvSpPr>
          <p:cNvPr id="7" name="Text 4"/>
          <p:cNvSpPr txBox="1"/>
          <p:nvPr/>
        </p:nvSpPr>
        <p:spPr>
          <a:xfrm>
            <a:off x="640080" y="1207008"/>
            <a:ext cx="3657600" cy="411480"/>
          </a:xfrm>
          <a:prstGeom prst="rect">
            <a:avLst/>
          </a:prstGeom>
          <a:noFill/>
          <a:ln/>
        </p:spPr>
        <p:txBody>
          <a:bodyPr wrap="square" lIns="0" tIns="0" rIns="0" bIns="0" rtlCol="0" anchor="ctr"/>
          <a:lstStyle/>
          <a:p>
            <a:pPr indent="0" marL="0">
              <a:buNone/>
            </a:pPr>
            <a:r>
              <a:rPr lang="en-US" sz="1500" b="1" dirty="0">
                <a:solidFill>
                  <a:srgbClr val="26282E"/>
                </a:solidFill>
                <a:latin typeface="Bookman Old Style" pitchFamily="34" charset="0"/>
                <a:ea typeface="Bookman Old Style" pitchFamily="34" charset="-122"/>
                <a:cs typeface="Bookman Old Style" pitchFamily="34" charset="-120"/>
              </a:rPr>
              <a:t>Strengths</a:t>
            </a:r>
            <a:endParaRPr lang="en-US" sz="1500" dirty="0"/>
          </a:p>
        </p:txBody>
      </p:sp>
      <p:sp>
        <p:nvSpPr>
          <p:cNvPr id="8" name="Text 5"/>
          <p:cNvSpPr txBox="1"/>
          <p:nvPr/>
        </p:nvSpPr>
        <p:spPr>
          <a:xfrm>
            <a:off x="640080" y="1691640"/>
            <a:ext cx="365760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Systematic PRISMA-based method; 607 papers narrowed to 88</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Fills a clear gap: decentralised, federated offloading</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One taxonomy with four pillars that is easy to reuse</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Open access and specific research questions</a:t>
            </a:r>
            <a:endParaRPr lang="en-US" sz="1400" dirty="0"/>
          </a:p>
        </p:txBody>
      </p:sp>
      <p:sp>
        <p:nvSpPr>
          <p:cNvPr id="9" name="Shape 6"/>
          <p:cNvSpPr/>
          <p:nvPr/>
        </p:nvSpPr>
        <p:spPr>
          <a:xfrm>
            <a:off x="4663440" y="1097280"/>
            <a:ext cx="4023360" cy="3108960"/>
          </a:xfrm>
          <a:prstGeom prst="rect">
            <a:avLst/>
          </a:prstGeom>
          <a:solidFill>
            <a:srgbClr val="F1F2F4"/>
          </a:solidFill>
          <a:ln w="12700">
            <a:solidFill>
              <a:srgbClr val="F1F2F4"/>
            </a:solidFill>
            <a:prstDash val="solid"/>
          </a:ln>
        </p:spPr>
      </p:sp>
      <p:sp>
        <p:nvSpPr>
          <p:cNvPr id="10" name="Text 7"/>
          <p:cNvSpPr txBox="1"/>
          <p:nvPr/>
        </p:nvSpPr>
        <p:spPr>
          <a:xfrm>
            <a:off x="4846320" y="1207008"/>
            <a:ext cx="3657600" cy="411480"/>
          </a:xfrm>
          <a:prstGeom prst="rect">
            <a:avLst/>
          </a:prstGeom>
          <a:noFill/>
          <a:ln/>
        </p:spPr>
        <p:txBody>
          <a:bodyPr wrap="square" lIns="0" tIns="0" rIns="0" bIns="0" rtlCol="0" anchor="ctr"/>
          <a:lstStyle/>
          <a:p>
            <a:pPr indent="0" marL="0">
              <a:buNone/>
            </a:pPr>
            <a:r>
              <a:rPr lang="en-US" sz="1500" b="1" dirty="0">
                <a:solidFill>
                  <a:srgbClr val="26282E"/>
                </a:solidFill>
                <a:latin typeface="Bookman Old Style" pitchFamily="34" charset="0"/>
                <a:ea typeface="Bookman Old Style" pitchFamily="34" charset="-122"/>
                <a:cs typeface="Bookman Old Style" pitchFamily="34" charset="-120"/>
              </a:rPr>
              <a:t>Limitations</a:t>
            </a:r>
            <a:endParaRPr lang="en-US" sz="1500" dirty="0"/>
          </a:p>
        </p:txBody>
      </p:sp>
      <p:sp>
        <p:nvSpPr>
          <p:cNvPr id="11" name="Text 8"/>
          <p:cNvSpPr txBox="1"/>
          <p:nvPr/>
        </p:nvSpPr>
        <p:spPr>
          <a:xfrm>
            <a:off x="4846320" y="1691640"/>
            <a:ext cx="365760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Search window ends in 2024, so very recent work is missed</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Only 88 of 607 papers analysed; selection involves judgement</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Conclusions are limited by a literature that relies on simulation</a:t>
            </a:r>
            <a:endParaRPr lang="en-US" sz="1400" dirty="0"/>
          </a:p>
          <a:p>
            <a:pPr marL="342900" indent="-342900">
              <a:spcAft>
                <a:spcPts val="400"/>
              </a:spcAft>
              <a:buSzPct val="100000"/>
              <a:buChar char="•"/>
            </a:pPr>
            <a:r>
              <a:rPr lang="en-US" sz="1400" dirty="0">
                <a:solidFill>
                  <a:srgbClr val="23262B"/>
                </a:solidFill>
                <a:latin typeface="Arial" pitchFamily="34" charset="0"/>
                <a:ea typeface="Arial" pitchFamily="34" charset="-122"/>
                <a:cs typeface="Arial" pitchFamily="34" charset="-120"/>
              </a:rPr>
              <a:t>Retrieval counts per database do not sum exactly to the stated total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6282E"/>
        </a:solidFill>
      </p:bgPr>
    </p:bg>
    <p:spTree>
      <p:nvGrpSpPr>
        <p:cNvPr id="1" name=""/>
        <p:cNvGrpSpPr/>
        <p:nvPr/>
      </p:nvGrpSpPr>
      <p:grpSpPr>
        <a:xfrm>
          <a:off x="0" y="0"/>
          <a:ext cx="0" cy="0"/>
          <a:chOff x="0" y="0"/>
          <a:chExt cx="0" cy="0"/>
        </a:xfrm>
      </p:grpSpPr>
      <p:sp>
        <p:nvSpPr>
          <p:cNvPr id="2" name="Shape 0"/>
          <p:cNvSpPr/>
          <p:nvPr/>
        </p:nvSpPr>
        <p:spPr>
          <a:xfrm>
            <a:off x="6309360" y="0"/>
            <a:ext cx="2834640" cy="5143500"/>
          </a:xfrm>
          <a:prstGeom prst="rect">
            <a:avLst/>
          </a:prstGeom>
          <a:solidFill>
            <a:srgbClr val="D9482B"/>
          </a:solidFill>
          <a:ln w="12700">
            <a:solidFill>
              <a:srgbClr val="D9482B"/>
            </a:solidFill>
            <a:prstDash val="solid"/>
          </a:ln>
        </p:spPr>
      </p:sp>
      <p:sp>
        <p:nvSpPr>
          <p:cNvPr id="3" name="Text 1"/>
          <p:cNvSpPr txBox="1"/>
          <p:nvPr/>
        </p:nvSpPr>
        <p:spPr>
          <a:xfrm>
            <a:off x="6309360" y="1645920"/>
            <a:ext cx="2834640" cy="914400"/>
          </a:xfrm>
          <a:prstGeom prst="rect">
            <a:avLst/>
          </a:prstGeom>
          <a:noFill/>
          <a:ln/>
        </p:spPr>
        <p:txBody>
          <a:bodyPr wrap="square" lIns="0" tIns="0" rIns="0" bIns="0" rtlCol="0" anchor="ctr"/>
          <a:lstStyle/>
          <a:p>
            <a:pPr algn="ctr" indent="0" marL="0">
              <a:buNone/>
            </a:pPr>
            <a:r>
              <a:rPr lang="en-US" sz="2800" b="1" dirty="0">
                <a:solidFill>
                  <a:srgbClr val="FFFFFF"/>
                </a:solidFill>
                <a:latin typeface="Bookman Old Style" pitchFamily="34" charset="0"/>
                <a:ea typeface="Bookman Old Style" pitchFamily="34" charset="-122"/>
                <a:cs typeface="Bookman Old Style" pitchFamily="34" charset="-120"/>
              </a:rPr>
              <a:t>Thank you</a:t>
            </a:r>
            <a:endParaRPr lang="en-US" sz="2800" dirty="0"/>
          </a:p>
        </p:txBody>
      </p:sp>
      <p:sp>
        <p:nvSpPr>
          <p:cNvPr id="4" name="Text 2"/>
          <p:cNvSpPr txBox="1"/>
          <p:nvPr/>
        </p:nvSpPr>
        <p:spPr>
          <a:xfrm>
            <a:off x="6309360" y="2560320"/>
            <a:ext cx="2834640" cy="731520"/>
          </a:xfrm>
          <a:prstGeom prst="rect">
            <a:avLst/>
          </a:prstGeom>
          <a:noFill/>
          <a:ln/>
        </p:spPr>
        <p:txBody>
          <a:bodyPr wrap="square" lIns="0" tIns="0" rIns="0" bIns="0" rtlCol="0" anchor="ctr"/>
          <a:lstStyle/>
          <a:p>
            <a:pPr algn="ctr" indent="0" marL="0">
              <a:buNone/>
            </a:pPr>
            <a:r>
              <a:rPr lang="en-US" sz="2200" i="1" dirty="0">
                <a:solidFill>
                  <a:srgbClr val="FFC857"/>
                </a:solidFill>
                <a:latin typeface="Bookman Old Style" pitchFamily="34" charset="0"/>
                <a:ea typeface="Bookman Old Style" pitchFamily="34" charset="-122"/>
                <a:cs typeface="Bookman Old Style" pitchFamily="34" charset="-120"/>
              </a:rPr>
              <a:t>Questions?</a:t>
            </a:r>
            <a:endParaRPr lang="en-US" sz="2200" dirty="0"/>
          </a:p>
        </p:txBody>
      </p:sp>
      <p:sp>
        <p:nvSpPr>
          <p:cNvPr id="5" name="Text 3"/>
          <p:cNvSpPr txBox="1"/>
          <p:nvPr/>
        </p:nvSpPr>
        <p:spPr>
          <a:xfrm>
            <a:off x="548640" y="548640"/>
            <a:ext cx="5394960" cy="640080"/>
          </a:xfrm>
          <a:prstGeom prst="rect">
            <a:avLst/>
          </a:prstGeom>
          <a:noFill/>
          <a:ln/>
        </p:spPr>
        <p:txBody>
          <a:bodyPr wrap="square" lIns="0" tIns="0" rIns="0" bIns="0"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Conclusion</a:t>
            </a:r>
            <a:endParaRPr lang="en-US" sz="2800" dirty="0"/>
          </a:p>
        </p:txBody>
      </p:sp>
      <p:sp>
        <p:nvSpPr>
          <p:cNvPr id="6" name="Text 4"/>
          <p:cNvSpPr txBox="1"/>
          <p:nvPr/>
        </p:nvSpPr>
        <p:spPr>
          <a:xfrm>
            <a:off x="548640" y="1463040"/>
            <a:ext cx="539496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The survey organises 88 studies of decentralised offloading in one four-pillar taxonomy.</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Peer-to-peer designs, game theory and deep reinforcement learning are the main trends.</a:t>
            </a:r>
            <a:endParaRPr lang="en-US" sz="1600" dirty="0"/>
          </a:p>
          <a:p>
            <a:pPr marL="342900" indent="-342900">
              <a:spcAft>
                <a:spcPts val="1200"/>
              </a:spcAft>
              <a:buSzPct val="100000"/>
              <a:buChar char="•"/>
            </a:pPr>
            <a:r>
              <a:rPr lang="en-US" sz="1600" dirty="0">
                <a:solidFill>
                  <a:srgbClr val="FFFFFF"/>
                </a:solidFill>
                <a:latin typeface="Arial" pitchFamily="34" charset="0"/>
                <a:ea typeface="Arial" pitchFamily="34" charset="-122"/>
                <a:cs typeface="Arial" pitchFamily="34" charset="-120"/>
              </a:rPr>
              <a:t>Main gaps: real-world validation, proactive intelligence, security and standards.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 Offloading in the Edge-to-Cloud Continuum: A Survey</dc:title>
  <dc:subject>PptxGenJS Presentation</dc:subject>
  <dc:creator>Syahril Fahmi</dc:creator>
  <cp:lastModifiedBy>Syahril Fahmi</cp:lastModifiedBy>
  <cp:revision>1</cp:revision>
  <dcterms:created xsi:type="dcterms:W3CDTF">2026-09-20T08:59:09Z</dcterms:created>
  <dcterms:modified xsi:type="dcterms:W3CDTF">2026-09-20T08:59:09Z</dcterms:modified>
</cp:coreProperties>
</file>